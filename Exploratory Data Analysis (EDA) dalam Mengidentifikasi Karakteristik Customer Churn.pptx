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77" r:id="rId10"/>
    <p:sldId id="264" r:id="rId11"/>
    <p:sldId id="265" r:id="rId12"/>
    <p:sldId id="266" r:id="rId13"/>
    <p:sldId id="274" r:id="rId14"/>
    <p:sldId id="267" r:id="rId15"/>
    <p:sldId id="278" r:id="rId16"/>
    <p:sldId id="268" r:id="rId17"/>
    <p:sldId id="279" r:id="rId18"/>
    <p:sldId id="269" r:id="rId19"/>
    <p:sldId id="270" r:id="rId20"/>
    <p:sldId id="271" r:id="rId21"/>
    <p:sldId id="272" r:id="rId22"/>
    <p:sldId id="273" r:id="rId23"/>
  </p:sldIdLst>
  <p:sldSz cx="16256000" cy="9144000"/>
  <p:notesSz cx="9144000" cy="16256000"/>
  <p:embeddedFontLst>
    <p:embeddedFont>
      <p:font typeface="Quattrocento Sans" panose="020B0502050000020003" pitchFamily="34" charset="0"/>
      <p:regular r:id="rId25"/>
      <p:bold r:id="rId26"/>
      <p:italic r:id="rId27"/>
    </p:embeddedFont>
  </p:embeddedFontLst>
  <p:defaultTextStyle>
    <a:defPPr>
      <a:defRPr lang="id-ID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33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B301B821-A1FF-4177-AEE7-76D212191A09}" styleName="Gaya Medium 1 - Aksen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5C22544A-7EE6-4342-B048-85BDC9FD1C3A}" styleName="Gaya Medium 2 - Akse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27F97BB-C833-4FB7-BDE5-3F7075034690}" styleName="Gaya Tema 2 - Aksen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BC89EF96-8CEA-46FF-86C4-4CE0E7609802}" styleName="Gaya Terang 3 - Aksen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67" d="100"/>
          <a:sy n="67" d="100"/>
        </p:scale>
        <p:origin x="413" y="-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2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1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3.fntdata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964232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34A3FE-49AC-7467-0E20-94BA41F33B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F9EE363-94E8-6A63-A1CC-EFE9B5487E9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183A7C1-0785-601B-E7B3-D1EE1138A1C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B1F49B-3CFC-CD17-80E1-D8915B88778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6430177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D3A78C-7293-1025-3EEA-BE00A09465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3DF46F0-6F8F-BF9E-7333-DB143A670B4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5D1A287-E506-2526-3C32-6F7D269F3CC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B856DA-C356-3436-4AFC-4E9E80DD917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328616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D0F72C-80A2-1A57-CD10-A4E4DACD6D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5EF1060-AB1F-61C9-A9BB-BB2B58F07EF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CEAEBFF-7802-1128-FAD1-FC8C9EAB92F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987186-228E-57B5-37AC-0D29742AA59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265980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B603F1-F976-0E7E-7F88-BC44629E1E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9D32FEB-31F3-A4D8-0077-35AFC2679D3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2F6596C-F5C3-737B-B0A4-E25149DD11B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5BF846-A10B-6071-4810-C6CE8AC6D56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108576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gradFill flip="none" rotWithShape="1">
          <a:gsLst>
            <a:gs pos="0">
              <a:srgbClr val="1E3A5F"/>
            </a:gs>
            <a:gs pos="60000">
              <a:srgbClr val="2D4F7C"/>
            </a:gs>
            <a:gs pos="100000">
              <a:srgbClr val="D4627A"/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684000" y="5715000"/>
            <a:ext cx="4572000" cy="4572000"/>
          </a:xfrm>
          <a:prstGeom prst="ellipse">
            <a:avLst/>
          </a:prstGeom>
          <a:solidFill>
            <a:srgbClr val="FFFFFF">
              <a:alpha val="3137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3335000" y="6604000"/>
            <a:ext cx="2921000" cy="2921000"/>
          </a:xfrm>
          <a:prstGeom prst="ellipse">
            <a:avLst/>
          </a:prstGeom>
          <a:solidFill>
            <a:srgbClr val="FFFFFF">
              <a:alpha val="6275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270000" y="-1270000"/>
            <a:ext cx="5080000" cy="5080000"/>
          </a:xfrm>
          <a:prstGeom prst="ellipse">
            <a:avLst/>
          </a:prstGeom>
          <a:solidFill>
            <a:srgbClr val="FFFFFF">
              <a:alpha val="2353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4318000" y="1778000"/>
            <a:ext cx="762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b="1" kern="0" spc="400" dirty="0">
                <a:solidFill>
                  <a:srgbClr val="E891A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LAPORAN TUGAS BESAR STRUKTUR DATA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778000" y="2413000"/>
            <a:ext cx="12700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40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Exploratory Data Analysis (EDA)</a:t>
            </a:r>
            <a:endParaRPr lang="en-US" sz="4000" dirty="0"/>
          </a:p>
          <a:p>
            <a:pPr algn="ctr">
              <a:lnSpc>
                <a:spcPct val="130000"/>
              </a:lnSpc>
            </a:pPr>
            <a:r>
              <a:rPr lang="en-US" sz="40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Dalam Mengidentifikasi Karakteristik Customer Churn</a:t>
            </a:r>
            <a:endParaRPr lang="en-US" sz="4000" dirty="0"/>
          </a:p>
        </p:txBody>
      </p:sp>
      <p:sp>
        <p:nvSpPr>
          <p:cNvPr id="7" name="Shape 5"/>
          <p:cNvSpPr/>
          <p:nvPr/>
        </p:nvSpPr>
        <p:spPr>
          <a:xfrm>
            <a:off x="6223000" y="4127500"/>
            <a:ext cx="3810000" cy="38100"/>
          </a:xfrm>
          <a:prstGeom prst="rect">
            <a:avLst/>
          </a:prstGeom>
          <a:solidFill>
            <a:srgbClr val="E891A0"/>
          </a:solidFill>
          <a:ln/>
        </p:spPr>
      </p:sp>
      <p:sp>
        <p:nvSpPr>
          <p:cNvPr id="8" name="Text 6"/>
          <p:cNvSpPr/>
          <p:nvPr/>
        </p:nvSpPr>
        <p:spPr>
          <a:xfrm>
            <a:off x="5588000" y="4381500"/>
            <a:ext cx="508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kern="0" spc="200" dirty="0">
                <a:solidFill>
                  <a:srgbClr val="B0C4D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DISUSUN OLEH KELOMPOK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683000" y="4826000"/>
            <a:ext cx="8890000" cy="177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80000"/>
              </a:lnSpc>
            </a:pP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Aisyah Lutfhiani </a:t>
            </a:r>
            <a:r>
              <a:rPr lang="en-US" sz="1600" dirty="0">
                <a:solidFill>
                  <a:srgbClr val="E891A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(184250034)</a:t>
            </a:r>
            <a:endParaRPr lang="en-US" sz="1600" dirty="0"/>
          </a:p>
          <a:p>
            <a:pPr algn="ctr">
              <a:lnSpc>
                <a:spcPct val="180000"/>
              </a:lnSpc>
            </a:pP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Kimi Thora Refolino </a:t>
            </a:r>
            <a:r>
              <a:rPr lang="en-US" sz="1600" dirty="0">
                <a:solidFill>
                  <a:srgbClr val="E891A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(184250012)</a:t>
            </a:r>
            <a:endParaRPr lang="en-US" sz="1600" dirty="0"/>
          </a:p>
          <a:p>
            <a:pPr algn="ctr">
              <a:lnSpc>
                <a:spcPct val="180000"/>
              </a:lnSpc>
            </a:pP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Riva Orvala Firjatulloh </a:t>
            </a:r>
            <a:r>
              <a:rPr lang="en-US" sz="1600" dirty="0">
                <a:solidFill>
                  <a:srgbClr val="E891A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(184250007)</a:t>
            </a:r>
            <a:endParaRPr lang="en-US" sz="1600" dirty="0"/>
          </a:p>
          <a:p>
            <a:pPr algn="ctr">
              <a:lnSpc>
                <a:spcPct val="180000"/>
              </a:lnSpc>
            </a:pP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Revani Salya </a:t>
            </a:r>
            <a:r>
              <a:rPr lang="en-US" sz="1600" dirty="0">
                <a:solidFill>
                  <a:srgbClr val="E891A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(184250036)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048000" y="7112000"/>
            <a:ext cx="10160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60000"/>
              </a:lnSpc>
            </a:pPr>
            <a:r>
              <a:rPr lang="en-US" sz="1300" dirty="0">
                <a:solidFill>
                  <a:srgbClr val="8FA8C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Program Studi S1 Sains Data | Sekolah Teknologi dan Informasi</a:t>
            </a:r>
            <a:endParaRPr lang="en-US" sz="1300" dirty="0"/>
          </a:p>
          <a:p>
            <a:pPr algn="ctr">
              <a:lnSpc>
                <a:spcPct val="160000"/>
              </a:lnSpc>
            </a:pPr>
            <a:r>
              <a:rPr lang="en-US" sz="1300" dirty="0">
                <a:solidFill>
                  <a:srgbClr val="8FA8C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Universitas Logistik dan Bisnis Internasional | 2026</a:t>
            </a:r>
            <a:endParaRPr lang="en-US" sz="13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71500"/>
            <a:ext cx="508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200" b="1" dirty="0">
                <a:solidFill>
                  <a:srgbClr val="1E3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Daftar Isi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62000" y="1270000"/>
            <a:ext cx="1016000" cy="63500"/>
          </a:xfrm>
          <a:prstGeom prst="rect">
            <a:avLst/>
          </a:prstGeom>
          <a:solidFill>
            <a:srgbClr val="E891A0"/>
          </a:solidFill>
          <a:ln/>
        </p:spPr>
      </p:sp>
      <p:sp>
        <p:nvSpPr>
          <p:cNvPr id="4" name="Shape 2"/>
          <p:cNvSpPr/>
          <p:nvPr/>
        </p:nvSpPr>
        <p:spPr>
          <a:xfrm>
            <a:off x="762000" y="1905000"/>
            <a:ext cx="4572000" cy="533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blurRad="190500" dist="50800" dir="5400000" algn="bl" rotWithShape="0">
              <a:srgbClr val="000000">
                <a:alpha val="7059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143000" y="2286000"/>
            <a:ext cx="1524000" cy="1016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7200" b="1" dirty="0">
                <a:solidFill>
                  <a:srgbClr val="1E3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01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1143000" y="3429000"/>
            <a:ext cx="381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400" b="1" dirty="0">
                <a:solidFill>
                  <a:srgbClr val="1E3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Pendahuluan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1143000" y="4064000"/>
            <a:ext cx="635000" cy="38100"/>
          </a:xfrm>
          <a:prstGeom prst="rect">
            <a:avLst/>
          </a:prstGeom>
          <a:solidFill>
            <a:srgbClr val="E891A0"/>
          </a:solidFill>
          <a:ln/>
        </p:spPr>
      </p:sp>
      <p:sp>
        <p:nvSpPr>
          <p:cNvPr id="8" name="Text 6"/>
          <p:cNvSpPr/>
          <p:nvPr/>
        </p:nvSpPr>
        <p:spPr>
          <a:xfrm>
            <a:off x="1143000" y="4318000"/>
            <a:ext cx="3810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600" dirty="0">
                <a:solidFill>
                  <a:srgbClr val="6B7B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Latar belakang penelitian, rumusan masalah, dan tujuan penelitian EDA customer churn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143000" y="60960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126176"/>
                </a:moveTo>
                <a:lnTo>
                  <a:pt x="228600" y="402372"/>
                </a:lnTo>
                <a:lnTo>
                  <a:pt x="229046" y="402193"/>
                </a:lnTo>
                <a:cubicBezTo>
                  <a:pt x="277803" y="381923"/>
                  <a:pt x="330131" y="371475"/>
                  <a:pt x="382905" y="371475"/>
                </a:cubicBezTo>
                <a:lnTo>
                  <a:pt x="400050" y="371475"/>
                </a:lnTo>
                <a:lnTo>
                  <a:pt x="400050" y="85725"/>
                </a:lnTo>
                <a:lnTo>
                  <a:pt x="382905" y="85725"/>
                </a:lnTo>
                <a:cubicBezTo>
                  <a:pt x="345222" y="85725"/>
                  <a:pt x="307806" y="93226"/>
                  <a:pt x="272981" y="107692"/>
                </a:cubicBezTo>
                <a:cubicBezTo>
                  <a:pt x="257979" y="113943"/>
                  <a:pt x="243155" y="120104"/>
                  <a:pt x="228600" y="126176"/>
                </a:cubicBezTo>
                <a:close/>
                <a:moveTo>
                  <a:pt x="206186" y="54918"/>
                </a:moveTo>
                <a:lnTo>
                  <a:pt x="228600" y="64294"/>
                </a:lnTo>
                <a:lnTo>
                  <a:pt x="251014" y="54918"/>
                </a:lnTo>
                <a:cubicBezTo>
                  <a:pt x="292804" y="37505"/>
                  <a:pt x="337631" y="28575"/>
                  <a:pt x="382905" y="28575"/>
                </a:cubicBezTo>
                <a:lnTo>
                  <a:pt x="414338" y="28575"/>
                </a:lnTo>
                <a:cubicBezTo>
                  <a:pt x="438001" y="28575"/>
                  <a:pt x="457200" y="47774"/>
                  <a:pt x="457200" y="71438"/>
                </a:cubicBezTo>
                <a:lnTo>
                  <a:pt x="457200" y="385763"/>
                </a:lnTo>
                <a:cubicBezTo>
                  <a:pt x="457200" y="409426"/>
                  <a:pt x="438001" y="428625"/>
                  <a:pt x="414338" y="428625"/>
                </a:cubicBezTo>
                <a:lnTo>
                  <a:pt x="382905" y="428625"/>
                </a:lnTo>
                <a:cubicBezTo>
                  <a:pt x="337631" y="428625"/>
                  <a:pt x="292804" y="437555"/>
                  <a:pt x="251014" y="454968"/>
                </a:cubicBezTo>
                <a:lnTo>
                  <a:pt x="239584" y="459700"/>
                </a:lnTo>
                <a:cubicBezTo>
                  <a:pt x="232529" y="462647"/>
                  <a:pt x="224671" y="462647"/>
                  <a:pt x="217616" y="459700"/>
                </a:cubicBezTo>
                <a:lnTo>
                  <a:pt x="206186" y="454968"/>
                </a:lnTo>
                <a:cubicBezTo>
                  <a:pt x="164396" y="437555"/>
                  <a:pt x="119569" y="428625"/>
                  <a:pt x="74295" y="428625"/>
                </a:cubicBezTo>
                <a:lnTo>
                  <a:pt x="42863" y="428625"/>
                </a:lnTo>
                <a:cubicBezTo>
                  <a:pt x="19199" y="428625"/>
                  <a:pt x="0" y="409426"/>
                  <a:pt x="0" y="385763"/>
                </a:cubicBezTo>
                <a:lnTo>
                  <a:pt x="0" y="71438"/>
                </a:lnTo>
                <a:cubicBezTo>
                  <a:pt x="0" y="47774"/>
                  <a:pt x="19199" y="28575"/>
                  <a:pt x="42863" y="28575"/>
                </a:cubicBezTo>
                <a:lnTo>
                  <a:pt x="74295" y="28575"/>
                </a:lnTo>
                <a:cubicBezTo>
                  <a:pt x="119569" y="28575"/>
                  <a:pt x="164396" y="37505"/>
                  <a:pt x="206186" y="54918"/>
                </a:cubicBezTo>
                <a:close/>
              </a:path>
            </a:pathLst>
          </a:custGeom>
          <a:solidFill>
            <a:srgbClr val="E891A0"/>
          </a:solidFill>
          <a:ln/>
        </p:spPr>
      </p:sp>
      <p:sp>
        <p:nvSpPr>
          <p:cNvPr id="10" name="Shape 8"/>
          <p:cNvSpPr/>
          <p:nvPr/>
        </p:nvSpPr>
        <p:spPr>
          <a:xfrm>
            <a:off x="5842000" y="1905000"/>
            <a:ext cx="4572000" cy="533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blurRad="190500" dist="50800" dir="5400000" algn="bl" rotWithShape="0">
              <a:srgbClr val="000000">
                <a:alpha val="7059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223000" y="2286000"/>
            <a:ext cx="1524000" cy="1016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7200" b="1" dirty="0">
                <a:solidFill>
                  <a:srgbClr val="1E3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02</a:t>
            </a:r>
            <a:endParaRPr lang="en-US" sz="7200" dirty="0"/>
          </a:p>
        </p:txBody>
      </p:sp>
      <p:sp>
        <p:nvSpPr>
          <p:cNvPr id="12" name="Text 10"/>
          <p:cNvSpPr/>
          <p:nvPr/>
        </p:nvSpPr>
        <p:spPr>
          <a:xfrm>
            <a:off x="6223000" y="3429000"/>
            <a:ext cx="381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400" b="1" dirty="0">
                <a:solidFill>
                  <a:srgbClr val="1E3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Pembahasan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6223000" y="4064000"/>
            <a:ext cx="635000" cy="38100"/>
          </a:xfrm>
          <a:prstGeom prst="rect">
            <a:avLst/>
          </a:prstGeom>
          <a:solidFill>
            <a:srgbClr val="E891A0"/>
          </a:solidFill>
          <a:ln/>
        </p:spPr>
      </p:sp>
      <p:sp>
        <p:nvSpPr>
          <p:cNvPr id="14" name="Text 12"/>
          <p:cNvSpPr/>
          <p:nvPr/>
        </p:nvSpPr>
        <p:spPr>
          <a:xfrm>
            <a:off x="6223000" y="4318000"/>
            <a:ext cx="3810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600" dirty="0">
                <a:solidFill>
                  <a:srgbClr val="6B7B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 uji coba, preprocessing, statistik deskriptif, rekayasa fitur, dan visualisasi EDA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223000" y="60960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57150" y="57150"/>
                </a:moveTo>
                <a:cubicBezTo>
                  <a:pt x="57150" y="41344"/>
                  <a:pt x="44381" y="28575"/>
                  <a:pt x="28575" y="28575"/>
                </a:cubicBezTo>
                <a:cubicBezTo>
                  <a:pt x="12769" y="28575"/>
                  <a:pt x="0" y="41344"/>
                  <a:pt x="0" y="57150"/>
                </a:cubicBezTo>
                <a:lnTo>
                  <a:pt x="0" y="357188"/>
                </a:lnTo>
                <a:cubicBezTo>
                  <a:pt x="0" y="396657"/>
                  <a:pt x="31968" y="428625"/>
                  <a:pt x="71438" y="428625"/>
                </a:cubicBezTo>
                <a:lnTo>
                  <a:pt x="428625" y="428625"/>
                </a:lnTo>
                <a:cubicBezTo>
                  <a:pt x="444431" y="428625"/>
                  <a:pt x="457200" y="415856"/>
                  <a:pt x="457200" y="400050"/>
                </a:cubicBezTo>
                <a:cubicBezTo>
                  <a:pt x="457200" y="384244"/>
                  <a:pt x="444431" y="371475"/>
                  <a:pt x="428625" y="371475"/>
                </a:cubicBezTo>
                <a:lnTo>
                  <a:pt x="71438" y="371475"/>
                </a:lnTo>
                <a:cubicBezTo>
                  <a:pt x="63579" y="371475"/>
                  <a:pt x="57150" y="365046"/>
                  <a:pt x="57150" y="357188"/>
                </a:cubicBezTo>
                <a:lnTo>
                  <a:pt x="57150" y="57150"/>
                </a:lnTo>
                <a:close/>
                <a:moveTo>
                  <a:pt x="420231" y="134481"/>
                </a:moveTo>
                <a:cubicBezTo>
                  <a:pt x="431393" y="123319"/>
                  <a:pt x="431393" y="105192"/>
                  <a:pt x="420231" y="94030"/>
                </a:cubicBezTo>
                <a:cubicBezTo>
                  <a:pt x="409069" y="82867"/>
                  <a:pt x="390942" y="82867"/>
                  <a:pt x="379780" y="94030"/>
                </a:cubicBezTo>
                <a:lnTo>
                  <a:pt x="285750" y="188149"/>
                </a:lnTo>
                <a:lnTo>
                  <a:pt x="234494" y="136981"/>
                </a:lnTo>
                <a:cubicBezTo>
                  <a:pt x="223331" y="125819"/>
                  <a:pt x="205204" y="125819"/>
                  <a:pt x="194042" y="136981"/>
                </a:cubicBezTo>
                <a:lnTo>
                  <a:pt x="108317" y="222706"/>
                </a:lnTo>
                <a:cubicBezTo>
                  <a:pt x="97155" y="233869"/>
                  <a:pt x="97155" y="251996"/>
                  <a:pt x="108317" y="263158"/>
                </a:cubicBezTo>
                <a:cubicBezTo>
                  <a:pt x="119479" y="274320"/>
                  <a:pt x="137606" y="274320"/>
                  <a:pt x="148769" y="263158"/>
                </a:cubicBezTo>
                <a:lnTo>
                  <a:pt x="214313" y="197614"/>
                </a:lnTo>
                <a:lnTo>
                  <a:pt x="265569" y="248870"/>
                </a:lnTo>
                <a:cubicBezTo>
                  <a:pt x="276731" y="260033"/>
                  <a:pt x="294858" y="260033"/>
                  <a:pt x="306020" y="248870"/>
                </a:cubicBezTo>
                <a:lnTo>
                  <a:pt x="420320" y="134570"/>
                </a:lnTo>
                <a:close/>
              </a:path>
            </a:pathLst>
          </a:custGeom>
          <a:solidFill>
            <a:srgbClr val="E891A0"/>
          </a:solidFill>
          <a:ln/>
        </p:spPr>
      </p:sp>
      <p:sp>
        <p:nvSpPr>
          <p:cNvPr id="16" name="Shape 14"/>
          <p:cNvSpPr/>
          <p:nvPr/>
        </p:nvSpPr>
        <p:spPr>
          <a:xfrm>
            <a:off x="10922000" y="1905000"/>
            <a:ext cx="4572000" cy="533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blurRad="190500" dist="50800" dir="5400000" algn="bl" rotWithShape="0">
              <a:srgbClr val="000000">
                <a:alpha val="7059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1303000" y="2286000"/>
            <a:ext cx="1524000" cy="1016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7200" b="1" dirty="0">
                <a:solidFill>
                  <a:srgbClr val="1E3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03</a:t>
            </a:r>
            <a:endParaRPr lang="en-US" sz="7200" dirty="0"/>
          </a:p>
        </p:txBody>
      </p:sp>
      <p:sp>
        <p:nvSpPr>
          <p:cNvPr id="18" name="Text 16"/>
          <p:cNvSpPr/>
          <p:nvPr/>
        </p:nvSpPr>
        <p:spPr>
          <a:xfrm>
            <a:off x="11303000" y="3429000"/>
            <a:ext cx="381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400" b="1" dirty="0">
                <a:solidFill>
                  <a:srgbClr val="1E3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Penutup</a:t>
            </a:r>
            <a:endParaRPr lang="en-US" sz="2400" dirty="0"/>
          </a:p>
        </p:txBody>
      </p:sp>
      <p:sp>
        <p:nvSpPr>
          <p:cNvPr id="19" name="Shape 17"/>
          <p:cNvSpPr/>
          <p:nvPr/>
        </p:nvSpPr>
        <p:spPr>
          <a:xfrm>
            <a:off x="11303000" y="4064000"/>
            <a:ext cx="635000" cy="38100"/>
          </a:xfrm>
          <a:prstGeom prst="rect">
            <a:avLst/>
          </a:prstGeom>
          <a:solidFill>
            <a:srgbClr val="E891A0"/>
          </a:solidFill>
          <a:ln/>
        </p:spPr>
      </p:sp>
      <p:sp>
        <p:nvSpPr>
          <p:cNvPr id="20" name="Text 18"/>
          <p:cNvSpPr/>
          <p:nvPr/>
        </p:nvSpPr>
        <p:spPr>
          <a:xfrm>
            <a:off x="11303000" y="4318000"/>
            <a:ext cx="3810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600" dirty="0">
                <a:solidFill>
                  <a:srgbClr val="6B7B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Kesimpulan dari hasil analisis EDA dan saran untuk penelitian selanjutnya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1303000" y="60960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370761" y="28575"/>
                </a:moveTo>
                <a:lnTo>
                  <a:pt x="381000" y="28575"/>
                </a:lnTo>
                <a:cubicBezTo>
                  <a:pt x="423029" y="28575"/>
                  <a:pt x="457200" y="54203"/>
                  <a:pt x="457200" y="85725"/>
                </a:cubicBezTo>
                <a:lnTo>
                  <a:pt x="457200" y="400050"/>
                </a:lnTo>
                <a:cubicBezTo>
                  <a:pt x="457200" y="431572"/>
                  <a:pt x="423029" y="457200"/>
                  <a:pt x="381000" y="457200"/>
                </a:cubicBezTo>
                <a:lnTo>
                  <a:pt x="76200" y="457200"/>
                </a:lnTo>
                <a:cubicBezTo>
                  <a:pt x="34171" y="457200"/>
                  <a:pt x="0" y="431572"/>
                  <a:pt x="0" y="400050"/>
                </a:cubicBezTo>
                <a:lnTo>
                  <a:pt x="0" y="85725"/>
                </a:lnTo>
                <a:cubicBezTo>
                  <a:pt x="0" y="54203"/>
                  <a:pt x="34171" y="28575"/>
                  <a:pt x="76200" y="28575"/>
                </a:cubicBezTo>
                <a:lnTo>
                  <a:pt x="86439" y="28575"/>
                </a:lnTo>
                <a:cubicBezTo>
                  <a:pt x="99536" y="11519"/>
                  <a:pt x="124182" y="0"/>
                  <a:pt x="152400" y="0"/>
                </a:cubicBezTo>
                <a:lnTo>
                  <a:pt x="304800" y="0"/>
                </a:lnTo>
                <a:cubicBezTo>
                  <a:pt x="333018" y="0"/>
                  <a:pt x="357664" y="11519"/>
                  <a:pt x="370761" y="28575"/>
                </a:cubicBezTo>
                <a:close/>
                <a:moveTo>
                  <a:pt x="295275" y="100013"/>
                </a:moveTo>
                <a:cubicBezTo>
                  <a:pt x="311110" y="100013"/>
                  <a:pt x="323850" y="90458"/>
                  <a:pt x="323850" y="78581"/>
                </a:cubicBezTo>
                <a:cubicBezTo>
                  <a:pt x="323850" y="66705"/>
                  <a:pt x="311110" y="57150"/>
                  <a:pt x="295275" y="57150"/>
                </a:cubicBezTo>
                <a:lnTo>
                  <a:pt x="161925" y="57150"/>
                </a:lnTo>
                <a:cubicBezTo>
                  <a:pt x="146090" y="57150"/>
                  <a:pt x="133350" y="66705"/>
                  <a:pt x="133350" y="78581"/>
                </a:cubicBezTo>
                <a:cubicBezTo>
                  <a:pt x="133350" y="90458"/>
                  <a:pt x="146090" y="100013"/>
                  <a:pt x="161925" y="100013"/>
                </a:cubicBezTo>
                <a:lnTo>
                  <a:pt x="295275" y="100013"/>
                </a:lnTo>
                <a:close/>
                <a:moveTo>
                  <a:pt x="329089" y="232797"/>
                </a:moveTo>
                <a:cubicBezTo>
                  <a:pt x="337423" y="222796"/>
                  <a:pt x="333375" y="209580"/>
                  <a:pt x="320040" y="203240"/>
                </a:cubicBezTo>
                <a:cubicBezTo>
                  <a:pt x="306705" y="196900"/>
                  <a:pt x="289084" y="200025"/>
                  <a:pt x="280630" y="210026"/>
                </a:cubicBezTo>
                <a:lnTo>
                  <a:pt x="207526" y="297805"/>
                </a:lnTo>
                <a:lnTo>
                  <a:pt x="175379" y="265658"/>
                </a:lnTo>
                <a:cubicBezTo>
                  <a:pt x="165854" y="256193"/>
                  <a:pt x="147995" y="254228"/>
                  <a:pt x="135374" y="261372"/>
                </a:cubicBezTo>
                <a:cubicBezTo>
                  <a:pt x="122753" y="268516"/>
                  <a:pt x="120134" y="281910"/>
                  <a:pt x="129659" y="291376"/>
                </a:cubicBezTo>
                <a:lnTo>
                  <a:pt x="186809" y="348526"/>
                </a:lnTo>
                <a:cubicBezTo>
                  <a:pt x="192405" y="354151"/>
                  <a:pt x="201454" y="357366"/>
                  <a:pt x="210860" y="357098"/>
                </a:cubicBezTo>
                <a:cubicBezTo>
                  <a:pt x="220266" y="356830"/>
                  <a:pt x="228838" y="353080"/>
                  <a:pt x="233839" y="347008"/>
                </a:cubicBezTo>
                <a:lnTo>
                  <a:pt x="329089" y="232708"/>
                </a:lnTo>
                <a:close/>
              </a:path>
            </a:pathLst>
          </a:custGeom>
          <a:solidFill>
            <a:srgbClr val="E891A0"/>
          </a:solidFill>
          <a:ln/>
        </p:spPr>
      </p:sp>
      <p:sp>
        <p:nvSpPr>
          <p:cNvPr id="22" name="Shape 20"/>
          <p:cNvSpPr/>
          <p:nvPr/>
        </p:nvSpPr>
        <p:spPr>
          <a:xfrm>
            <a:off x="0" y="8636000"/>
            <a:ext cx="16256000" cy="5080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23" name="Text 21"/>
          <p:cNvSpPr/>
          <p:nvPr/>
        </p:nvSpPr>
        <p:spPr>
          <a:xfrm>
            <a:off x="762000" y="87122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EDA Customer Churn | Daftar Isi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4986000" y="8712200"/>
            <a:ext cx="762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02</a:t>
            </a:r>
            <a:endParaRPr lang="en-US" sz="12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gradFill flip="none" rotWithShape="1">
          <a:gsLst>
            <a:gs pos="0">
              <a:srgbClr val="1E3A5F"/>
            </a:gs>
            <a:gs pos="70000">
              <a:srgbClr val="2D4F7C"/>
            </a:gs>
            <a:gs pos="100000">
              <a:srgbClr val="D4627A"/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1270000"/>
            <a:ext cx="6350000" cy="279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80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01</a:t>
            </a:r>
            <a:endParaRPr lang="en-US" sz="18000" dirty="0"/>
          </a:p>
        </p:txBody>
      </p:sp>
      <p:sp>
        <p:nvSpPr>
          <p:cNvPr id="3" name="Text 1"/>
          <p:cNvSpPr/>
          <p:nvPr/>
        </p:nvSpPr>
        <p:spPr>
          <a:xfrm>
            <a:off x="1016000" y="3810000"/>
            <a:ext cx="381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b="1" kern="0" spc="400" dirty="0">
                <a:solidFill>
                  <a:srgbClr val="E891A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BAB I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016000" y="4318000"/>
            <a:ext cx="8890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Pendahuluan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1016000" y="5270500"/>
            <a:ext cx="1270000" cy="50800"/>
          </a:xfrm>
          <a:prstGeom prst="rect">
            <a:avLst/>
          </a:prstGeom>
          <a:solidFill>
            <a:srgbClr val="E891A0"/>
          </a:solidFill>
          <a:ln/>
        </p:spPr>
      </p:sp>
      <p:sp>
        <p:nvSpPr>
          <p:cNvPr id="6" name="Text 4"/>
          <p:cNvSpPr/>
          <p:nvPr/>
        </p:nvSpPr>
        <p:spPr>
          <a:xfrm>
            <a:off x="1016000" y="5524500"/>
            <a:ext cx="762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B0C4D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Latar belakang, rumusan masalah, dan tujuan penelitian dalam mengidentifikasi karakteristik customer churn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11430000" y="2540000"/>
            <a:ext cx="3810000" cy="3810000"/>
          </a:xfrm>
          <a:prstGeom prst="ellipse">
            <a:avLst/>
          </a:prstGeom>
          <a:solidFill>
            <a:srgbClr val="FFFFFF">
              <a:alpha val="3137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2700000" y="4445000"/>
            <a:ext cx="2540000" cy="2540000"/>
          </a:xfrm>
          <a:prstGeom prst="ellipse">
            <a:avLst/>
          </a:prstGeom>
          <a:solidFill>
            <a:srgbClr val="FFFFFF">
              <a:alpha val="6275"/>
            </a:srgbClr>
          </a:solidFill>
          <a:ln/>
        </p:spPr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444500"/>
            <a:ext cx="8890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800" b="1" dirty="0">
                <a:solidFill>
                  <a:srgbClr val="1E3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Latar Belakang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62000" y="1041400"/>
            <a:ext cx="762000" cy="50800"/>
          </a:xfrm>
          <a:prstGeom prst="rect">
            <a:avLst/>
          </a:prstGeom>
          <a:solidFill>
            <a:srgbClr val="E891A0"/>
          </a:solidFill>
          <a:ln/>
        </p:spPr>
      </p:sp>
      <p:sp>
        <p:nvSpPr>
          <p:cNvPr id="4" name="Shape 2"/>
          <p:cNvSpPr/>
          <p:nvPr/>
        </p:nvSpPr>
        <p:spPr>
          <a:xfrm>
            <a:off x="762000" y="1333500"/>
            <a:ext cx="14732000" cy="6858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blurRad="127000" dist="25400" dir="5400000" algn="bl" rotWithShape="0">
              <a:srgbClr val="000000">
                <a:alpha val="3922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143000" y="1587500"/>
            <a:ext cx="13970000" cy="63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1A2B3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Perkembangan teknologi informasi telah mendorong </a:t>
            </a:r>
            <a:r>
              <a:rPr lang="en-US" sz="1800" dirty="0" err="1">
                <a:solidFill>
                  <a:srgbClr val="1A2B3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industri</a:t>
            </a:r>
            <a:r>
              <a:rPr lang="en-US" sz="1800" dirty="0">
                <a:solidFill>
                  <a:srgbClr val="1A2B3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r>
              <a:rPr lang="en-US" sz="1800" dirty="0" err="1">
                <a:solidFill>
                  <a:srgbClr val="1A2B3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untuk</a:t>
            </a:r>
            <a:r>
              <a:rPr lang="en-US" sz="1800" dirty="0">
                <a:solidFill>
                  <a:srgbClr val="1A2B3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semakin mengandalkan data dalam pengambilan keputusan. Persaingan ketat menyebabkan bank harus mempertahankan nasabah yang sudah ada, bukan hanya </a:t>
            </a:r>
            <a:r>
              <a:rPr lang="en-US" sz="1800" dirty="0" err="1">
                <a:solidFill>
                  <a:srgbClr val="1A2B3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memperoleh</a:t>
            </a:r>
            <a:r>
              <a:rPr lang="en-US" sz="1800" dirty="0">
                <a:solidFill>
                  <a:srgbClr val="1A2B3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r>
              <a:rPr lang="id-ID" sz="1800" dirty="0" err="1">
                <a:solidFill>
                  <a:srgbClr val="1A2B3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customer</a:t>
            </a:r>
            <a:r>
              <a:rPr lang="en-US" sz="1800" dirty="0">
                <a:solidFill>
                  <a:srgbClr val="1A2B3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baru.</a:t>
            </a:r>
            <a:endParaRPr lang="en-US" sz="1800" dirty="0"/>
          </a:p>
          <a:p>
            <a:pPr algn="l">
              <a:lnSpc>
                <a:spcPct val="150000"/>
              </a:lnSpc>
              <a:spcBef>
                <a:spcPts val="1200"/>
              </a:spcBef>
            </a:pPr>
            <a:r>
              <a:rPr lang="en-US" sz="1800" b="1" dirty="0">
                <a:solidFill>
                  <a:srgbClr val="D462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Customer churn</a:t>
            </a:r>
            <a:r>
              <a:rPr lang="en-US" sz="1800" dirty="0">
                <a:solidFill>
                  <a:srgbClr val="1A2B3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merupakan kondisi ketika pelanggan menghentikan penggunaan produk atau layanan perusahaan. Dalam sektor perbankan, </a:t>
            </a:r>
            <a:r>
              <a:rPr lang="en-US" sz="1800" i="1" dirty="0">
                <a:solidFill>
                  <a:srgbClr val="1A2B3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churn</a:t>
            </a:r>
            <a:r>
              <a:rPr lang="en-US" sz="1800" dirty="0">
                <a:solidFill>
                  <a:srgbClr val="1A2B3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ditunjukkan melalui penutupan rekening atau berpindah ke lembaga keuangan lain.</a:t>
            </a:r>
            <a:endParaRPr lang="en-US" sz="1800" dirty="0"/>
          </a:p>
          <a:p>
            <a:pPr algn="l">
              <a:lnSpc>
                <a:spcPct val="150000"/>
              </a:lnSpc>
              <a:spcBef>
                <a:spcPts val="1200"/>
              </a:spcBef>
            </a:pPr>
            <a:r>
              <a:rPr lang="en-US" sz="1800" b="1" dirty="0">
                <a:solidFill>
                  <a:srgbClr val="D462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Exploratory Data Analysis (EDA)</a:t>
            </a:r>
            <a:r>
              <a:rPr lang="en-US" sz="1800" dirty="0">
                <a:solidFill>
                  <a:srgbClr val="1A2B3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merupakan tahapan awal analisis data yang bertujuan mengeksplorasi struktur data, mengidentifikasi distribusi variabel, menemukan hubungan antarvariabel, mendeteksi outlier, serta mengenali pola tersembunyi dalam data.</a:t>
            </a:r>
            <a:endParaRPr lang="en-US" sz="1800" dirty="0"/>
          </a:p>
          <a:p>
            <a:pPr algn="l">
              <a:lnSpc>
                <a:spcPct val="150000"/>
              </a:lnSpc>
              <a:spcBef>
                <a:spcPts val="1200"/>
              </a:spcBef>
            </a:pPr>
            <a:r>
              <a:rPr lang="en-US" sz="1800" dirty="0">
                <a:solidFill>
                  <a:srgbClr val="1A2B3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Penelitian ini menggunakan dataset </a:t>
            </a:r>
            <a:r>
              <a:rPr lang="en-US" sz="1800" b="1" dirty="0">
                <a:solidFill>
                  <a:srgbClr val="1A2B3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Churn Modelling</a:t>
            </a:r>
            <a:r>
              <a:rPr lang="en-US" sz="1800" dirty="0">
                <a:solidFill>
                  <a:srgbClr val="1A2B3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dari Kaggle (10.000 data pelanggan, 14 atribut) untuk mengidentifikasi karakteristik customer churn pada sektor perbankan guna memberikan landasan bagi strategi retensi pelanggan.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8636000"/>
            <a:ext cx="16256000" cy="5080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7" name="Shape 5"/>
          <p:cNvSpPr/>
          <p:nvPr/>
        </p:nvSpPr>
        <p:spPr>
          <a:xfrm>
            <a:off x="0" y="8636000"/>
            <a:ext cx="5422900" cy="508000"/>
          </a:xfrm>
          <a:prstGeom prst="rect">
            <a:avLst/>
          </a:prstGeom>
          <a:solidFill>
            <a:srgbClr val="FFFFFF">
              <a:alpha val="1451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127000" y="8712200"/>
            <a:ext cx="51689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Bab I - Pendahuluan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549900" y="8712200"/>
            <a:ext cx="51689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Bab II - Pembahasan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845800" y="8712200"/>
            <a:ext cx="51562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Bab III - Penutup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4986000" y="50800"/>
            <a:ext cx="762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200" dirty="0">
                <a:solidFill>
                  <a:srgbClr val="6B7B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04</a:t>
            </a:r>
            <a:endParaRPr lang="en-US" sz="12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444500"/>
            <a:ext cx="8890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800" b="1" dirty="0">
                <a:solidFill>
                  <a:srgbClr val="1E3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Rumusan Masalah &amp; Tujuan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62000" y="1041400"/>
            <a:ext cx="762000" cy="50800"/>
          </a:xfrm>
          <a:prstGeom prst="rect">
            <a:avLst/>
          </a:prstGeom>
          <a:solidFill>
            <a:srgbClr val="E891A0"/>
          </a:solidFill>
          <a:ln/>
        </p:spPr>
      </p:sp>
      <p:sp>
        <p:nvSpPr>
          <p:cNvPr id="4" name="Shape 2"/>
          <p:cNvSpPr/>
          <p:nvPr/>
        </p:nvSpPr>
        <p:spPr>
          <a:xfrm>
            <a:off x="762000" y="1333500"/>
            <a:ext cx="7112000" cy="6858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blurRad="127000" dist="25400" dir="5400000" algn="bl" rotWithShape="0">
              <a:srgbClr val="000000">
                <a:alpha val="3922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143000" y="15875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203200" y="406400"/>
                </a:moveTo>
                <a:cubicBezTo>
                  <a:pt x="315349" y="406400"/>
                  <a:pt x="406400" y="315349"/>
                  <a:pt x="406400" y="203200"/>
                </a:cubicBezTo>
                <a:cubicBezTo>
                  <a:pt x="406400" y="91051"/>
                  <a:pt x="315349" y="0"/>
                  <a:pt x="203200" y="0"/>
                </a:cubicBezTo>
                <a:cubicBezTo>
                  <a:pt x="91051" y="0"/>
                  <a:pt x="0" y="91051"/>
                  <a:pt x="0" y="203200"/>
                </a:cubicBezTo>
                <a:cubicBezTo>
                  <a:pt x="0" y="315349"/>
                  <a:pt x="91051" y="406400"/>
                  <a:pt x="203200" y="406400"/>
                </a:cubicBezTo>
                <a:close/>
                <a:moveTo>
                  <a:pt x="203200" y="139700"/>
                </a:moveTo>
                <a:cubicBezTo>
                  <a:pt x="189151" y="139700"/>
                  <a:pt x="177800" y="151051"/>
                  <a:pt x="177800" y="165100"/>
                </a:cubicBezTo>
                <a:cubicBezTo>
                  <a:pt x="177800" y="175657"/>
                  <a:pt x="169307" y="184150"/>
                  <a:pt x="158750" y="184150"/>
                </a:cubicBezTo>
                <a:cubicBezTo>
                  <a:pt x="148193" y="184150"/>
                  <a:pt x="139700" y="175657"/>
                  <a:pt x="139700" y="165100"/>
                </a:cubicBezTo>
                <a:cubicBezTo>
                  <a:pt x="139700" y="130016"/>
                  <a:pt x="168116" y="101600"/>
                  <a:pt x="203200" y="101600"/>
                </a:cubicBezTo>
                <a:cubicBezTo>
                  <a:pt x="238284" y="101600"/>
                  <a:pt x="266700" y="130016"/>
                  <a:pt x="266700" y="165100"/>
                </a:cubicBezTo>
                <a:cubicBezTo>
                  <a:pt x="266700" y="202565"/>
                  <a:pt x="238125" y="218440"/>
                  <a:pt x="222250" y="224234"/>
                </a:cubicBezTo>
                <a:lnTo>
                  <a:pt x="222250" y="227251"/>
                </a:lnTo>
                <a:cubicBezTo>
                  <a:pt x="222250" y="237808"/>
                  <a:pt x="213757" y="246301"/>
                  <a:pt x="203200" y="246301"/>
                </a:cubicBezTo>
                <a:cubicBezTo>
                  <a:pt x="192643" y="246301"/>
                  <a:pt x="184150" y="237808"/>
                  <a:pt x="184150" y="227251"/>
                </a:cubicBezTo>
                <a:lnTo>
                  <a:pt x="184150" y="220821"/>
                </a:lnTo>
                <a:cubicBezTo>
                  <a:pt x="184150" y="204549"/>
                  <a:pt x="195898" y="192881"/>
                  <a:pt x="208042" y="188913"/>
                </a:cubicBezTo>
                <a:cubicBezTo>
                  <a:pt x="213122" y="187246"/>
                  <a:pt x="218519" y="184547"/>
                  <a:pt x="222488" y="180737"/>
                </a:cubicBezTo>
                <a:cubicBezTo>
                  <a:pt x="225901" y="177403"/>
                  <a:pt x="228600" y="172799"/>
                  <a:pt x="228600" y="165179"/>
                </a:cubicBezTo>
                <a:cubicBezTo>
                  <a:pt x="228600" y="151130"/>
                  <a:pt x="217249" y="139779"/>
                  <a:pt x="203200" y="139779"/>
                </a:cubicBezTo>
                <a:close/>
                <a:moveTo>
                  <a:pt x="177800" y="292100"/>
                </a:moveTo>
                <a:cubicBezTo>
                  <a:pt x="177800" y="278081"/>
                  <a:pt x="189181" y="266700"/>
                  <a:pt x="203200" y="266700"/>
                </a:cubicBezTo>
                <a:cubicBezTo>
                  <a:pt x="217219" y="266700"/>
                  <a:pt x="228600" y="278081"/>
                  <a:pt x="228600" y="292100"/>
                </a:cubicBezTo>
                <a:cubicBezTo>
                  <a:pt x="228600" y="306119"/>
                  <a:pt x="217219" y="317500"/>
                  <a:pt x="203200" y="317500"/>
                </a:cubicBezTo>
                <a:cubicBezTo>
                  <a:pt x="189181" y="317500"/>
                  <a:pt x="177800" y="306119"/>
                  <a:pt x="177800" y="292100"/>
                </a:cubicBezTo>
                <a:close/>
              </a:path>
            </a:pathLst>
          </a:custGeom>
          <a:solidFill>
            <a:srgbClr val="D4627A"/>
          </a:solidFill>
          <a:ln/>
        </p:spPr>
      </p:sp>
      <p:sp>
        <p:nvSpPr>
          <p:cNvPr id="6" name="Text 4"/>
          <p:cNvSpPr/>
          <p:nvPr/>
        </p:nvSpPr>
        <p:spPr>
          <a:xfrm>
            <a:off x="1676400" y="1587500"/>
            <a:ext cx="381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1E3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Rumusan Masalah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1143000" y="2159000"/>
            <a:ext cx="6350000" cy="254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8" name="Text 6"/>
          <p:cNvSpPr/>
          <p:nvPr/>
        </p:nvSpPr>
        <p:spPr>
          <a:xfrm>
            <a:off x="1143000" y="2349500"/>
            <a:ext cx="6350000" cy="558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800" b="1" dirty="0">
                <a:solidFill>
                  <a:srgbClr val="D462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1.</a:t>
            </a:r>
            <a:r>
              <a:rPr lang="en-US" sz="1800" dirty="0">
                <a:solidFill>
                  <a:srgbClr val="1A2B3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Bagaimana distribusi pelanggan berdasarkan status </a:t>
            </a:r>
            <a:r>
              <a:rPr lang="en-US" sz="1800" i="1" dirty="0">
                <a:solidFill>
                  <a:srgbClr val="1A2B3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churn</a:t>
            </a:r>
            <a:r>
              <a:rPr lang="en-US" sz="1800" dirty="0">
                <a:solidFill>
                  <a:srgbClr val="1A2B3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dan </a:t>
            </a:r>
            <a:r>
              <a:rPr lang="en-US" sz="1800" i="1" dirty="0">
                <a:solidFill>
                  <a:srgbClr val="1A2B3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non-churn</a:t>
            </a:r>
            <a:r>
              <a:rPr lang="en-US" sz="1800" dirty="0">
                <a:solidFill>
                  <a:srgbClr val="1A2B3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pada dataset?</a:t>
            </a:r>
            <a:endParaRPr lang="en-US" sz="1800" dirty="0"/>
          </a:p>
          <a:p>
            <a:pPr algn="l">
              <a:lnSpc>
                <a:spcPct val="160000"/>
              </a:lnSpc>
              <a:spcBef>
                <a:spcPts val="1600"/>
              </a:spcBef>
            </a:pPr>
            <a:r>
              <a:rPr lang="en-US" sz="1800" b="1" dirty="0">
                <a:solidFill>
                  <a:srgbClr val="D462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2.</a:t>
            </a:r>
            <a:r>
              <a:rPr lang="en-US" sz="1800" dirty="0">
                <a:solidFill>
                  <a:srgbClr val="1A2B3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Bagaimana karakteristik </a:t>
            </a:r>
            <a:r>
              <a:rPr lang="en-US" sz="1800" i="1" dirty="0">
                <a:solidFill>
                  <a:srgbClr val="1A2B3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customer churn</a:t>
            </a:r>
            <a:r>
              <a:rPr lang="en-US" sz="1800" dirty="0">
                <a:solidFill>
                  <a:srgbClr val="1A2B3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berdasarkan </a:t>
            </a:r>
            <a:r>
              <a:rPr lang="en-US" sz="1800" b="1" dirty="0">
                <a:solidFill>
                  <a:srgbClr val="1A2B3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Geography, Gender, IsActiveMember, HasCrCard,</a:t>
            </a:r>
            <a:r>
              <a:rPr lang="en-US" sz="1800" dirty="0">
                <a:solidFill>
                  <a:srgbClr val="1A2B3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dan </a:t>
            </a:r>
            <a:r>
              <a:rPr lang="en-US" sz="1800" b="1" dirty="0">
                <a:solidFill>
                  <a:srgbClr val="1A2B3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NumOfProducts</a:t>
            </a:r>
            <a:r>
              <a:rPr lang="en-US" sz="1800" dirty="0">
                <a:solidFill>
                  <a:srgbClr val="1A2B3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?</a:t>
            </a:r>
            <a:endParaRPr lang="en-US" sz="1800" dirty="0"/>
          </a:p>
          <a:p>
            <a:pPr algn="l">
              <a:lnSpc>
                <a:spcPct val="160000"/>
              </a:lnSpc>
              <a:spcBef>
                <a:spcPts val="1600"/>
              </a:spcBef>
            </a:pPr>
            <a:r>
              <a:rPr lang="en-US" sz="1800" b="1" dirty="0">
                <a:solidFill>
                  <a:srgbClr val="D462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3.</a:t>
            </a:r>
            <a:r>
              <a:rPr lang="en-US" sz="1800" dirty="0">
                <a:solidFill>
                  <a:srgbClr val="1A2B3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Bagaimana hubungan atau korelasi antar fitur pada dataset sehingga dapat memberikan gambaran mengenai keterkaitan antarvariabel?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8382000" y="1333500"/>
            <a:ext cx="7112000" cy="6858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blurRad="127000" dist="25400" dir="5400000" algn="bl" rotWithShape="0">
              <a:srgbClr val="000000">
                <a:alpha val="3922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763000" y="15875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355600" y="203200"/>
                </a:moveTo>
                <a:cubicBezTo>
                  <a:pt x="355600" y="119088"/>
                  <a:pt x="287312" y="50800"/>
                  <a:pt x="203200" y="50800"/>
                </a:cubicBezTo>
                <a:cubicBezTo>
                  <a:pt x="119088" y="50800"/>
                  <a:pt x="50800" y="119088"/>
                  <a:pt x="50800" y="203200"/>
                </a:cubicBezTo>
                <a:cubicBezTo>
                  <a:pt x="50800" y="287312"/>
                  <a:pt x="119088" y="355600"/>
                  <a:pt x="203200" y="355600"/>
                </a:cubicBezTo>
                <a:cubicBezTo>
                  <a:pt x="287312" y="355600"/>
                  <a:pt x="355600" y="287312"/>
                  <a:pt x="355600" y="203200"/>
                </a:cubicBezTo>
                <a:close/>
                <a:moveTo>
                  <a:pt x="0" y="203200"/>
                </a:moveTo>
                <a:cubicBezTo>
                  <a:pt x="0" y="91051"/>
                  <a:pt x="91051" y="0"/>
                  <a:pt x="203200" y="0"/>
                </a:cubicBezTo>
                <a:cubicBezTo>
                  <a:pt x="315349" y="0"/>
                  <a:pt x="406400" y="91051"/>
                  <a:pt x="406400" y="203200"/>
                </a:cubicBezTo>
                <a:cubicBezTo>
                  <a:pt x="406400" y="315349"/>
                  <a:pt x="315349" y="406400"/>
                  <a:pt x="203200" y="406400"/>
                </a:cubicBezTo>
                <a:cubicBezTo>
                  <a:pt x="91051" y="406400"/>
                  <a:pt x="0" y="315349"/>
                  <a:pt x="0" y="203200"/>
                </a:cubicBezTo>
                <a:close/>
                <a:moveTo>
                  <a:pt x="203200" y="266700"/>
                </a:moveTo>
                <a:cubicBezTo>
                  <a:pt x="238247" y="266700"/>
                  <a:pt x="266700" y="238247"/>
                  <a:pt x="266700" y="203200"/>
                </a:cubicBezTo>
                <a:cubicBezTo>
                  <a:pt x="266700" y="168153"/>
                  <a:pt x="238247" y="139700"/>
                  <a:pt x="203200" y="139700"/>
                </a:cubicBezTo>
                <a:cubicBezTo>
                  <a:pt x="168153" y="139700"/>
                  <a:pt x="139700" y="168153"/>
                  <a:pt x="139700" y="203200"/>
                </a:cubicBezTo>
                <a:cubicBezTo>
                  <a:pt x="139700" y="238247"/>
                  <a:pt x="168153" y="266700"/>
                  <a:pt x="203200" y="266700"/>
                </a:cubicBezTo>
                <a:close/>
                <a:moveTo>
                  <a:pt x="203200" y="88900"/>
                </a:moveTo>
                <a:cubicBezTo>
                  <a:pt x="266284" y="88900"/>
                  <a:pt x="317500" y="140116"/>
                  <a:pt x="317500" y="203200"/>
                </a:cubicBezTo>
                <a:cubicBezTo>
                  <a:pt x="317500" y="266284"/>
                  <a:pt x="266284" y="317500"/>
                  <a:pt x="203200" y="317500"/>
                </a:cubicBezTo>
                <a:cubicBezTo>
                  <a:pt x="140116" y="317500"/>
                  <a:pt x="88900" y="266284"/>
                  <a:pt x="88900" y="203200"/>
                </a:cubicBezTo>
                <a:cubicBezTo>
                  <a:pt x="88900" y="140116"/>
                  <a:pt x="140116" y="88900"/>
                  <a:pt x="203200" y="88900"/>
                </a:cubicBezTo>
                <a:close/>
                <a:moveTo>
                  <a:pt x="177800" y="203200"/>
                </a:moveTo>
                <a:cubicBezTo>
                  <a:pt x="177800" y="189181"/>
                  <a:pt x="189181" y="177800"/>
                  <a:pt x="203200" y="177800"/>
                </a:cubicBezTo>
                <a:cubicBezTo>
                  <a:pt x="217219" y="177800"/>
                  <a:pt x="228600" y="189181"/>
                  <a:pt x="228600" y="203200"/>
                </a:cubicBezTo>
                <a:cubicBezTo>
                  <a:pt x="228600" y="217219"/>
                  <a:pt x="217219" y="228600"/>
                  <a:pt x="203200" y="228600"/>
                </a:cubicBezTo>
                <a:cubicBezTo>
                  <a:pt x="189181" y="228600"/>
                  <a:pt x="177800" y="217219"/>
                  <a:pt x="177800" y="203200"/>
                </a:cubicBezTo>
                <a:close/>
              </a:path>
            </a:pathLst>
          </a:custGeom>
          <a:solidFill>
            <a:srgbClr val="E891A0"/>
          </a:solidFill>
          <a:ln/>
        </p:spPr>
      </p:sp>
      <p:sp>
        <p:nvSpPr>
          <p:cNvPr id="11" name="Text 9"/>
          <p:cNvSpPr/>
          <p:nvPr/>
        </p:nvSpPr>
        <p:spPr>
          <a:xfrm>
            <a:off x="9296400" y="1587500"/>
            <a:ext cx="381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1E3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Tujuan Penelitian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8763000" y="2159000"/>
            <a:ext cx="6350000" cy="254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3" name="Text 11"/>
          <p:cNvSpPr/>
          <p:nvPr/>
        </p:nvSpPr>
        <p:spPr>
          <a:xfrm>
            <a:off x="8763000" y="2349500"/>
            <a:ext cx="6350000" cy="558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800" b="1" dirty="0">
                <a:solidFill>
                  <a:srgbClr val="E891A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1.</a:t>
            </a:r>
            <a:r>
              <a:rPr lang="en-US" sz="1800" dirty="0">
                <a:solidFill>
                  <a:srgbClr val="1A2B3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Menganalisis distribusi pelanggan berdasarkan kategori </a:t>
            </a:r>
            <a:r>
              <a:rPr lang="en-US" sz="1800" i="1" dirty="0">
                <a:solidFill>
                  <a:srgbClr val="1A2B3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churn</a:t>
            </a:r>
            <a:r>
              <a:rPr lang="en-US" sz="1800" dirty="0">
                <a:solidFill>
                  <a:srgbClr val="1A2B3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dan </a:t>
            </a:r>
            <a:r>
              <a:rPr lang="en-US" sz="1800" i="1" dirty="0">
                <a:solidFill>
                  <a:srgbClr val="1A2B3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non-churn</a:t>
            </a:r>
            <a:r>
              <a:rPr lang="en-US" sz="1800" dirty="0">
                <a:solidFill>
                  <a:srgbClr val="1A2B3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guna mengetahui proporsi pelanggan yang bertahan maupun berhenti.</a:t>
            </a:r>
            <a:endParaRPr lang="en-US" sz="1800" dirty="0"/>
          </a:p>
          <a:p>
            <a:pPr algn="l">
              <a:lnSpc>
                <a:spcPct val="160000"/>
              </a:lnSpc>
              <a:spcBef>
                <a:spcPts val="1600"/>
              </a:spcBef>
            </a:pPr>
            <a:r>
              <a:rPr lang="en-US" sz="1800" b="1" dirty="0">
                <a:solidFill>
                  <a:srgbClr val="E891A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2.</a:t>
            </a:r>
            <a:r>
              <a:rPr lang="en-US" sz="1800" dirty="0">
                <a:solidFill>
                  <a:srgbClr val="1A2B3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Menganalisis karakteristik </a:t>
            </a:r>
            <a:r>
              <a:rPr lang="en-US" sz="1800" i="1" dirty="0">
                <a:solidFill>
                  <a:srgbClr val="1A2B3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customer churn</a:t>
            </a:r>
            <a:r>
              <a:rPr lang="en-US" sz="1800" dirty="0">
                <a:solidFill>
                  <a:srgbClr val="1A2B3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berdasarkan variabel kategorikal untuk mengidentifikasi kelompok dengan kecenderungan </a:t>
            </a:r>
            <a:r>
              <a:rPr lang="en-US" sz="1800" i="1" dirty="0">
                <a:solidFill>
                  <a:srgbClr val="1A2B3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churn</a:t>
            </a:r>
            <a:r>
              <a:rPr lang="en-US" sz="1800" dirty="0">
                <a:solidFill>
                  <a:srgbClr val="1A2B3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lebih tinggi.</a:t>
            </a:r>
            <a:endParaRPr lang="en-US" sz="1800" dirty="0"/>
          </a:p>
          <a:p>
            <a:pPr algn="l">
              <a:lnSpc>
                <a:spcPct val="160000"/>
              </a:lnSpc>
              <a:spcBef>
                <a:spcPts val="1600"/>
              </a:spcBef>
            </a:pPr>
            <a:r>
              <a:rPr lang="en-US" sz="1800" b="1" dirty="0">
                <a:solidFill>
                  <a:srgbClr val="E891A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3.</a:t>
            </a:r>
            <a:r>
              <a:rPr lang="en-US" sz="1800" dirty="0">
                <a:solidFill>
                  <a:srgbClr val="1A2B3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Menganalisis korelasi antar fitur numerik guna memahami hubungan antarvariabel.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0" y="8636000"/>
            <a:ext cx="16256000" cy="5080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5" name="Shape 13"/>
          <p:cNvSpPr/>
          <p:nvPr/>
        </p:nvSpPr>
        <p:spPr>
          <a:xfrm>
            <a:off x="0" y="8636000"/>
            <a:ext cx="5422900" cy="508000"/>
          </a:xfrm>
          <a:prstGeom prst="rect">
            <a:avLst/>
          </a:prstGeom>
          <a:solidFill>
            <a:srgbClr val="FFFFFF">
              <a:alpha val="1451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127000" y="8712200"/>
            <a:ext cx="51689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Bab I - Pendahuluan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549900" y="8712200"/>
            <a:ext cx="51689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Bab II - Pembahasan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845800" y="8712200"/>
            <a:ext cx="51562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Bab III - Penutup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4986000" y="50800"/>
            <a:ext cx="762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200" dirty="0">
                <a:solidFill>
                  <a:srgbClr val="6B7B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05</a:t>
            </a:r>
            <a:endParaRPr lang="en-US" sz="12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gradFill flip="none" rotWithShape="1">
          <a:gsLst>
            <a:gs pos="0">
              <a:srgbClr val="1E3A5F"/>
            </a:gs>
            <a:gs pos="70000">
              <a:srgbClr val="2D4F7C"/>
            </a:gs>
            <a:gs pos="100000">
              <a:srgbClr val="D4627A"/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1270000"/>
            <a:ext cx="6350000" cy="279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80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02</a:t>
            </a:r>
            <a:endParaRPr lang="en-US" sz="18000" dirty="0"/>
          </a:p>
        </p:txBody>
      </p:sp>
      <p:sp>
        <p:nvSpPr>
          <p:cNvPr id="3" name="Text 1"/>
          <p:cNvSpPr/>
          <p:nvPr/>
        </p:nvSpPr>
        <p:spPr>
          <a:xfrm>
            <a:off x="1016000" y="3810000"/>
            <a:ext cx="381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b="1" kern="0" spc="400" dirty="0">
                <a:solidFill>
                  <a:srgbClr val="E891A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BAB II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016000" y="4318000"/>
            <a:ext cx="8890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Pembahasan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1016000" y="5270500"/>
            <a:ext cx="1270000" cy="50800"/>
          </a:xfrm>
          <a:prstGeom prst="rect">
            <a:avLst/>
          </a:prstGeom>
          <a:solidFill>
            <a:srgbClr val="E891A0"/>
          </a:solidFill>
          <a:ln/>
        </p:spPr>
      </p:sp>
      <p:sp>
        <p:nvSpPr>
          <p:cNvPr id="6" name="Text 4"/>
          <p:cNvSpPr/>
          <p:nvPr/>
        </p:nvSpPr>
        <p:spPr>
          <a:xfrm>
            <a:off x="1016000" y="5524500"/>
            <a:ext cx="762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B0C4D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 uji coba, preprocessing, statistik deskriptif, rekayasa fitur, dan visualisasi EDA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11430000" y="2540000"/>
            <a:ext cx="3810000" cy="3810000"/>
          </a:xfrm>
          <a:prstGeom prst="ellipse">
            <a:avLst/>
          </a:prstGeom>
          <a:solidFill>
            <a:srgbClr val="FFFFFF">
              <a:alpha val="3137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2700000" y="4445000"/>
            <a:ext cx="2540000" cy="2540000"/>
          </a:xfrm>
          <a:prstGeom prst="ellipse">
            <a:avLst/>
          </a:prstGeom>
          <a:solidFill>
            <a:srgbClr val="FFFFFF">
              <a:alpha val="6275"/>
            </a:srgbClr>
          </a:solidFill>
          <a:ln/>
        </p:spPr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444500"/>
            <a:ext cx="8890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800" b="1" dirty="0">
                <a:solidFill>
                  <a:srgbClr val="1E3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 Uji Coba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62000" y="1041400"/>
            <a:ext cx="762000" cy="50800"/>
          </a:xfrm>
          <a:prstGeom prst="rect">
            <a:avLst/>
          </a:prstGeom>
          <a:solidFill>
            <a:srgbClr val="E891A0"/>
          </a:solidFill>
          <a:ln/>
        </p:spPr>
      </p:sp>
      <p:sp>
        <p:nvSpPr>
          <p:cNvPr id="4" name="Text 2"/>
          <p:cNvSpPr/>
          <p:nvPr/>
        </p:nvSpPr>
        <p:spPr>
          <a:xfrm>
            <a:off x="762000" y="1270000"/>
            <a:ext cx="14732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6B7B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Dataset </a:t>
            </a:r>
            <a:r>
              <a:rPr lang="en-US" sz="1600" b="1" dirty="0">
                <a:solidFill>
                  <a:srgbClr val="6B7B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Churn Modelling</a:t>
            </a:r>
            <a:r>
              <a:rPr lang="en-US" sz="1600" dirty="0">
                <a:solidFill>
                  <a:srgbClr val="6B7B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dari Kaggle (Shruti_Iyyer) | 10.000 observasi | 14 variabel | Format CSV | Variabel target: </a:t>
            </a:r>
            <a:r>
              <a:rPr lang="en-US" sz="1600" i="1" dirty="0">
                <a:solidFill>
                  <a:srgbClr val="6B7B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Exited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62000" y="2159000"/>
            <a:ext cx="14732000" cy="5969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blurRad="127000" dist="25400" dir="5400000" algn="bl" rotWithShape="0">
              <a:srgbClr val="000000">
                <a:alpha val="3922"/>
              </a:srgbClr>
            </a:outerShdw>
          </a:effectLst>
        </p:spPr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7144416"/>
              </p:ext>
            </p:extLst>
          </p:nvPr>
        </p:nvGraphicFramePr>
        <p:xfrm>
          <a:off x="1016000" y="2349500"/>
          <a:ext cx="14224000" cy="5588000"/>
        </p:xfrm>
        <a:graphic>
          <a:graphicData uri="http://schemas.openxmlformats.org/drawingml/2006/table">
            <a:tbl>
              <a:tblPr/>
              <a:tblGrid>
                <a:gridCol w="2560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33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53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3220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Variabel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Tipe Data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Keterangan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322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1A2B3C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RowNumber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1A2B3C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Integer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dirty="0">
                          <a:solidFill>
                            <a:srgbClr val="1A2B3C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Nomor urut data (indeks, tidak digunakan)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322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1A2B3C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CustomerId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1A2B3C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Integer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dirty="0">
                          <a:solidFill>
                            <a:srgbClr val="1A2B3C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Nomor identitas unik pelanggan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322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1A2B3C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Surname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1A2B3C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String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dirty="0">
                          <a:solidFill>
                            <a:srgbClr val="1A2B3C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Nama belakang pelanggan (tidak digunakan)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322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1A2B3C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CreditScore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1A2B3C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Integer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dirty="0">
                          <a:solidFill>
                            <a:srgbClr val="1A2B3C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Nilai kredit pelanggan (350-850)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322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1A2B3C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Geography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1A2B3C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Kategorikal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dirty="0">
                          <a:solidFill>
                            <a:srgbClr val="1A2B3C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Negara asal pelanggan (France, Germany, Spain)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322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1A2B3C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Gender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1A2B3C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Kategorikal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dirty="0">
                          <a:solidFill>
                            <a:srgbClr val="1A2B3C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Jenis kelamin pelanggan (Male, Female)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322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1A2B3C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Age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1A2B3C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Integer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dirty="0">
                          <a:solidFill>
                            <a:srgbClr val="1A2B3C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Usia pelanggan dalam tahun (18-92)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322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1A2B3C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Tenure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1A2B3C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Integer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dirty="0">
                          <a:solidFill>
                            <a:srgbClr val="1A2B3C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Lama berlangganan dalam tahun (0-10)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6322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1A2B3C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Balance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1A2B3C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Float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dirty="0">
                          <a:solidFill>
                            <a:srgbClr val="1A2B3C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Jumlah saldo pada akun pelanggan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6322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1A2B3C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NumOfProducts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1A2B3C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Integer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dirty="0">
                          <a:solidFill>
                            <a:srgbClr val="1A2B3C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Jumlah produk/layanan yang digunakan (1-4)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6322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1A2B3C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HasCrCard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1A2B3C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Integer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dirty="0">
                          <a:solidFill>
                            <a:srgbClr val="1A2B3C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Kepemilikan kartu kredit (1=ya, 0=tidak)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6322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1A2B3C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IsActiveMember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1A2B3C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Integer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dirty="0">
                          <a:solidFill>
                            <a:srgbClr val="1A2B3C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Status keaktifan pelanggan (1=aktif, 0=tidak)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6322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1A2B3C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EstimatedSalary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1A2B3C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Float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dirty="0">
                          <a:solidFill>
                            <a:srgbClr val="1A2B3C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Estimasi pendapatan tahunan pelanggan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D4627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Exited (Target)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1A2B3C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Integer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dirty="0">
                          <a:solidFill>
                            <a:srgbClr val="D4627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Status churn (1=churn, 0=non-churn)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0" y="8636000"/>
            <a:ext cx="16256000" cy="5080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6" name="Shape 5"/>
          <p:cNvSpPr/>
          <p:nvPr/>
        </p:nvSpPr>
        <p:spPr>
          <a:xfrm>
            <a:off x="5422900" y="8636000"/>
            <a:ext cx="5410200" cy="508000"/>
          </a:xfrm>
          <a:prstGeom prst="rect">
            <a:avLst/>
          </a:prstGeom>
          <a:solidFill>
            <a:srgbClr val="FFFFFF">
              <a:alpha val="14510"/>
            </a:srgbClr>
          </a:solidFill>
          <a:ln/>
        </p:spPr>
      </p:sp>
      <p:sp>
        <p:nvSpPr>
          <p:cNvPr id="9" name="Text 6"/>
          <p:cNvSpPr/>
          <p:nvPr/>
        </p:nvSpPr>
        <p:spPr>
          <a:xfrm>
            <a:off x="127000" y="8712200"/>
            <a:ext cx="51689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Bab I - Pendahuluan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549900" y="8712200"/>
            <a:ext cx="51689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Bab II - Pembahasan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10845800" y="8712200"/>
            <a:ext cx="51562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Bab III - Penutup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14986000" y="50800"/>
            <a:ext cx="762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200" dirty="0">
                <a:solidFill>
                  <a:srgbClr val="6B7B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07</a:t>
            </a:r>
            <a:endParaRPr lang="en-US" sz="12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444500"/>
            <a:ext cx="8890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800" b="1" dirty="0">
                <a:solidFill>
                  <a:srgbClr val="1E3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Preprocessing Data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62000" y="1041400"/>
            <a:ext cx="762000" cy="50800"/>
          </a:xfrm>
          <a:prstGeom prst="rect">
            <a:avLst/>
          </a:prstGeom>
          <a:solidFill>
            <a:srgbClr val="E891A0"/>
          </a:solidFill>
          <a:ln/>
        </p:spPr>
      </p:sp>
      <p:sp>
        <p:nvSpPr>
          <p:cNvPr id="4" name="Shape 2"/>
          <p:cNvSpPr/>
          <p:nvPr/>
        </p:nvSpPr>
        <p:spPr>
          <a:xfrm>
            <a:off x="762000" y="1333500"/>
            <a:ext cx="4699000" cy="3302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blurRad="127000" dist="25400" dir="5400000" algn="bl" rotWithShape="0">
              <a:srgbClr val="000000">
                <a:alpha val="3922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79500" y="15875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86385" y="1072"/>
                </a:moveTo>
                <a:cubicBezTo>
                  <a:pt x="272891" y="-3304"/>
                  <a:pt x="258842" y="5536"/>
                  <a:pt x="254953" y="20717"/>
                </a:cubicBezTo>
                <a:lnTo>
                  <a:pt x="153353" y="420767"/>
                </a:lnTo>
                <a:cubicBezTo>
                  <a:pt x="149463" y="435947"/>
                  <a:pt x="157321" y="451753"/>
                  <a:pt x="170815" y="456128"/>
                </a:cubicBezTo>
                <a:cubicBezTo>
                  <a:pt x="184309" y="460504"/>
                  <a:pt x="198358" y="451664"/>
                  <a:pt x="202248" y="436483"/>
                </a:cubicBezTo>
                <a:lnTo>
                  <a:pt x="303848" y="36433"/>
                </a:lnTo>
                <a:cubicBezTo>
                  <a:pt x="307737" y="21253"/>
                  <a:pt x="299879" y="5447"/>
                  <a:pt x="286385" y="1072"/>
                </a:cubicBezTo>
                <a:close/>
                <a:moveTo>
                  <a:pt x="337661" y="122605"/>
                </a:moveTo>
                <a:cubicBezTo>
                  <a:pt x="327739" y="133767"/>
                  <a:pt x="327739" y="151894"/>
                  <a:pt x="337661" y="163056"/>
                </a:cubicBezTo>
                <a:lnTo>
                  <a:pt x="395922" y="228600"/>
                </a:lnTo>
                <a:lnTo>
                  <a:pt x="337661" y="294144"/>
                </a:lnTo>
                <a:cubicBezTo>
                  <a:pt x="327739" y="305306"/>
                  <a:pt x="327739" y="323433"/>
                  <a:pt x="337661" y="334595"/>
                </a:cubicBezTo>
                <a:cubicBezTo>
                  <a:pt x="347583" y="345758"/>
                  <a:pt x="363696" y="345758"/>
                  <a:pt x="373618" y="334595"/>
                </a:cubicBezTo>
                <a:lnTo>
                  <a:pt x="449818" y="248870"/>
                </a:lnTo>
                <a:cubicBezTo>
                  <a:pt x="459740" y="237708"/>
                  <a:pt x="459740" y="219581"/>
                  <a:pt x="449818" y="208419"/>
                </a:cubicBezTo>
                <a:lnTo>
                  <a:pt x="373618" y="122694"/>
                </a:lnTo>
                <a:cubicBezTo>
                  <a:pt x="363696" y="111532"/>
                  <a:pt x="347583" y="111532"/>
                  <a:pt x="337661" y="122694"/>
                </a:cubicBezTo>
                <a:close/>
                <a:moveTo>
                  <a:pt x="119618" y="122605"/>
                </a:moveTo>
                <a:cubicBezTo>
                  <a:pt x="109696" y="111442"/>
                  <a:pt x="93583" y="111442"/>
                  <a:pt x="83661" y="122605"/>
                </a:cubicBezTo>
                <a:lnTo>
                  <a:pt x="7461" y="208330"/>
                </a:lnTo>
                <a:cubicBezTo>
                  <a:pt x="-2461" y="219492"/>
                  <a:pt x="-2461" y="237619"/>
                  <a:pt x="7461" y="248781"/>
                </a:cubicBezTo>
                <a:lnTo>
                  <a:pt x="83661" y="334506"/>
                </a:lnTo>
                <a:cubicBezTo>
                  <a:pt x="93583" y="345668"/>
                  <a:pt x="109696" y="345668"/>
                  <a:pt x="119618" y="334506"/>
                </a:cubicBezTo>
                <a:cubicBezTo>
                  <a:pt x="129540" y="323344"/>
                  <a:pt x="129540" y="305217"/>
                  <a:pt x="119618" y="294055"/>
                </a:cubicBezTo>
                <a:lnTo>
                  <a:pt x="61357" y="228600"/>
                </a:lnTo>
                <a:lnTo>
                  <a:pt x="119539" y="163056"/>
                </a:lnTo>
                <a:cubicBezTo>
                  <a:pt x="129461" y="151894"/>
                  <a:pt x="129461" y="133767"/>
                  <a:pt x="119539" y="122605"/>
                </a:cubicBezTo>
                <a:close/>
              </a:path>
            </a:pathLst>
          </a:custGeom>
          <a:solidFill>
            <a:srgbClr val="1E3A5F"/>
          </a:solidFill>
          <a:ln/>
        </p:spPr>
      </p:sp>
      <p:sp>
        <p:nvSpPr>
          <p:cNvPr id="6" name="Text 4"/>
          <p:cNvSpPr/>
          <p:nvPr/>
        </p:nvSpPr>
        <p:spPr>
          <a:xfrm>
            <a:off x="1651000" y="1587500"/>
            <a:ext cx="3429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1E3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Import Library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79500" y="2222500"/>
            <a:ext cx="4064000" cy="215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500" b="1" dirty="0">
                <a:solidFill>
                  <a:srgbClr val="1A2B3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Pandas</a:t>
            </a:r>
            <a:r>
              <a:rPr lang="en-US" sz="1500" dirty="0">
                <a:solidFill>
                  <a:srgbClr val="1A2B3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- Manipulasi DataFrame</a:t>
            </a:r>
            <a:endParaRPr lang="en-US" sz="1500" dirty="0"/>
          </a:p>
          <a:p>
            <a:pPr algn="l">
              <a:lnSpc>
                <a:spcPct val="150000"/>
              </a:lnSpc>
              <a:spcBef>
                <a:spcPts val="400"/>
              </a:spcBef>
            </a:pPr>
            <a:r>
              <a:rPr lang="en-US" sz="1500" b="1" dirty="0">
                <a:solidFill>
                  <a:srgbClr val="1A2B3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NumPy</a:t>
            </a:r>
            <a:r>
              <a:rPr lang="en-US" sz="1500" dirty="0">
                <a:solidFill>
                  <a:srgbClr val="1A2B3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- Komputasi numerik</a:t>
            </a:r>
            <a:endParaRPr lang="en-US" sz="1500" dirty="0"/>
          </a:p>
          <a:p>
            <a:pPr algn="l">
              <a:lnSpc>
                <a:spcPct val="150000"/>
              </a:lnSpc>
              <a:spcBef>
                <a:spcPts val="400"/>
              </a:spcBef>
            </a:pPr>
            <a:r>
              <a:rPr lang="en-US" sz="1500" b="1" dirty="0">
                <a:solidFill>
                  <a:srgbClr val="1A2B3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Matplotlib</a:t>
            </a:r>
            <a:r>
              <a:rPr lang="en-US" sz="1500" dirty="0">
                <a:solidFill>
                  <a:srgbClr val="1A2B3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- Visualisasi grafik</a:t>
            </a:r>
            <a:endParaRPr lang="en-US" sz="1500" dirty="0"/>
          </a:p>
          <a:p>
            <a:pPr algn="l">
              <a:lnSpc>
                <a:spcPct val="150000"/>
              </a:lnSpc>
              <a:spcBef>
                <a:spcPts val="400"/>
              </a:spcBef>
            </a:pPr>
            <a:r>
              <a:rPr lang="en-US" sz="1500" b="1" dirty="0">
                <a:solidFill>
                  <a:srgbClr val="1A2B3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Seaborn</a:t>
            </a:r>
            <a:r>
              <a:rPr lang="en-US" sz="1500" dirty="0">
                <a:solidFill>
                  <a:srgbClr val="1A2B3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- Visualisasi statistik</a:t>
            </a:r>
            <a:endParaRPr lang="en-US" sz="1500" dirty="0"/>
          </a:p>
          <a:p>
            <a:pPr algn="l">
              <a:lnSpc>
                <a:spcPct val="150000"/>
              </a:lnSpc>
              <a:spcBef>
                <a:spcPts val="400"/>
              </a:spcBef>
            </a:pPr>
            <a:r>
              <a:rPr lang="en-US" sz="1500" dirty="0">
                <a:solidFill>
                  <a:srgbClr val="1A2B3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Tema: whitegrid | Figsize: 8x5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778500" y="1333500"/>
            <a:ext cx="4699000" cy="3302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blurRad="127000" dist="25400" dir="5400000" algn="bl" rotWithShape="0">
              <a:srgbClr val="000000">
                <a:alpha val="3922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096000" y="15875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457200" y="183773"/>
                </a:moveTo>
                <a:cubicBezTo>
                  <a:pt x="442096" y="192524"/>
                  <a:pt x="424747" y="199579"/>
                  <a:pt x="406683" y="205204"/>
                </a:cubicBezTo>
                <a:cubicBezTo>
                  <a:pt x="358718" y="220206"/>
                  <a:pt x="295751" y="228600"/>
                  <a:pt x="228600" y="228600"/>
                </a:cubicBezTo>
                <a:cubicBezTo>
                  <a:pt x="161449" y="228600"/>
                  <a:pt x="98380" y="220117"/>
                  <a:pt x="50517" y="205204"/>
                </a:cubicBezTo>
                <a:cubicBezTo>
                  <a:pt x="32555" y="199579"/>
                  <a:pt x="15104" y="192524"/>
                  <a:pt x="0" y="183773"/>
                </a:cubicBezTo>
                <a:lnTo>
                  <a:pt x="0" y="257175"/>
                </a:lnTo>
                <a:cubicBezTo>
                  <a:pt x="0" y="296644"/>
                  <a:pt x="102360" y="328613"/>
                  <a:pt x="228600" y="328613"/>
                </a:cubicBezTo>
                <a:cubicBezTo>
                  <a:pt x="354840" y="328613"/>
                  <a:pt x="457200" y="296644"/>
                  <a:pt x="457200" y="257175"/>
                </a:cubicBezTo>
                <a:lnTo>
                  <a:pt x="457200" y="183773"/>
                </a:lnTo>
                <a:close/>
                <a:moveTo>
                  <a:pt x="457200" y="114300"/>
                </a:moveTo>
                <a:lnTo>
                  <a:pt x="457200" y="71438"/>
                </a:lnTo>
                <a:cubicBezTo>
                  <a:pt x="457200" y="31968"/>
                  <a:pt x="354840" y="0"/>
                  <a:pt x="228600" y="0"/>
                </a:cubicBezTo>
                <a:cubicBezTo>
                  <a:pt x="102360" y="0"/>
                  <a:pt x="0" y="31968"/>
                  <a:pt x="0" y="71438"/>
                </a:cubicBezTo>
                <a:lnTo>
                  <a:pt x="0" y="114300"/>
                </a:lnTo>
                <a:cubicBezTo>
                  <a:pt x="0" y="153769"/>
                  <a:pt x="102360" y="185738"/>
                  <a:pt x="228600" y="185738"/>
                </a:cubicBezTo>
                <a:cubicBezTo>
                  <a:pt x="354840" y="185738"/>
                  <a:pt x="457200" y="153769"/>
                  <a:pt x="457200" y="114300"/>
                </a:cubicBezTo>
                <a:close/>
                <a:moveTo>
                  <a:pt x="406683" y="348079"/>
                </a:moveTo>
                <a:cubicBezTo>
                  <a:pt x="358820" y="362992"/>
                  <a:pt x="295853" y="371475"/>
                  <a:pt x="228600" y="371475"/>
                </a:cubicBezTo>
                <a:cubicBezTo>
                  <a:pt x="161347" y="371475"/>
                  <a:pt x="98380" y="362992"/>
                  <a:pt x="50517" y="348079"/>
                </a:cubicBezTo>
                <a:cubicBezTo>
                  <a:pt x="32555" y="342454"/>
                  <a:pt x="15104" y="335399"/>
                  <a:pt x="0" y="326648"/>
                </a:cubicBezTo>
                <a:lnTo>
                  <a:pt x="0" y="385763"/>
                </a:lnTo>
                <a:cubicBezTo>
                  <a:pt x="0" y="425232"/>
                  <a:pt x="102360" y="457200"/>
                  <a:pt x="228600" y="457200"/>
                </a:cubicBezTo>
                <a:cubicBezTo>
                  <a:pt x="354840" y="457200"/>
                  <a:pt x="457200" y="425232"/>
                  <a:pt x="457200" y="385763"/>
                </a:cubicBezTo>
                <a:lnTo>
                  <a:pt x="457200" y="326648"/>
                </a:lnTo>
                <a:cubicBezTo>
                  <a:pt x="442096" y="335399"/>
                  <a:pt x="424747" y="342454"/>
                  <a:pt x="406683" y="348079"/>
                </a:cubicBezTo>
                <a:close/>
              </a:path>
            </a:pathLst>
          </a:custGeom>
          <a:solidFill>
            <a:srgbClr val="E891A0"/>
          </a:solidFill>
          <a:ln/>
        </p:spPr>
      </p:sp>
      <p:sp>
        <p:nvSpPr>
          <p:cNvPr id="10" name="Text 8"/>
          <p:cNvSpPr/>
          <p:nvPr/>
        </p:nvSpPr>
        <p:spPr>
          <a:xfrm>
            <a:off x="6667500" y="1587500"/>
            <a:ext cx="3429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1E3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Load Dataset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096000" y="2222500"/>
            <a:ext cx="4064000" cy="215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600" dirty="0">
                <a:solidFill>
                  <a:srgbClr val="1A2B3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Format: </a:t>
            </a:r>
            <a:r>
              <a:rPr lang="en-US" sz="1600" b="1" dirty="0">
                <a:solidFill>
                  <a:srgbClr val="1A2B3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CSV</a:t>
            </a:r>
            <a:endParaRPr lang="en-US" sz="1600" dirty="0"/>
          </a:p>
          <a:p>
            <a:pPr algn="l">
              <a:lnSpc>
                <a:spcPct val="160000"/>
              </a:lnSpc>
              <a:spcBef>
                <a:spcPts val="600"/>
              </a:spcBef>
            </a:pPr>
            <a:r>
              <a:rPr lang="en-US" sz="1600" dirty="0">
                <a:solidFill>
                  <a:srgbClr val="1A2B3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Fungsi: </a:t>
            </a:r>
            <a:r>
              <a:rPr lang="en-US" sz="1600" b="1" dirty="0">
                <a:solidFill>
                  <a:srgbClr val="1A2B3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pd.read_csv()</a:t>
            </a:r>
            <a:endParaRPr lang="en-US" sz="1600" dirty="0"/>
          </a:p>
          <a:p>
            <a:pPr algn="l">
              <a:lnSpc>
                <a:spcPct val="160000"/>
              </a:lnSpc>
              <a:spcBef>
                <a:spcPts val="600"/>
              </a:spcBef>
            </a:pPr>
            <a:r>
              <a:rPr lang="en-US" sz="1600" dirty="0">
                <a:solidFill>
                  <a:srgbClr val="1A2B3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Output: DataFrame</a:t>
            </a:r>
            <a:endParaRPr lang="en-US" sz="1600" dirty="0"/>
          </a:p>
          <a:p>
            <a:pPr algn="l">
              <a:lnSpc>
                <a:spcPct val="160000"/>
              </a:lnSpc>
              <a:spcBef>
                <a:spcPts val="600"/>
              </a:spcBef>
            </a:pPr>
            <a:r>
              <a:rPr lang="en-US" sz="1600" dirty="0">
                <a:solidFill>
                  <a:srgbClr val="1A2B3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Verifikasi: </a:t>
            </a:r>
            <a:r>
              <a:rPr lang="en-US" sz="1600" b="1" dirty="0">
                <a:solidFill>
                  <a:srgbClr val="1A2B3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head()</a:t>
            </a:r>
            <a:r>
              <a:rPr lang="en-US" sz="1600" dirty="0">
                <a:solidFill>
                  <a:srgbClr val="1A2B3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5 baris pertama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10795000" y="1333500"/>
            <a:ext cx="4699000" cy="3302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blurRad="127000" dist="25400" dir="5400000" algn="bl" rotWithShape="0">
              <a:srgbClr val="000000">
                <a:alpha val="3922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11112500" y="15875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457200"/>
                </a:moveTo>
                <a:cubicBezTo>
                  <a:pt x="354768" y="457200"/>
                  <a:pt x="457200" y="354768"/>
                  <a:pt x="457200" y="228600"/>
                </a:cubicBezTo>
                <a:cubicBezTo>
                  <a:pt x="457200" y="102432"/>
                  <a:pt x="354768" y="0"/>
                  <a:pt x="228600" y="0"/>
                </a:cubicBezTo>
                <a:cubicBezTo>
                  <a:pt x="102432" y="0"/>
                  <a:pt x="0" y="102432"/>
                  <a:pt x="0" y="228600"/>
                </a:cubicBezTo>
                <a:cubicBezTo>
                  <a:pt x="0" y="354768"/>
                  <a:pt x="102432" y="457200"/>
                  <a:pt x="228600" y="457200"/>
                </a:cubicBezTo>
                <a:close/>
                <a:moveTo>
                  <a:pt x="303967" y="189934"/>
                </a:moveTo>
                <a:lnTo>
                  <a:pt x="232529" y="304234"/>
                </a:lnTo>
                <a:cubicBezTo>
                  <a:pt x="228779" y="310217"/>
                  <a:pt x="222349" y="313968"/>
                  <a:pt x="215295" y="314325"/>
                </a:cubicBezTo>
                <a:cubicBezTo>
                  <a:pt x="208240" y="314682"/>
                  <a:pt x="201454" y="311468"/>
                  <a:pt x="197257" y="305753"/>
                </a:cubicBezTo>
                <a:lnTo>
                  <a:pt x="154394" y="248602"/>
                </a:lnTo>
                <a:cubicBezTo>
                  <a:pt x="147251" y="239137"/>
                  <a:pt x="149215" y="225743"/>
                  <a:pt x="158681" y="218599"/>
                </a:cubicBezTo>
                <a:cubicBezTo>
                  <a:pt x="168146" y="211455"/>
                  <a:pt x="181541" y="213420"/>
                  <a:pt x="188684" y="222885"/>
                </a:cubicBezTo>
                <a:lnTo>
                  <a:pt x="212794" y="255032"/>
                </a:lnTo>
                <a:lnTo>
                  <a:pt x="267623" y="167253"/>
                </a:lnTo>
                <a:cubicBezTo>
                  <a:pt x="273874" y="157252"/>
                  <a:pt x="287089" y="154126"/>
                  <a:pt x="297180" y="160466"/>
                </a:cubicBezTo>
                <a:cubicBezTo>
                  <a:pt x="307271" y="166807"/>
                  <a:pt x="310307" y="179933"/>
                  <a:pt x="303967" y="190024"/>
                </a:cubicBezTo>
                <a:close/>
              </a:path>
            </a:pathLst>
          </a:custGeom>
          <a:solidFill>
            <a:srgbClr val="D4627A"/>
          </a:solidFill>
          <a:ln/>
        </p:spPr>
      </p:sp>
      <p:sp>
        <p:nvSpPr>
          <p:cNvPr id="14" name="Text 12"/>
          <p:cNvSpPr/>
          <p:nvPr/>
        </p:nvSpPr>
        <p:spPr>
          <a:xfrm>
            <a:off x="11684000" y="1587500"/>
            <a:ext cx="3429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1E3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 Checking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1112500" y="2222500"/>
            <a:ext cx="4064000" cy="215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600" dirty="0">
                <a:solidFill>
                  <a:srgbClr val="1A2B3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Shape: </a:t>
            </a:r>
            <a:r>
              <a:rPr lang="en-US" sz="1600" b="1" dirty="0">
                <a:solidFill>
                  <a:srgbClr val="1A2B3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10.000 x 14</a:t>
            </a:r>
            <a:endParaRPr lang="en-US" sz="1600" dirty="0"/>
          </a:p>
          <a:p>
            <a:pPr algn="l">
              <a:lnSpc>
                <a:spcPct val="160000"/>
              </a:lnSpc>
              <a:spcBef>
                <a:spcPts val="600"/>
              </a:spcBef>
            </a:pPr>
            <a:r>
              <a:rPr lang="en-US" sz="1600" dirty="0">
                <a:solidFill>
                  <a:srgbClr val="1A2B3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Missing Value: </a:t>
            </a:r>
            <a:r>
              <a:rPr lang="en-US" sz="1600" b="1" dirty="0">
                <a:solidFill>
                  <a:srgbClr val="D462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0%</a:t>
            </a:r>
            <a:endParaRPr lang="en-US" sz="1600" dirty="0"/>
          </a:p>
          <a:p>
            <a:pPr algn="l">
              <a:lnSpc>
                <a:spcPct val="160000"/>
              </a:lnSpc>
              <a:spcBef>
                <a:spcPts val="600"/>
              </a:spcBef>
            </a:pPr>
            <a:r>
              <a:rPr lang="en-US" sz="1600" dirty="0">
                <a:solidFill>
                  <a:srgbClr val="1A2B3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 Duplikat: </a:t>
            </a:r>
            <a:r>
              <a:rPr lang="en-US" sz="1600" b="1" dirty="0">
                <a:solidFill>
                  <a:srgbClr val="D462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0%</a:t>
            </a:r>
            <a:endParaRPr lang="en-US" sz="1600" dirty="0"/>
          </a:p>
          <a:p>
            <a:pPr algn="l">
              <a:lnSpc>
                <a:spcPct val="160000"/>
              </a:lnSpc>
              <a:spcBef>
                <a:spcPts val="600"/>
              </a:spcBef>
            </a:pPr>
            <a:r>
              <a:rPr lang="en-US" sz="1600" dirty="0">
                <a:solidFill>
                  <a:srgbClr val="1A2B3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Tipe: 9 int, 2 float, 3 string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762000" y="4953000"/>
            <a:ext cx="14732000" cy="3175000"/>
          </a:xfrm>
          <a:prstGeom prst="roundRect">
            <a:avLst>
              <a:gd name="adj" fmla="val 4000"/>
            </a:avLst>
          </a:prstGeom>
          <a:solidFill>
            <a:srgbClr val="1E3A5F"/>
          </a:solidFill>
          <a:ln/>
          <a:effectLst>
            <a:outerShdw blurRad="127000" dist="50800" dir="5400000" algn="bl" rotWithShape="0">
              <a:srgbClr val="000000">
                <a:alpha val="8235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143000" y="5207000"/>
            <a:ext cx="508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Hasil Pemeriksaan Dataset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143000" y="5842000"/>
            <a:ext cx="3175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4800" b="1" dirty="0">
                <a:solidFill>
                  <a:srgbClr val="E891A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10.000</a:t>
            </a:r>
            <a:endParaRPr lang="en-US" sz="4800" dirty="0"/>
          </a:p>
        </p:txBody>
      </p:sp>
      <p:sp>
        <p:nvSpPr>
          <p:cNvPr id="19" name="Text 17"/>
          <p:cNvSpPr/>
          <p:nvPr/>
        </p:nvSpPr>
        <p:spPr>
          <a:xfrm>
            <a:off x="1143000" y="6667500"/>
            <a:ext cx="3175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B0C4D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Total Observasi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699000" y="5842000"/>
            <a:ext cx="3175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4800" b="1" dirty="0">
                <a:solidFill>
                  <a:srgbClr val="E891A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14</a:t>
            </a:r>
            <a:endParaRPr lang="en-US" sz="4800" dirty="0"/>
          </a:p>
        </p:txBody>
      </p:sp>
      <p:sp>
        <p:nvSpPr>
          <p:cNvPr id="21" name="Text 19"/>
          <p:cNvSpPr/>
          <p:nvPr/>
        </p:nvSpPr>
        <p:spPr>
          <a:xfrm>
            <a:off x="4699000" y="6667500"/>
            <a:ext cx="3175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B0C4D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Jumlah Variabel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255000" y="5842000"/>
            <a:ext cx="3175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4800" b="1" dirty="0">
                <a:solidFill>
                  <a:srgbClr val="E891A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0%</a:t>
            </a:r>
            <a:endParaRPr lang="en-US" sz="4800" dirty="0"/>
          </a:p>
        </p:txBody>
      </p:sp>
      <p:sp>
        <p:nvSpPr>
          <p:cNvPr id="23" name="Text 21"/>
          <p:cNvSpPr/>
          <p:nvPr/>
        </p:nvSpPr>
        <p:spPr>
          <a:xfrm>
            <a:off x="8255000" y="6667500"/>
            <a:ext cx="3175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B0C4D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Missing Value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1811000" y="5842000"/>
            <a:ext cx="3175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4800" b="1" dirty="0">
                <a:solidFill>
                  <a:srgbClr val="E891A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0%</a:t>
            </a:r>
            <a:endParaRPr lang="en-US" sz="4800" dirty="0"/>
          </a:p>
        </p:txBody>
      </p:sp>
      <p:sp>
        <p:nvSpPr>
          <p:cNvPr id="25" name="Text 23"/>
          <p:cNvSpPr/>
          <p:nvPr/>
        </p:nvSpPr>
        <p:spPr>
          <a:xfrm>
            <a:off x="11811000" y="6667500"/>
            <a:ext cx="3175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B0C4D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 Duplikat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0" y="8636000"/>
            <a:ext cx="16256000" cy="5080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27" name="Shape 25"/>
          <p:cNvSpPr/>
          <p:nvPr/>
        </p:nvSpPr>
        <p:spPr>
          <a:xfrm>
            <a:off x="5422900" y="8636000"/>
            <a:ext cx="5410200" cy="508000"/>
          </a:xfrm>
          <a:prstGeom prst="rect">
            <a:avLst/>
          </a:prstGeom>
          <a:solidFill>
            <a:srgbClr val="FFFFFF">
              <a:alpha val="14510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127000" y="8712200"/>
            <a:ext cx="51689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Bab I - Pendahuluan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549900" y="8712200"/>
            <a:ext cx="51689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Bab II - Pembahasan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10845800" y="8712200"/>
            <a:ext cx="51562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Bab III - Penutup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14986000" y="50800"/>
            <a:ext cx="762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200" dirty="0">
                <a:solidFill>
                  <a:srgbClr val="6B7B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08</a:t>
            </a:r>
            <a:endParaRPr lang="en-US" sz="12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2257BAC-834D-1C58-C63B-4114AB45E5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FD6F67A4-EF6F-4EF9-D3EB-865C4F7D1129}"/>
              </a:ext>
            </a:extLst>
          </p:cNvPr>
          <p:cNvSpPr/>
          <p:nvPr/>
        </p:nvSpPr>
        <p:spPr>
          <a:xfrm>
            <a:off x="762000" y="444500"/>
            <a:ext cx="8890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1E3A5F"/>
                </a:solidFill>
                <a:effectLst/>
                <a:uLnTx/>
                <a:uFillTx/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Statistik Deskriptif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6C7AE0B3-FED3-E950-31EF-1DF56150ADA2}"/>
              </a:ext>
            </a:extLst>
          </p:cNvPr>
          <p:cNvSpPr/>
          <p:nvPr/>
        </p:nvSpPr>
        <p:spPr>
          <a:xfrm>
            <a:off x="762000" y="1041400"/>
            <a:ext cx="762000" cy="50800"/>
          </a:xfrm>
          <a:prstGeom prst="rect">
            <a:avLst/>
          </a:prstGeom>
          <a:solidFill>
            <a:srgbClr val="E891A0"/>
          </a:solidFill>
          <a:ln/>
        </p:spPr>
      </p:sp>
      <p:sp>
        <p:nvSpPr>
          <p:cNvPr id="28" name="Shape 26">
            <a:extLst>
              <a:ext uri="{FF2B5EF4-FFF2-40B4-BE49-F238E27FC236}">
                <a16:creationId xmlns:a16="http://schemas.microsoft.com/office/drawing/2014/main" id="{5533941C-CFF4-01C7-0299-F4B7BD57A197}"/>
              </a:ext>
            </a:extLst>
          </p:cNvPr>
          <p:cNvSpPr/>
          <p:nvPr/>
        </p:nvSpPr>
        <p:spPr>
          <a:xfrm>
            <a:off x="0" y="8636000"/>
            <a:ext cx="16256000" cy="5080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29" name="Shape 27">
            <a:extLst>
              <a:ext uri="{FF2B5EF4-FFF2-40B4-BE49-F238E27FC236}">
                <a16:creationId xmlns:a16="http://schemas.microsoft.com/office/drawing/2014/main" id="{585BC88D-7FD4-49B9-1E81-C8BB23961B57}"/>
              </a:ext>
            </a:extLst>
          </p:cNvPr>
          <p:cNvSpPr/>
          <p:nvPr/>
        </p:nvSpPr>
        <p:spPr>
          <a:xfrm>
            <a:off x="5422900" y="8636000"/>
            <a:ext cx="5410200" cy="508000"/>
          </a:xfrm>
          <a:prstGeom prst="rect">
            <a:avLst/>
          </a:prstGeom>
          <a:solidFill>
            <a:srgbClr val="FFFFFF">
              <a:alpha val="14510"/>
            </a:srgbClr>
          </a:solidFill>
          <a:ln/>
        </p:spPr>
      </p:sp>
      <p:sp>
        <p:nvSpPr>
          <p:cNvPr id="30" name="Text 28">
            <a:extLst>
              <a:ext uri="{FF2B5EF4-FFF2-40B4-BE49-F238E27FC236}">
                <a16:creationId xmlns:a16="http://schemas.microsoft.com/office/drawing/2014/main" id="{E06D936F-5280-A934-D6F6-F44931CEC81F}"/>
              </a:ext>
            </a:extLst>
          </p:cNvPr>
          <p:cNvSpPr/>
          <p:nvPr/>
        </p:nvSpPr>
        <p:spPr>
          <a:xfrm>
            <a:off x="127000" y="8712200"/>
            <a:ext cx="51689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Bab I - Pendahuluan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Text 29">
            <a:extLst>
              <a:ext uri="{FF2B5EF4-FFF2-40B4-BE49-F238E27FC236}">
                <a16:creationId xmlns:a16="http://schemas.microsoft.com/office/drawing/2014/main" id="{B72FE126-7348-6C38-1AB1-01B7E98B33D0}"/>
              </a:ext>
            </a:extLst>
          </p:cNvPr>
          <p:cNvSpPr/>
          <p:nvPr/>
        </p:nvSpPr>
        <p:spPr>
          <a:xfrm>
            <a:off x="5549900" y="8712200"/>
            <a:ext cx="51689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Bab II - Pembahasan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" name="Text 30">
            <a:extLst>
              <a:ext uri="{FF2B5EF4-FFF2-40B4-BE49-F238E27FC236}">
                <a16:creationId xmlns:a16="http://schemas.microsoft.com/office/drawing/2014/main" id="{7799A342-1ED8-5A96-FF4D-73EED1A83CA4}"/>
              </a:ext>
            </a:extLst>
          </p:cNvPr>
          <p:cNvSpPr/>
          <p:nvPr/>
        </p:nvSpPr>
        <p:spPr>
          <a:xfrm>
            <a:off x="10845800" y="8712200"/>
            <a:ext cx="51562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Bab III - Penutup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" name="Text 31">
            <a:extLst>
              <a:ext uri="{FF2B5EF4-FFF2-40B4-BE49-F238E27FC236}">
                <a16:creationId xmlns:a16="http://schemas.microsoft.com/office/drawing/2014/main" id="{4CFC6E78-7A86-7E18-CB7F-7253938545C0}"/>
              </a:ext>
            </a:extLst>
          </p:cNvPr>
          <p:cNvSpPr/>
          <p:nvPr/>
        </p:nvSpPr>
        <p:spPr>
          <a:xfrm>
            <a:off x="14986000" y="50800"/>
            <a:ext cx="762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6B7B8D"/>
                </a:solidFill>
                <a:effectLst/>
                <a:uLnTx/>
                <a:uFillTx/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09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40" name="Tabel 39">
            <a:extLst>
              <a:ext uri="{FF2B5EF4-FFF2-40B4-BE49-F238E27FC236}">
                <a16:creationId xmlns:a16="http://schemas.microsoft.com/office/drawing/2014/main" id="{E9B55151-E409-10F0-8CD0-32ADD87FA8F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11279003"/>
              </p:ext>
            </p:extLst>
          </p:nvPr>
        </p:nvGraphicFramePr>
        <p:xfrm>
          <a:off x="816923" y="1434148"/>
          <a:ext cx="14339257" cy="5802312"/>
        </p:xfrm>
        <a:graphic>
          <a:graphicData uri="http://schemas.openxmlformats.org/drawingml/2006/table">
            <a:tbl>
              <a:tblPr firstRow="1" firstCol="1" bandRow="1"/>
              <a:tblGrid>
                <a:gridCol w="1808662">
                  <a:extLst>
                    <a:ext uri="{9D8B030D-6E8A-4147-A177-3AD203B41FA5}">
                      <a16:colId xmlns:a16="http://schemas.microsoft.com/office/drawing/2014/main" val="534751912"/>
                    </a:ext>
                  </a:extLst>
                </a:gridCol>
                <a:gridCol w="1112567">
                  <a:extLst>
                    <a:ext uri="{9D8B030D-6E8A-4147-A177-3AD203B41FA5}">
                      <a16:colId xmlns:a16="http://schemas.microsoft.com/office/drawing/2014/main" val="385712762"/>
                    </a:ext>
                  </a:extLst>
                </a:gridCol>
                <a:gridCol w="2077476">
                  <a:extLst>
                    <a:ext uri="{9D8B030D-6E8A-4147-A177-3AD203B41FA5}">
                      <a16:colId xmlns:a16="http://schemas.microsoft.com/office/drawing/2014/main" val="2161796542"/>
                    </a:ext>
                  </a:extLst>
                </a:gridCol>
                <a:gridCol w="1602534">
                  <a:extLst>
                    <a:ext uri="{9D8B030D-6E8A-4147-A177-3AD203B41FA5}">
                      <a16:colId xmlns:a16="http://schemas.microsoft.com/office/drawing/2014/main" val="3394534790"/>
                    </a:ext>
                  </a:extLst>
                </a:gridCol>
                <a:gridCol w="1458510">
                  <a:extLst>
                    <a:ext uri="{9D8B030D-6E8A-4147-A177-3AD203B41FA5}">
                      <a16:colId xmlns:a16="http://schemas.microsoft.com/office/drawing/2014/main" val="3705275769"/>
                    </a:ext>
                  </a:extLst>
                </a:gridCol>
                <a:gridCol w="1444651">
                  <a:extLst>
                    <a:ext uri="{9D8B030D-6E8A-4147-A177-3AD203B41FA5}">
                      <a16:colId xmlns:a16="http://schemas.microsoft.com/office/drawing/2014/main" val="481156095"/>
                    </a:ext>
                  </a:extLst>
                </a:gridCol>
                <a:gridCol w="1676683">
                  <a:extLst>
                    <a:ext uri="{9D8B030D-6E8A-4147-A177-3AD203B41FA5}">
                      <a16:colId xmlns:a16="http://schemas.microsoft.com/office/drawing/2014/main" val="933810299"/>
                    </a:ext>
                  </a:extLst>
                </a:gridCol>
                <a:gridCol w="1747723">
                  <a:extLst>
                    <a:ext uri="{9D8B030D-6E8A-4147-A177-3AD203B41FA5}">
                      <a16:colId xmlns:a16="http://schemas.microsoft.com/office/drawing/2014/main" val="2800474304"/>
                    </a:ext>
                  </a:extLst>
                </a:gridCol>
                <a:gridCol w="1410451">
                  <a:extLst>
                    <a:ext uri="{9D8B030D-6E8A-4147-A177-3AD203B41FA5}">
                      <a16:colId xmlns:a16="http://schemas.microsoft.com/office/drawing/2014/main" val="3817459755"/>
                    </a:ext>
                  </a:extLst>
                </a:gridCol>
              </a:tblGrid>
              <a:tr h="483526">
                <a:tc>
                  <a:txBody>
                    <a:bodyPr/>
                    <a:lstStyle/>
                    <a:p>
                      <a:pPr marL="85725" marR="85725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id-ID" sz="1600" b="1" kern="100" dirty="0">
                          <a:solidFill>
                            <a:srgbClr val="FFFFFF"/>
                          </a:solidFill>
                          <a:effectLst/>
                          <a:latin typeface="Quattrocento Sans" panose="020B0502050000020003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Variabel</a:t>
                      </a:r>
                      <a:endParaRPr lang="id-ID" sz="1600" kern="100" dirty="0">
                        <a:effectLst/>
                        <a:latin typeface="Quattrocento Sans" panose="020B0502050000020003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3439" marR="53439" marT="0" marB="0" anchor="ctr">
                    <a:lnL w="1270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85725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id-ID" sz="1600" b="1" kern="100" dirty="0" err="1">
                          <a:solidFill>
                            <a:srgbClr val="FFFFFF"/>
                          </a:solidFill>
                          <a:effectLst/>
                          <a:latin typeface="Quattrocento Sans" panose="020B0502050000020003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Count</a:t>
                      </a:r>
                      <a:endParaRPr lang="id-ID" sz="1600" kern="100" dirty="0">
                        <a:effectLst/>
                        <a:latin typeface="Quattrocento Sans" panose="020B0502050000020003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3439" marR="53439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85725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id-ID" sz="1600" b="1" kern="100" dirty="0" err="1">
                          <a:solidFill>
                            <a:srgbClr val="FFFFFF"/>
                          </a:solidFill>
                          <a:effectLst/>
                          <a:latin typeface="Quattrocento Sans" panose="020B0502050000020003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Mean</a:t>
                      </a:r>
                      <a:endParaRPr lang="id-ID" sz="1600" kern="100" dirty="0">
                        <a:effectLst/>
                        <a:latin typeface="Quattrocento Sans" panose="020B0502050000020003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3439" marR="53439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85725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id-ID" sz="1600" b="1" kern="100" dirty="0" err="1">
                          <a:solidFill>
                            <a:srgbClr val="FFFFFF"/>
                          </a:solidFill>
                          <a:effectLst/>
                          <a:latin typeface="Quattrocento Sans" panose="020B0502050000020003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Std</a:t>
                      </a:r>
                      <a:endParaRPr lang="id-ID" sz="1600" kern="100" dirty="0">
                        <a:effectLst/>
                        <a:latin typeface="Quattrocento Sans" panose="020B0502050000020003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3439" marR="53439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85725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id-ID" sz="1600" b="1" kern="100" dirty="0">
                          <a:solidFill>
                            <a:srgbClr val="FFFFFF"/>
                          </a:solidFill>
                          <a:effectLst/>
                          <a:latin typeface="Quattrocento Sans" panose="020B0502050000020003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Min</a:t>
                      </a:r>
                      <a:endParaRPr lang="id-ID" sz="1600" kern="100" dirty="0">
                        <a:effectLst/>
                        <a:latin typeface="Quattrocento Sans" panose="020B0502050000020003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3439" marR="53439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85725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id-ID" sz="1600" b="1" kern="100" dirty="0">
                          <a:solidFill>
                            <a:srgbClr val="FFFFFF"/>
                          </a:solidFill>
                          <a:effectLst/>
                          <a:latin typeface="Quattrocento Sans" panose="020B0502050000020003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25%</a:t>
                      </a:r>
                      <a:endParaRPr lang="id-ID" sz="1600" kern="100" dirty="0">
                        <a:effectLst/>
                        <a:latin typeface="Quattrocento Sans" panose="020B0502050000020003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3439" marR="53439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85725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id-ID" sz="1600" b="1" kern="100" dirty="0">
                          <a:solidFill>
                            <a:srgbClr val="FFFFFF"/>
                          </a:solidFill>
                          <a:effectLst/>
                          <a:latin typeface="Quattrocento Sans" panose="020B0502050000020003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50% (Median)</a:t>
                      </a:r>
                      <a:endParaRPr lang="id-ID" sz="1600" kern="100" dirty="0">
                        <a:effectLst/>
                        <a:latin typeface="Quattrocento Sans" panose="020B0502050000020003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3439" marR="53439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85725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id-ID" sz="1600" b="1" kern="100" dirty="0">
                          <a:solidFill>
                            <a:srgbClr val="FFFFFF"/>
                          </a:solidFill>
                          <a:effectLst/>
                          <a:latin typeface="Quattrocento Sans" panose="020B0502050000020003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75%</a:t>
                      </a:r>
                      <a:endParaRPr lang="id-ID" sz="1600" kern="100" dirty="0">
                        <a:effectLst/>
                        <a:latin typeface="Quattrocento Sans" panose="020B0502050000020003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3439" marR="53439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85725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id-ID" sz="1600" b="1" kern="100" dirty="0">
                          <a:solidFill>
                            <a:srgbClr val="FFFFFF"/>
                          </a:solidFill>
                          <a:effectLst/>
                          <a:latin typeface="Quattrocento Sans" panose="020B0502050000020003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Max</a:t>
                      </a:r>
                      <a:endParaRPr lang="id-ID" sz="1600" kern="100" dirty="0">
                        <a:effectLst/>
                        <a:latin typeface="Quattrocento Sans" panose="020B0502050000020003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3439" marR="53439" marT="0" marB="0" anchor="ctr">
                    <a:lnL>
                      <a:noFill/>
                    </a:lnL>
                    <a:lnR w="1270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1742309"/>
                  </a:ext>
                </a:extLst>
              </a:tr>
              <a:tr h="483526">
                <a:tc>
                  <a:txBody>
                    <a:bodyPr/>
                    <a:lstStyle/>
                    <a:p>
                      <a:pPr marL="85725" marR="85725"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id-ID" sz="1600" b="1" kern="100" dirty="0" err="1">
                          <a:solidFill>
                            <a:srgbClr val="000000"/>
                          </a:solidFill>
                          <a:effectLst/>
                          <a:latin typeface="Quattrocento Sans" panose="020B0502050000020003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RowNumber</a:t>
                      </a:r>
                      <a:endParaRPr lang="id-ID" sz="1600" kern="100" dirty="0">
                        <a:effectLst/>
                        <a:latin typeface="Quattrocento Sans" panose="020B0502050000020003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3439" marR="53439" marT="0" marB="0" anchor="ctr">
                    <a:lnL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E4F5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85725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id-ID" sz="1600" kern="100" dirty="0">
                          <a:solidFill>
                            <a:srgbClr val="000000"/>
                          </a:solidFill>
                          <a:effectLst/>
                          <a:latin typeface="Quattrocento Sans" panose="020B0502050000020003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10000.0</a:t>
                      </a:r>
                      <a:endParaRPr lang="id-ID" sz="1600" kern="100" dirty="0">
                        <a:effectLst/>
                        <a:latin typeface="Quattrocento Sans" panose="020B0502050000020003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3439" marR="53439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E4F5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85725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id-ID" sz="1600" kern="100" dirty="0">
                          <a:solidFill>
                            <a:srgbClr val="000000"/>
                          </a:solidFill>
                          <a:effectLst/>
                          <a:latin typeface="Quattrocento Sans" panose="020B0502050000020003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5000.500000</a:t>
                      </a:r>
                      <a:endParaRPr lang="id-ID" sz="1600" kern="100" dirty="0">
                        <a:effectLst/>
                        <a:latin typeface="Quattrocento Sans" panose="020B0502050000020003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3439" marR="53439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E4F5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85725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id-ID" sz="1600" kern="100">
                          <a:solidFill>
                            <a:srgbClr val="000000"/>
                          </a:solidFill>
                          <a:effectLst/>
                          <a:latin typeface="Quattrocento Sans" panose="020B0502050000020003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2886.895680</a:t>
                      </a:r>
                      <a:endParaRPr lang="id-ID" sz="1600" kern="100">
                        <a:effectLst/>
                        <a:latin typeface="Quattrocento Sans" panose="020B0502050000020003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3439" marR="53439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E4F5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85725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id-ID" sz="1600" kern="100">
                          <a:solidFill>
                            <a:srgbClr val="000000"/>
                          </a:solidFill>
                          <a:effectLst/>
                          <a:latin typeface="Quattrocento Sans" panose="020B0502050000020003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1.00</a:t>
                      </a:r>
                      <a:endParaRPr lang="id-ID" sz="1600" kern="100">
                        <a:effectLst/>
                        <a:latin typeface="Quattrocento Sans" panose="020B0502050000020003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3439" marR="53439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E4F5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85725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id-ID" sz="1600" kern="100">
                          <a:solidFill>
                            <a:srgbClr val="000000"/>
                          </a:solidFill>
                          <a:effectLst/>
                          <a:latin typeface="Quattrocento Sans" panose="020B0502050000020003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2500.75</a:t>
                      </a:r>
                      <a:endParaRPr lang="id-ID" sz="1600" kern="100">
                        <a:effectLst/>
                        <a:latin typeface="Quattrocento Sans" panose="020B0502050000020003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3439" marR="53439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E4F5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85725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id-ID" sz="1600" kern="100">
                          <a:solidFill>
                            <a:srgbClr val="000000"/>
                          </a:solidFill>
                          <a:effectLst/>
                          <a:latin typeface="Quattrocento Sans" panose="020B0502050000020003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5000.500000</a:t>
                      </a:r>
                      <a:endParaRPr lang="id-ID" sz="1600" kern="100">
                        <a:effectLst/>
                        <a:latin typeface="Quattrocento Sans" panose="020B0502050000020003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3439" marR="53439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E4F5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85725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id-ID" sz="1600" kern="100">
                          <a:solidFill>
                            <a:srgbClr val="000000"/>
                          </a:solidFill>
                          <a:effectLst/>
                          <a:latin typeface="Quattrocento Sans" panose="020B0502050000020003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7500.25</a:t>
                      </a:r>
                      <a:endParaRPr lang="id-ID" sz="1600" kern="100">
                        <a:effectLst/>
                        <a:latin typeface="Quattrocento Sans" panose="020B0502050000020003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3439" marR="53439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E4F5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85725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id-ID" sz="1600" kern="100">
                          <a:solidFill>
                            <a:srgbClr val="000000"/>
                          </a:solidFill>
                          <a:effectLst/>
                          <a:latin typeface="Quattrocento Sans" panose="020B0502050000020003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10000.00</a:t>
                      </a:r>
                      <a:endParaRPr lang="id-ID" sz="1600" kern="100">
                        <a:effectLst/>
                        <a:latin typeface="Quattrocento Sans" panose="020B0502050000020003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3439" marR="53439" marT="0" marB="0" anchor="ctr">
                    <a:lnL>
                      <a:noFill/>
                    </a:lnL>
                    <a:lnR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E4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47315740"/>
                  </a:ext>
                </a:extLst>
              </a:tr>
              <a:tr h="483526">
                <a:tc>
                  <a:txBody>
                    <a:bodyPr/>
                    <a:lstStyle/>
                    <a:p>
                      <a:pPr marL="85725" marR="85725"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id-ID" sz="1600" b="1" kern="100" dirty="0" err="1">
                          <a:effectLst/>
                          <a:latin typeface="Quattrocento Sans" panose="020B0502050000020003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CustomerId</a:t>
                      </a:r>
                      <a:endParaRPr lang="id-ID" sz="1600" kern="100" dirty="0">
                        <a:effectLst/>
                        <a:latin typeface="Quattrocento Sans" panose="020B0502050000020003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3439" marR="53439" marT="0" marB="0" anchor="ctr">
                    <a:lnL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85725" marR="85725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id-ID" sz="1600" kern="100">
                          <a:effectLst/>
                          <a:latin typeface="Quattrocento Sans" panose="020B0502050000020003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10000.0</a:t>
                      </a:r>
                    </a:p>
                  </a:txBody>
                  <a:tcPr marL="53439" marR="53439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85725" marR="85725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id-ID" sz="1600" kern="100" dirty="0">
                          <a:effectLst/>
                          <a:latin typeface="Quattrocento Sans" panose="020B0502050000020003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15690940.000000</a:t>
                      </a:r>
                    </a:p>
                  </a:txBody>
                  <a:tcPr marL="53439" marR="53439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85725" marR="85725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id-ID" sz="1600" kern="100" dirty="0">
                          <a:effectLst/>
                          <a:latin typeface="Quattrocento Sans" panose="020B0502050000020003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71936.186123</a:t>
                      </a:r>
                    </a:p>
                  </a:txBody>
                  <a:tcPr marL="53439" marR="53439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85725" marR="85725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id-ID" sz="1600" kern="100">
                          <a:effectLst/>
                          <a:latin typeface="Quattrocento Sans" panose="020B0502050000020003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15565701.00</a:t>
                      </a:r>
                    </a:p>
                  </a:txBody>
                  <a:tcPr marL="53439" marR="53439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85725" marR="85725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id-ID" sz="1600" kern="100" dirty="0">
                          <a:effectLst/>
                          <a:latin typeface="Quattrocento Sans" panose="020B0502050000020003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15628528.25</a:t>
                      </a:r>
                    </a:p>
                  </a:txBody>
                  <a:tcPr marL="53439" marR="53439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85725" marR="85725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id-ID" sz="1600" kern="100">
                          <a:effectLst/>
                          <a:latin typeface="Quattrocento Sans" panose="020B0502050000020003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15690740.00</a:t>
                      </a:r>
                    </a:p>
                  </a:txBody>
                  <a:tcPr marL="53439" marR="53439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85725" marR="85725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id-ID" sz="1600" kern="100">
                          <a:effectLst/>
                          <a:latin typeface="Quattrocento Sans" panose="020B0502050000020003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15753220.75</a:t>
                      </a:r>
                    </a:p>
                  </a:txBody>
                  <a:tcPr marL="53439" marR="53439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85725" marR="85725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id-ID" sz="1600" kern="100">
                          <a:effectLst/>
                          <a:latin typeface="Quattrocento Sans" panose="020B0502050000020003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15815690.00</a:t>
                      </a:r>
                    </a:p>
                  </a:txBody>
                  <a:tcPr marL="53439" marR="53439" marT="0" marB="0" anchor="ctr">
                    <a:lnL>
                      <a:noFill/>
                    </a:lnL>
                    <a:lnR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39544030"/>
                  </a:ext>
                </a:extLst>
              </a:tr>
              <a:tr h="483526">
                <a:tc>
                  <a:txBody>
                    <a:bodyPr/>
                    <a:lstStyle/>
                    <a:p>
                      <a:pPr marL="85725" marR="85725"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id-ID" sz="1600" b="1" kern="100" dirty="0" err="1">
                          <a:solidFill>
                            <a:srgbClr val="000000"/>
                          </a:solidFill>
                          <a:effectLst/>
                          <a:latin typeface="Quattrocento Sans" panose="020B0502050000020003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CreditScore</a:t>
                      </a:r>
                      <a:endParaRPr lang="id-ID" sz="1600" kern="100" dirty="0">
                        <a:effectLst/>
                        <a:latin typeface="Quattrocento Sans" panose="020B0502050000020003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3439" marR="53439" marT="0" marB="0" anchor="ctr">
                    <a:lnL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E4F5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85725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id-ID" sz="1600" kern="100">
                          <a:solidFill>
                            <a:srgbClr val="000000"/>
                          </a:solidFill>
                          <a:effectLst/>
                          <a:latin typeface="Quattrocento Sans" panose="020B0502050000020003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10000.0</a:t>
                      </a:r>
                      <a:endParaRPr lang="id-ID" sz="1600" kern="100">
                        <a:effectLst/>
                        <a:latin typeface="Quattrocento Sans" panose="020B0502050000020003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3439" marR="53439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E4F5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85725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id-ID" sz="1600" kern="100">
                          <a:solidFill>
                            <a:srgbClr val="000000"/>
                          </a:solidFill>
                          <a:effectLst/>
                          <a:latin typeface="Quattrocento Sans" panose="020B0502050000020003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650.528800</a:t>
                      </a:r>
                      <a:endParaRPr lang="id-ID" sz="1600" kern="100">
                        <a:effectLst/>
                        <a:latin typeface="Quattrocento Sans" panose="020B0502050000020003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3439" marR="53439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E4F5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85725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id-ID" sz="1600" kern="100" dirty="0">
                          <a:solidFill>
                            <a:srgbClr val="000000"/>
                          </a:solidFill>
                          <a:effectLst/>
                          <a:latin typeface="Quattrocento Sans" panose="020B0502050000020003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96.653299</a:t>
                      </a:r>
                      <a:endParaRPr lang="id-ID" sz="1600" kern="100" dirty="0">
                        <a:effectLst/>
                        <a:latin typeface="Quattrocento Sans" panose="020B0502050000020003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3439" marR="53439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E4F5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85725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id-ID" sz="1600" kern="100" dirty="0">
                          <a:solidFill>
                            <a:srgbClr val="000000"/>
                          </a:solidFill>
                          <a:effectLst/>
                          <a:latin typeface="Quattrocento Sans" panose="020B0502050000020003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350.00</a:t>
                      </a:r>
                      <a:endParaRPr lang="id-ID" sz="1600" kern="100" dirty="0">
                        <a:effectLst/>
                        <a:latin typeface="Quattrocento Sans" panose="020B0502050000020003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3439" marR="53439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E4F5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85725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id-ID" sz="1600" kern="100" dirty="0">
                          <a:solidFill>
                            <a:srgbClr val="000000"/>
                          </a:solidFill>
                          <a:effectLst/>
                          <a:latin typeface="Quattrocento Sans" panose="020B0502050000020003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584.00</a:t>
                      </a:r>
                      <a:endParaRPr lang="id-ID" sz="1600" kern="100" dirty="0">
                        <a:effectLst/>
                        <a:latin typeface="Quattrocento Sans" panose="020B0502050000020003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3439" marR="53439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E4F5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85725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id-ID" sz="1600" kern="100">
                          <a:solidFill>
                            <a:srgbClr val="000000"/>
                          </a:solidFill>
                          <a:effectLst/>
                          <a:latin typeface="Quattrocento Sans" panose="020B0502050000020003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652.00</a:t>
                      </a:r>
                      <a:endParaRPr lang="id-ID" sz="1600" kern="100">
                        <a:effectLst/>
                        <a:latin typeface="Quattrocento Sans" panose="020B0502050000020003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3439" marR="53439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E4F5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85725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id-ID" sz="1600" kern="100">
                          <a:solidFill>
                            <a:srgbClr val="000000"/>
                          </a:solidFill>
                          <a:effectLst/>
                          <a:latin typeface="Quattrocento Sans" panose="020B0502050000020003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718.00</a:t>
                      </a:r>
                      <a:endParaRPr lang="id-ID" sz="1600" kern="100">
                        <a:effectLst/>
                        <a:latin typeface="Quattrocento Sans" panose="020B0502050000020003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3439" marR="53439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E4F5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85725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id-ID" sz="1600" kern="100">
                          <a:solidFill>
                            <a:srgbClr val="000000"/>
                          </a:solidFill>
                          <a:effectLst/>
                          <a:latin typeface="Quattrocento Sans" panose="020B0502050000020003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850.00</a:t>
                      </a:r>
                      <a:endParaRPr lang="id-ID" sz="1600" kern="100">
                        <a:effectLst/>
                        <a:latin typeface="Quattrocento Sans" panose="020B0502050000020003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3439" marR="53439" marT="0" marB="0" anchor="ctr">
                    <a:lnL>
                      <a:noFill/>
                    </a:lnL>
                    <a:lnR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E4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9207362"/>
                  </a:ext>
                </a:extLst>
              </a:tr>
              <a:tr h="483526">
                <a:tc>
                  <a:txBody>
                    <a:bodyPr/>
                    <a:lstStyle/>
                    <a:p>
                      <a:pPr marL="85725" marR="85725"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id-ID" sz="1600" b="1" kern="100" dirty="0">
                          <a:effectLst/>
                          <a:latin typeface="Quattrocento Sans" panose="020B0502050000020003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Age</a:t>
                      </a:r>
                      <a:endParaRPr lang="id-ID" sz="1600" kern="100" dirty="0">
                        <a:effectLst/>
                        <a:latin typeface="Quattrocento Sans" panose="020B0502050000020003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3439" marR="53439" marT="0" marB="0" anchor="ctr">
                    <a:lnL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85725" marR="85725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id-ID" sz="1600" kern="100">
                          <a:effectLst/>
                          <a:latin typeface="Quattrocento Sans" panose="020B0502050000020003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10000.0</a:t>
                      </a:r>
                    </a:p>
                  </a:txBody>
                  <a:tcPr marL="53439" marR="53439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85725" marR="85725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id-ID" sz="1600" kern="100">
                          <a:effectLst/>
                          <a:latin typeface="Quattrocento Sans" panose="020B0502050000020003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38.921800</a:t>
                      </a:r>
                    </a:p>
                  </a:txBody>
                  <a:tcPr marL="53439" marR="53439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85725" marR="85725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id-ID" sz="1600" kern="100">
                          <a:effectLst/>
                          <a:latin typeface="Quattrocento Sans" panose="020B0502050000020003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10.487806</a:t>
                      </a:r>
                    </a:p>
                  </a:txBody>
                  <a:tcPr marL="53439" marR="53439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85725" marR="85725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id-ID" sz="1600" kern="100" dirty="0">
                          <a:effectLst/>
                          <a:latin typeface="Quattrocento Sans" panose="020B0502050000020003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18.00</a:t>
                      </a:r>
                    </a:p>
                  </a:txBody>
                  <a:tcPr marL="53439" marR="53439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85725" marR="85725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id-ID" sz="1600" kern="100" dirty="0">
                          <a:effectLst/>
                          <a:latin typeface="Quattrocento Sans" panose="020B0502050000020003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32.00</a:t>
                      </a:r>
                    </a:p>
                  </a:txBody>
                  <a:tcPr marL="53439" marR="53439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85725" marR="85725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id-ID" sz="1600" kern="100" dirty="0">
                          <a:effectLst/>
                          <a:latin typeface="Quattrocento Sans" panose="020B0502050000020003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37.00</a:t>
                      </a:r>
                    </a:p>
                  </a:txBody>
                  <a:tcPr marL="53439" marR="53439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85725" marR="85725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id-ID" sz="1600" kern="100">
                          <a:effectLst/>
                          <a:latin typeface="Quattrocento Sans" panose="020B0502050000020003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44.00</a:t>
                      </a:r>
                    </a:p>
                  </a:txBody>
                  <a:tcPr marL="53439" marR="53439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85725" marR="85725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id-ID" sz="1600" kern="100">
                          <a:effectLst/>
                          <a:latin typeface="Quattrocento Sans" panose="020B0502050000020003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92.00</a:t>
                      </a:r>
                    </a:p>
                  </a:txBody>
                  <a:tcPr marL="53439" marR="53439" marT="0" marB="0" anchor="ctr">
                    <a:lnL>
                      <a:noFill/>
                    </a:lnL>
                    <a:lnR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1216057"/>
                  </a:ext>
                </a:extLst>
              </a:tr>
              <a:tr h="483526">
                <a:tc>
                  <a:txBody>
                    <a:bodyPr/>
                    <a:lstStyle/>
                    <a:p>
                      <a:pPr marL="85725" marR="85725"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id-ID" sz="1600" b="1" kern="100" dirty="0" err="1">
                          <a:solidFill>
                            <a:srgbClr val="000000"/>
                          </a:solidFill>
                          <a:effectLst/>
                          <a:latin typeface="Quattrocento Sans" panose="020B0502050000020003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Tenure</a:t>
                      </a:r>
                      <a:endParaRPr lang="id-ID" sz="1600" kern="100" dirty="0">
                        <a:effectLst/>
                        <a:latin typeface="Quattrocento Sans" panose="020B0502050000020003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3439" marR="53439" marT="0" marB="0" anchor="ctr">
                    <a:lnL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E4F5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85725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id-ID" sz="1600" kern="100">
                          <a:solidFill>
                            <a:srgbClr val="000000"/>
                          </a:solidFill>
                          <a:effectLst/>
                          <a:latin typeface="Quattrocento Sans" panose="020B0502050000020003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10000.0</a:t>
                      </a:r>
                      <a:endParaRPr lang="id-ID" sz="1600" kern="100">
                        <a:effectLst/>
                        <a:latin typeface="Quattrocento Sans" panose="020B0502050000020003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3439" marR="53439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E4F5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85725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id-ID" sz="1600" kern="100">
                          <a:solidFill>
                            <a:srgbClr val="000000"/>
                          </a:solidFill>
                          <a:effectLst/>
                          <a:latin typeface="Quattrocento Sans" panose="020B0502050000020003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5.012800</a:t>
                      </a:r>
                      <a:endParaRPr lang="id-ID" sz="1600" kern="100">
                        <a:effectLst/>
                        <a:latin typeface="Quattrocento Sans" panose="020B0502050000020003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3439" marR="53439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E4F5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85725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id-ID" sz="1600" kern="100">
                          <a:solidFill>
                            <a:srgbClr val="000000"/>
                          </a:solidFill>
                          <a:effectLst/>
                          <a:latin typeface="Quattrocento Sans" panose="020B0502050000020003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2.892174</a:t>
                      </a:r>
                      <a:endParaRPr lang="id-ID" sz="1600" kern="100">
                        <a:effectLst/>
                        <a:latin typeface="Quattrocento Sans" panose="020B0502050000020003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3439" marR="53439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E4F5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85725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id-ID" sz="1600" kern="100">
                          <a:solidFill>
                            <a:srgbClr val="000000"/>
                          </a:solidFill>
                          <a:effectLst/>
                          <a:latin typeface="Quattrocento Sans" panose="020B0502050000020003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0.00</a:t>
                      </a:r>
                      <a:endParaRPr lang="id-ID" sz="1600" kern="100">
                        <a:effectLst/>
                        <a:latin typeface="Quattrocento Sans" panose="020B0502050000020003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3439" marR="53439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E4F5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85725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id-ID" sz="1600" kern="100" dirty="0">
                          <a:solidFill>
                            <a:srgbClr val="000000"/>
                          </a:solidFill>
                          <a:effectLst/>
                          <a:latin typeface="Quattrocento Sans" panose="020B0502050000020003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3.00</a:t>
                      </a:r>
                      <a:endParaRPr lang="id-ID" sz="1600" kern="100" dirty="0">
                        <a:effectLst/>
                        <a:latin typeface="Quattrocento Sans" panose="020B0502050000020003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3439" marR="53439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E4F5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85725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id-ID" sz="1600" kern="100">
                          <a:solidFill>
                            <a:srgbClr val="000000"/>
                          </a:solidFill>
                          <a:effectLst/>
                          <a:latin typeface="Quattrocento Sans" panose="020B0502050000020003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5.00</a:t>
                      </a:r>
                      <a:endParaRPr lang="id-ID" sz="1600" kern="100">
                        <a:effectLst/>
                        <a:latin typeface="Quattrocento Sans" panose="020B0502050000020003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3439" marR="53439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E4F5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85725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id-ID" sz="1600" kern="100">
                          <a:solidFill>
                            <a:srgbClr val="000000"/>
                          </a:solidFill>
                          <a:effectLst/>
                          <a:latin typeface="Quattrocento Sans" panose="020B0502050000020003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7.00</a:t>
                      </a:r>
                      <a:endParaRPr lang="id-ID" sz="1600" kern="100">
                        <a:effectLst/>
                        <a:latin typeface="Quattrocento Sans" panose="020B0502050000020003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3439" marR="53439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E4F5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85725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id-ID" sz="1600" kern="100">
                          <a:solidFill>
                            <a:srgbClr val="000000"/>
                          </a:solidFill>
                          <a:effectLst/>
                          <a:latin typeface="Quattrocento Sans" panose="020B0502050000020003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10.00</a:t>
                      </a:r>
                      <a:endParaRPr lang="id-ID" sz="1600" kern="100">
                        <a:effectLst/>
                        <a:latin typeface="Quattrocento Sans" panose="020B0502050000020003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3439" marR="53439" marT="0" marB="0" anchor="ctr">
                    <a:lnL>
                      <a:noFill/>
                    </a:lnL>
                    <a:lnR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E4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34561254"/>
                  </a:ext>
                </a:extLst>
              </a:tr>
              <a:tr h="483526">
                <a:tc>
                  <a:txBody>
                    <a:bodyPr/>
                    <a:lstStyle/>
                    <a:p>
                      <a:pPr marL="85725" marR="85725"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id-ID" sz="1600" b="1" kern="100">
                          <a:effectLst/>
                          <a:latin typeface="Quattrocento Sans" panose="020B0502050000020003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Balance</a:t>
                      </a:r>
                      <a:endParaRPr lang="id-ID" sz="1600" kern="100">
                        <a:effectLst/>
                        <a:latin typeface="Quattrocento Sans" panose="020B0502050000020003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3439" marR="53439" marT="0" marB="0" anchor="ctr">
                    <a:lnL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85725" marR="85725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id-ID" sz="1600" kern="100" dirty="0">
                          <a:effectLst/>
                          <a:latin typeface="Quattrocento Sans" panose="020B0502050000020003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10000.0</a:t>
                      </a:r>
                    </a:p>
                  </a:txBody>
                  <a:tcPr marL="53439" marR="53439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85725" marR="85725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id-ID" sz="1600" kern="100">
                          <a:effectLst/>
                          <a:latin typeface="Quattrocento Sans" panose="020B0502050000020003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76485.889000</a:t>
                      </a:r>
                    </a:p>
                  </a:txBody>
                  <a:tcPr marL="53439" marR="53439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85725" marR="85725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id-ID" sz="1600" kern="100">
                          <a:effectLst/>
                          <a:latin typeface="Quattrocento Sans" panose="020B0502050000020003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62397.405202</a:t>
                      </a:r>
                    </a:p>
                  </a:txBody>
                  <a:tcPr marL="53439" marR="53439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85725" marR="85725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id-ID" sz="1600" kern="100">
                          <a:effectLst/>
                          <a:latin typeface="Quattrocento Sans" panose="020B0502050000020003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0.00</a:t>
                      </a:r>
                    </a:p>
                  </a:txBody>
                  <a:tcPr marL="53439" marR="53439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85725" marR="85725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id-ID" sz="1600" kern="100">
                          <a:effectLst/>
                          <a:latin typeface="Quattrocento Sans" panose="020B0502050000020003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0.00</a:t>
                      </a:r>
                    </a:p>
                  </a:txBody>
                  <a:tcPr marL="53439" marR="53439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85725" marR="85725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id-ID" sz="1600" kern="100" dirty="0">
                          <a:effectLst/>
                          <a:latin typeface="Quattrocento Sans" panose="020B0502050000020003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97198.540000</a:t>
                      </a:r>
                    </a:p>
                  </a:txBody>
                  <a:tcPr marL="53439" marR="53439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85725" marR="85725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id-ID" sz="1600" kern="100" dirty="0">
                          <a:effectLst/>
                          <a:latin typeface="Quattrocento Sans" panose="020B0502050000020003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127644.200000</a:t>
                      </a:r>
                    </a:p>
                  </a:txBody>
                  <a:tcPr marL="53439" marR="53439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85725" marR="85725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id-ID" sz="1600" kern="100">
                          <a:effectLst/>
                          <a:latin typeface="Quattrocento Sans" panose="020B0502050000020003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250898.09</a:t>
                      </a:r>
                    </a:p>
                  </a:txBody>
                  <a:tcPr marL="53439" marR="53439" marT="0" marB="0" anchor="ctr">
                    <a:lnL>
                      <a:noFill/>
                    </a:lnL>
                    <a:lnR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41146797"/>
                  </a:ext>
                </a:extLst>
              </a:tr>
              <a:tr h="483526">
                <a:tc>
                  <a:txBody>
                    <a:bodyPr/>
                    <a:lstStyle/>
                    <a:p>
                      <a:pPr marL="85725" marR="85725"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id-ID" sz="1600" b="1" kern="100">
                          <a:solidFill>
                            <a:srgbClr val="000000"/>
                          </a:solidFill>
                          <a:effectLst/>
                          <a:latin typeface="Quattrocento Sans" panose="020B0502050000020003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NumOfProducts</a:t>
                      </a:r>
                      <a:endParaRPr lang="id-ID" sz="1600" kern="100">
                        <a:effectLst/>
                        <a:latin typeface="Quattrocento Sans" panose="020B0502050000020003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3439" marR="53439" marT="0" marB="0" anchor="ctr">
                    <a:lnL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E4F5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85725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id-ID" sz="1600" kern="100">
                          <a:solidFill>
                            <a:srgbClr val="000000"/>
                          </a:solidFill>
                          <a:effectLst/>
                          <a:latin typeface="Quattrocento Sans" panose="020B0502050000020003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10000.0</a:t>
                      </a:r>
                      <a:endParaRPr lang="id-ID" sz="1600" kern="100">
                        <a:effectLst/>
                        <a:latin typeface="Quattrocento Sans" panose="020B0502050000020003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3439" marR="53439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E4F5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85725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id-ID" sz="1600" kern="100" dirty="0">
                          <a:solidFill>
                            <a:srgbClr val="000000"/>
                          </a:solidFill>
                          <a:effectLst/>
                          <a:latin typeface="Quattrocento Sans" panose="020B0502050000020003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1.530200</a:t>
                      </a:r>
                      <a:endParaRPr lang="id-ID" sz="1600" kern="100" dirty="0">
                        <a:effectLst/>
                        <a:latin typeface="Quattrocento Sans" panose="020B0502050000020003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3439" marR="53439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E4F5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85725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id-ID" sz="1600" kern="100">
                          <a:solidFill>
                            <a:srgbClr val="000000"/>
                          </a:solidFill>
                          <a:effectLst/>
                          <a:latin typeface="Quattrocento Sans" panose="020B0502050000020003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0.581654</a:t>
                      </a:r>
                      <a:endParaRPr lang="id-ID" sz="1600" kern="100">
                        <a:effectLst/>
                        <a:latin typeface="Quattrocento Sans" panose="020B0502050000020003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3439" marR="53439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E4F5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85725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id-ID" sz="1600" kern="100">
                          <a:solidFill>
                            <a:srgbClr val="000000"/>
                          </a:solidFill>
                          <a:effectLst/>
                          <a:latin typeface="Quattrocento Sans" panose="020B0502050000020003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1.00</a:t>
                      </a:r>
                      <a:endParaRPr lang="id-ID" sz="1600" kern="100">
                        <a:effectLst/>
                        <a:latin typeface="Quattrocento Sans" panose="020B0502050000020003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3439" marR="53439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E4F5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85725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id-ID" sz="1600" kern="100">
                          <a:solidFill>
                            <a:srgbClr val="000000"/>
                          </a:solidFill>
                          <a:effectLst/>
                          <a:latin typeface="Quattrocento Sans" panose="020B0502050000020003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1.00</a:t>
                      </a:r>
                      <a:endParaRPr lang="id-ID" sz="1600" kern="100">
                        <a:effectLst/>
                        <a:latin typeface="Quattrocento Sans" panose="020B0502050000020003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3439" marR="53439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E4F5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85725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id-ID" sz="1600" kern="100" dirty="0">
                          <a:solidFill>
                            <a:srgbClr val="000000"/>
                          </a:solidFill>
                          <a:effectLst/>
                          <a:latin typeface="Quattrocento Sans" panose="020B0502050000020003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1.00</a:t>
                      </a:r>
                      <a:endParaRPr lang="id-ID" sz="1600" kern="100" dirty="0">
                        <a:effectLst/>
                        <a:latin typeface="Quattrocento Sans" panose="020B0502050000020003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3439" marR="53439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E4F5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85725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id-ID" sz="1600" kern="100">
                          <a:solidFill>
                            <a:srgbClr val="000000"/>
                          </a:solidFill>
                          <a:effectLst/>
                          <a:latin typeface="Quattrocento Sans" panose="020B0502050000020003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2.00</a:t>
                      </a:r>
                      <a:endParaRPr lang="id-ID" sz="1600" kern="100">
                        <a:effectLst/>
                        <a:latin typeface="Quattrocento Sans" panose="020B0502050000020003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3439" marR="53439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E4F5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85725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id-ID" sz="1600" kern="100" dirty="0">
                          <a:solidFill>
                            <a:srgbClr val="000000"/>
                          </a:solidFill>
                          <a:effectLst/>
                          <a:latin typeface="Quattrocento Sans" panose="020B0502050000020003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4.00</a:t>
                      </a:r>
                      <a:endParaRPr lang="id-ID" sz="1600" kern="100" dirty="0">
                        <a:effectLst/>
                        <a:latin typeface="Quattrocento Sans" panose="020B0502050000020003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3439" marR="53439" marT="0" marB="0" anchor="ctr">
                    <a:lnL>
                      <a:noFill/>
                    </a:lnL>
                    <a:lnR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E4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1603235"/>
                  </a:ext>
                </a:extLst>
              </a:tr>
              <a:tr h="483526">
                <a:tc>
                  <a:txBody>
                    <a:bodyPr/>
                    <a:lstStyle/>
                    <a:p>
                      <a:pPr marL="85725" marR="85725"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id-ID" sz="1600" b="1" kern="100">
                          <a:effectLst/>
                          <a:latin typeface="Quattrocento Sans" panose="020B0502050000020003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HasCrCard</a:t>
                      </a:r>
                      <a:endParaRPr lang="id-ID" sz="1600" kern="100">
                        <a:effectLst/>
                        <a:latin typeface="Quattrocento Sans" panose="020B0502050000020003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3439" marR="53439" marT="0" marB="0" anchor="ctr">
                    <a:lnL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85725" marR="85725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id-ID" sz="1600" kern="100">
                          <a:effectLst/>
                          <a:latin typeface="Quattrocento Sans" panose="020B0502050000020003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10000.0</a:t>
                      </a:r>
                    </a:p>
                  </a:txBody>
                  <a:tcPr marL="53439" marR="53439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85725" marR="85725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id-ID" sz="1600" kern="100">
                          <a:effectLst/>
                          <a:latin typeface="Quattrocento Sans" panose="020B0502050000020003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0.705500</a:t>
                      </a:r>
                    </a:p>
                  </a:txBody>
                  <a:tcPr marL="53439" marR="53439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85725" marR="85725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id-ID" sz="1600" kern="100" dirty="0">
                          <a:effectLst/>
                          <a:latin typeface="Quattrocento Sans" panose="020B0502050000020003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0.455840</a:t>
                      </a:r>
                    </a:p>
                  </a:txBody>
                  <a:tcPr marL="53439" marR="53439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85725" marR="85725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id-ID" sz="1600" kern="100">
                          <a:effectLst/>
                          <a:latin typeface="Quattrocento Sans" panose="020B0502050000020003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0.00</a:t>
                      </a:r>
                    </a:p>
                  </a:txBody>
                  <a:tcPr marL="53439" marR="53439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85725" marR="85725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id-ID" sz="1600" kern="100">
                          <a:effectLst/>
                          <a:latin typeface="Quattrocento Sans" panose="020B0502050000020003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0.00</a:t>
                      </a:r>
                    </a:p>
                  </a:txBody>
                  <a:tcPr marL="53439" marR="53439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85725" marR="85725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id-ID" sz="1600" kern="100" dirty="0">
                          <a:effectLst/>
                          <a:latin typeface="Quattrocento Sans" panose="020B0502050000020003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1.00</a:t>
                      </a:r>
                    </a:p>
                  </a:txBody>
                  <a:tcPr marL="53439" marR="53439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85725" marR="85725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id-ID" sz="1600" kern="100" dirty="0">
                          <a:effectLst/>
                          <a:latin typeface="Quattrocento Sans" panose="020B0502050000020003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1.00</a:t>
                      </a:r>
                    </a:p>
                  </a:txBody>
                  <a:tcPr marL="53439" marR="53439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85725" marR="85725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id-ID" sz="1600" kern="100" dirty="0">
                          <a:effectLst/>
                          <a:latin typeface="Quattrocento Sans" panose="020B0502050000020003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1.00</a:t>
                      </a:r>
                    </a:p>
                  </a:txBody>
                  <a:tcPr marL="53439" marR="53439" marT="0" marB="0" anchor="ctr">
                    <a:lnL>
                      <a:noFill/>
                    </a:lnL>
                    <a:lnR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88002578"/>
                  </a:ext>
                </a:extLst>
              </a:tr>
              <a:tr h="483526">
                <a:tc>
                  <a:txBody>
                    <a:bodyPr/>
                    <a:lstStyle/>
                    <a:p>
                      <a:pPr marL="85725" marR="85725"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id-ID" sz="1600" b="1" kern="100">
                          <a:solidFill>
                            <a:srgbClr val="000000"/>
                          </a:solidFill>
                          <a:effectLst/>
                          <a:latin typeface="Quattrocento Sans" panose="020B0502050000020003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IsActiveMember</a:t>
                      </a:r>
                      <a:endParaRPr lang="id-ID" sz="1600" kern="100">
                        <a:effectLst/>
                        <a:latin typeface="Quattrocento Sans" panose="020B0502050000020003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3439" marR="53439" marT="0" marB="0" anchor="ctr">
                    <a:lnL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E4F5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85725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id-ID" sz="1600" kern="100">
                          <a:solidFill>
                            <a:srgbClr val="000000"/>
                          </a:solidFill>
                          <a:effectLst/>
                          <a:latin typeface="Quattrocento Sans" panose="020B0502050000020003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10000.0</a:t>
                      </a:r>
                      <a:endParaRPr lang="id-ID" sz="1600" kern="100">
                        <a:effectLst/>
                        <a:latin typeface="Quattrocento Sans" panose="020B0502050000020003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3439" marR="53439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E4F5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85725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id-ID" sz="1600" kern="100">
                          <a:solidFill>
                            <a:srgbClr val="000000"/>
                          </a:solidFill>
                          <a:effectLst/>
                          <a:latin typeface="Quattrocento Sans" panose="020B0502050000020003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0.515100</a:t>
                      </a:r>
                      <a:endParaRPr lang="id-ID" sz="1600" kern="100">
                        <a:effectLst/>
                        <a:latin typeface="Quattrocento Sans" panose="020B0502050000020003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3439" marR="53439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E4F5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85725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id-ID" sz="1600" kern="100">
                          <a:solidFill>
                            <a:srgbClr val="000000"/>
                          </a:solidFill>
                          <a:effectLst/>
                          <a:latin typeface="Quattrocento Sans" panose="020B0502050000020003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0.499797</a:t>
                      </a:r>
                      <a:endParaRPr lang="id-ID" sz="1600" kern="100">
                        <a:effectLst/>
                        <a:latin typeface="Quattrocento Sans" panose="020B0502050000020003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3439" marR="53439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E4F5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85725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id-ID" sz="1600" kern="100">
                          <a:solidFill>
                            <a:srgbClr val="000000"/>
                          </a:solidFill>
                          <a:effectLst/>
                          <a:latin typeface="Quattrocento Sans" panose="020B0502050000020003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0.00</a:t>
                      </a:r>
                      <a:endParaRPr lang="id-ID" sz="1600" kern="100">
                        <a:effectLst/>
                        <a:latin typeface="Quattrocento Sans" panose="020B0502050000020003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3439" marR="53439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E4F5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85725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id-ID" sz="1600" kern="100">
                          <a:solidFill>
                            <a:srgbClr val="000000"/>
                          </a:solidFill>
                          <a:effectLst/>
                          <a:latin typeface="Quattrocento Sans" panose="020B0502050000020003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0.00</a:t>
                      </a:r>
                      <a:endParaRPr lang="id-ID" sz="1600" kern="100">
                        <a:effectLst/>
                        <a:latin typeface="Quattrocento Sans" panose="020B0502050000020003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3439" marR="53439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E4F5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85725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id-ID" sz="1600" kern="100">
                          <a:solidFill>
                            <a:srgbClr val="000000"/>
                          </a:solidFill>
                          <a:effectLst/>
                          <a:latin typeface="Quattrocento Sans" panose="020B0502050000020003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1.00</a:t>
                      </a:r>
                      <a:endParaRPr lang="id-ID" sz="1600" kern="100">
                        <a:effectLst/>
                        <a:latin typeface="Quattrocento Sans" panose="020B0502050000020003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3439" marR="53439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E4F5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85725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id-ID" sz="1600" kern="100" dirty="0">
                          <a:solidFill>
                            <a:srgbClr val="000000"/>
                          </a:solidFill>
                          <a:effectLst/>
                          <a:latin typeface="Quattrocento Sans" panose="020B0502050000020003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1.00</a:t>
                      </a:r>
                      <a:endParaRPr lang="id-ID" sz="1600" kern="100" dirty="0">
                        <a:effectLst/>
                        <a:latin typeface="Quattrocento Sans" panose="020B0502050000020003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3439" marR="53439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E4F5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85725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id-ID" sz="1600" kern="100" dirty="0">
                          <a:solidFill>
                            <a:srgbClr val="000000"/>
                          </a:solidFill>
                          <a:effectLst/>
                          <a:latin typeface="Quattrocento Sans" panose="020B0502050000020003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1.00</a:t>
                      </a:r>
                      <a:endParaRPr lang="id-ID" sz="1600" kern="100" dirty="0">
                        <a:effectLst/>
                        <a:latin typeface="Quattrocento Sans" panose="020B0502050000020003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3439" marR="53439" marT="0" marB="0" anchor="ctr">
                    <a:lnL>
                      <a:noFill/>
                    </a:lnL>
                    <a:lnR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E4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9891553"/>
                  </a:ext>
                </a:extLst>
              </a:tr>
              <a:tr h="483526">
                <a:tc>
                  <a:txBody>
                    <a:bodyPr/>
                    <a:lstStyle/>
                    <a:p>
                      <a:pPr marL="85725" marR="85725"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id-ID" sz="1600" b="1" kern="100">
                          <a:effectLst/>
                          <a:latin typeface="Quattrocento Sans" panose="020B0502050000020003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EstimatedSalary</a:t>
                      </a:r>
                      <a:endParaRPr lang="id-ID" sz="1600" kern="100">
                        <a:effectLst/>
                        <a:latin typeface="Quattrocento Sans" panose="020B0502050000020003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3439" marR="53439" marT="0" marB="0" anchor="ctr">
                    <a:lnL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85725" marR="85725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id-ID" sz="1600" kern="100">
                          <a:effectLst/>
                          <a:latin typeface="Quattrocento Sans" panose="020B0502050000020003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10000.0</a:t>
                      </a:r>
                    </a:p>
                  </a:txBody>
                  <a:tcPr marL="53439" marR="53439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85725" marR="85725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id-ID" sz="1600" kern="100">
                          <a:effectLst/>
                          <a:latin typeface="Quattrocento Sans" panose="020B0502050000020003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100090.240000</a:t>
                      </a:r>
                    </a:p>
                  </a:txBody>
                  <a:tcPr marL="53439" marR="53439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85725" marR="85725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id-ID" sz="1600" kern="100">
                          <a:effectLst/>
                          <a:latin typeface="Quattrocento Sans" panose="020B0502050000020003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57510.492818</a:t>
                      </a:r>
                    </a:p>
                  </a:txBody>
                  <a:tcPr marL="53439" marR="53439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85725" marR="85725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id-ID" sz="1600" kern="100" dirty="0">
                          <a:effectLst/>
                          <a:latin typeface="Quattrocento Sans" panose="020B0502050000020003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11.58</a:t>
                      </a:r>
                    </a:p>
                  </a:txBody>
                  <a:tcPr marL="53439" marR="53439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85725" marR="85725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id-ID" sz="1600" kern="100" dirty="0">
                          <a:effectLst/>
                          <a:latin typeface="Quattrocento Sans" panose="020B0502050000020003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51002.11</a:t>
                      </a:r>
                    </a:p>
                  </a:txBody>
                  <a:tcPr marL="53439" marR="53439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85725" marR="85725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id-ID" sz="1600" kern="100" dirty="0">
                          <a:effectLst/>
                          <a:latin typeface="Quattrocento Sans" panose="020B0502050000020003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100193.90</a:t>
                      </a:r>
                    </a:p>
                  </a:txBody>
                  <a:tcPr marL="53439" marR="53439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85725" marR="85725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id-ID" sz="1600" kern="100">
                          <a:effectLst/>
                          <a:latin typeface="Quattrocento Sans" panose="020B0502050000020003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149388.20</a:t>
                      </a:r>
                    </a:p>
                  </a:txBody>
                  <a:tcPr marL="53439" marR="53439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85725" marR="85725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id-ID" sz="1600" kern="100" dirty="0">
                          <a:effectLst/>
                          <a:latin typeface="Quattrocento Sans" panose="020B0502050000020003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199992.48</a:t>
                      </a:r>
                    </a:p>
                  </a:txBody>
                  <a:tcPr marL="53439" marR="53439" marT="0" marB="0" anchor="ctr">
                    <a:lnL>
                      <a:noFill/>
                    </a:lnL>
                    <a:lnR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64194354"/>
                  </a:ext>
                </a:extLst>
              </a:tr>
              <a:tr h="483526">
                <a:tc>
                  <a:txBody>
                    <a:bodyPr/>
                    <a:lstStyle/>
                    <a:p>
                      <a:pPr marL="85725" marR="85725"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id-ID" sz="1600" b="1" kern="100">
                          <a:solidFill>
                            <a:srgbClr val="000000"/>
                          </a:solidFill>
                          <a:effectLst/>
                          <a:latin typeface="Quattrocento Sans" panose="020B0502050000020003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Exited</a:t>
                      </a:r>
                      <a:endParaRPr lang="id-ID" sz="1600" kern="100">
                        <a:effectLst/>
                        <a:latin typeface="Quattrocento Sans" panose="020B0502050000020003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3439" marR="53439" marT="0" marB="0" anchor="ctr">
                    <a:lnL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E4F5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85725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id-ID" sz="1600" kern="100">
                          <a:solidFill>
                            <a:srgbClr val="000000"/>
                          </a:solidFill>
                          <a:effectLst/>
                          <a:latin typeface="Quattrocento Sans" panose="020B0502050000020003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10000.0</a:t>
                      </a:r>
                      <a:endParaRPr lang="id-ID" sz="1600" kern="100">
                        <a:effectLst/>
                        <a:latin typeface="Quattrocento Sans" panose="020B0502050000020003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3439" marR="53439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E4F5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85725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id-ID" sz="1600" kern="100">
                          <a:solidFill>
                            <a:srgbClr val="000000"/>
                          </a:solidFill>
                          <a:effectLst/>
                          <a:latin typeface="Quattrocento Sans" panose="020B0502050000020003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0.203700</a:t>
                      </a:r>
                      <a:endParaRPr lang="id-ID" sz="1600" kern="100">
                        <a:effectLst/>
                        <a:latin typeface="Quattrocento Sans" panose="020B0502050000020003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3439" marR="53439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E4F5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85725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id-ID" sz="1600" kern="100">
                          <a:solidFill>
                            <a:srgbClr val="000000"/>
                          </a:solidFill>
                          <a:effectLst/>
                          <a:latin typeface="Quattrocento Sans" panose="020B0502050000020003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0.402769</a:t>
                      </a:r>
                      <a:endParaRPr lang="id-ID" sz="1600" kern="100">
                        <a:effectLst/>
                        <a:latin typeface="Quattrocento Sans" panose="020B0502050000020003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3439" marR="53439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E4F5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85725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id-ID" sz="1600" kern="100">
                          <a:solidFill>
                            <a:srgbClr val="000000"/>
                          </a:solidFill>
                          <a:effectLst/>
                          <a:latin typeface="Quattrocento Sans" panose="020B0502050000020003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0.00</a:t>
                      </a:r>
                      <a:endParaRPr lang="id-ID" sz="1600" kern="100">
                        <a:effectLst/>
                        <a:latin typeface="Quattrocento Sans" panose="020B0502050000020003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3439" marR="53439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E4F5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85725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id-ID" sz="1600" kern="100">
                          <a:solidFill>
                            <a:srgbClr val="000000"/>
                          </a:solidFill>
                          <a:effectLst/>
                          <a:latin typeface="Quattrocento Sans" panose="020B0502050000020003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0.00</a:t>
                      </a:r>
                      <a:endParaRPr lang="id-ID" sz="1600" kern="100">
                        <a:effectLst/>
                        <a:latin typeface="Quattrocento Sans" panose="020B0502050000020003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3439" marR="53439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E4F5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85725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id-ID" sz="1600" kern="100" dirty="0">
                          <a:solidFill>
                            <a:srgbClr val="000000"/>
                          </a:solidFill>
                          <a:effectLst/>
                          <a:latin typeface="Quattrocento Sans" panose="020B0502050000020003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0.00</a:t>
                      </a:r>
                      <a:endParaRPr lang="id-ID" sz="1600" kern="100" dirty="0">
                        <a:effectLst/>
                        <a:latin typeface="Quattrocento Sans" panose="020B0502050000020003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3439" marR="53439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E4F5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85725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id-ID" sz="1600" kern="100" dirty="0">
                          <a:solidFill>
                            <a:srgbClr val="000000"/>
                          </a:solidFill>
                          <a:effectLst/>
                          <a:latin typeface="Quattrocento Sans" panose="020B0502050000020003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0.00</a:t>
                      </a:r>
                      <a:endParaRPr lang="id-ID" sz="1600" kern="100" dirty="0">
                        <a:effectLst/>
                        <a:latin typeface="Quattrocento Sans" panose="020B0502050000020003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3439" marR="53439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E4F5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85725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id-ID" sz="1600" kern="100" dirty="0">
                          <a:solidFill>
                            <a:srgbClr val="000000"/>
                          </a:solidFill>
                          <a:effectLst/>
                          <a:latin typeface="Quattrocento Sans" panose="020B0502050000020003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1.00</a:t>
                      </a:r>
                      <a:endParaRPr lang="id-ID" sz="1600" kern="100" dirty="0">
                        <a:effectLst/>
                        <a:latin typeface="Quattrocento Sans" panose="020B0502050000020003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3439" marR="53439" marT="0" marB="0" anchor="ctr">
                    <a:lnL>
                      <a:noFill/>
                    </a:lnL>
                    <a:lnR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E4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96619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9443165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444500"/>
            <a:ext cx="8890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800" b="1" dirty="0">
                <a:solidFill>
                  <a:srgbClr val="1E3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Statistik Deskriptif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62000" y="1041400"/>
            <a:ext cx="762000" cy="50800"/>
          </a:xfrm>
          <a:prstGeom prst="rect">
            <a:avLst/>
          </a:prstGeom>
          <a:solidFill>
            <a:srgbClr val="E891A0"/>
          </a:solidFill>
          <a:ln/>
        </p:spPr>
      </p:sp>
      <p:sp>
        <p:nvSpPr>
          <p:cNvPr id="4" name="Shape 2"/>
          <p:cNvSpPr/>
          <p:nvPr/>
        </p:nvSpPr>
        <p:spPr>
          <a:xfrm>
            <a:off x="762000" y="1333500"/>
            <a:ext cx="2794000" cy="1651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000000">
                <a:alpha val="3922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52500" y="1460500"/>
            <a:ext cx="2413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3600" b="1" dirty="0">
                <a:solidFill>
                  <a:srgbClr val="1E3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650.53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952500" y="2159000"/>
            <a:ext cx="2413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dirty="0">
                <a:solidFill>
                  <a:srgbClr val="6B7B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CreditScore (rata-rata)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52500" y="2489200"/>
            <a:ext cx="2413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00" dirty="0">
                <a:solidFill>
                  <a:srgbClr val="E891A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Range: 350 - 850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810000" y="1333500"/>
            <a:ext cx="2794000" cy="1651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000000">
                <a:alpha val="3922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000500" y="1460500"/>
            <a:ext cx="2413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3600" b="1" dirty="0">
                <a:solidFill>
                  <a:srgbClr val="1E3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38.92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4000500" y="2159000"/>
            <a:ext cx="2413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dirty="0">
                <a:solidFill>
                  <a:srgbClr val="6B7B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Age (tahun)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000500" y="2489200"/>
            <a:ext cx="2413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00" dirty="0">
                <a:solidFill>
                  <a:srgbClr val="E891A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Range: 18 - 92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858000" y="1333500"/>
            <a:ext cx="2794000" cy="1651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000000">
                <a:alpha val="3922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048500" y="1460500"/>
            <a:ext cx="2413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3600" b="1" dirty="0">
                <a:solidFill>
                  <a:srgbClr val="1E3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5.01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7048500" y="2159000"/>
            <a:ext cx="2413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dirty="0">
                <a:solidFill>
                  <a:srgbClr val="6B7B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Tenure (tahun)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048500" y="2489200"/>
            <a:ext cx="2413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00" dirty="0">
                <a:solidFill>
                  <a:srgbClr val="E891A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Range: 0 - 10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9906000" y="1333500"/>
            <a:ext cx="2794000" cy="1651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000000">
                <a:alpha val="3922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0096500" y="1460500"/>
            <a:ext cx="2413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3600" b="1" dirty="0">
                <a:solidFill>
                  <a:srgbClr val="D462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20.37%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10096500" y="2159000"/>
            <a:ext cx="2413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dirty="0">
                <a:solidFill>
                  <a:srgbClr val="6B7B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Churn Rate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096500" y="2489200"/>
            <a:ext cx="2413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00" dirty="0">
                <a:solidFill>
                  <a:srgbClr val="D462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Imbalanced Dataset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2954000" y="1333500"/>
            <a:ext cx="2540000" cy="1651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000000">
                <a:alpha val="3922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13081000" y="1460500"/>
            <a:ext cx="2286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3600" b="1" dirty="0">
                <a:solidFill>
                  <a:srgbClr val="1E3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70.55%</a:t>
            </a:r>
            <a:endParaRPr lang="en-US" sz="3600" dirty="0"/>
          </a:p>
        </p:txBody>
      </p:sp>
      <p:sp>
        <p:nvSpPr>
          <p:cNvPr id="22" name="Text 20"/>
          <p:cNvSpPr/>
          <p:nvPr/>
        </p:nvSpPr>
        <p:spPr>
          <a:xfrm>
            <a:off x="13081000" y="2159000"/>
            <a:ext cx="2286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dirty="0">
                <a:solidFill>
                  <a:srgbClr val="6B7B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Has Credit Card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3081000" y="2489200"/>
            <a:ext cx="2286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00" dirty="0">
                <a:solidFill>
                  <a:srgbClr val="E891A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51.51% Active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762000" y="3302000"/>
            <a:ext cx="14732000" cy="482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blurRad="127000" dist="25400" dir="5400000" algn="bl" rotWithShape="0">
              <a:srgbClr val="000000">
                <a:alpha val="3922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1143000" y="3492500"/>
            <a:ext cx="508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1E3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Insight Statistik Deskriptif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1143000" y="3962400"/>
            <a:ext cx="13970000" cy="254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7" name="Text 25"/>
          <p:cNvSpPr/>
          <p:nvPr/>
        </p:nvSpPr>
        <p:spPr>
          <a:xfrm>
            <a:off x="1143000" y="4127500"/>
            <a:ext cx="13970000" cy="3746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600" b="1" dirty="0">
                <a:solidFill>
                  <a:srgbClr val="D462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Balance</a:t>
            </a:r>
            <a:r>
              <a:rPr lang="en-US" sz="1600" dirty="0">
                <a:solidFill>
                  <a:srgbClr val="1A2B3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- Rata-rata 76.485,89 | Median 97.198,54. Kuartil pertama = 0, menunjukkan </a:t>
            </a:r>
            <a:r>
              <a:rPr lang="en-US" sz="1600" b="1" dirty="0">
                <a:solidFill>
                  <a:srgbClr val="1A2B3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25% pelanggan tidak memiliki saldo</a:t>
            </a:r>
            <a:r>
              <a:rPr lang="en-US" sz="1600" dirty="0">
                <a:solidFill>
                  <a:srgbClr val="1A2B3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 Variasi saldo sangat tinggi (std: 62.397,41).</a:t>
            </a:r>
            <a:endParaRPr lang="en-US" sz="1600" dirty="0"/>
          </a:p>
          <a:p>
            <a:pPr algn="l">
              <a:lnSpc>
                <a:spcPct val="160000"/>
              </a:lnSpc>
              <a:spcBef>
                <a:spcPts val="800"/>
              </a:spcBef>
            </a:pPr>
            <a:r>
              <a:rPr lang="en-US" sz="1600" b="1" dirty="0">
                <a:solidFill>
                  <a:srgbClr val="D462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NumOfProducts</a:t>
            </a:r>
            <a:r>
              <a:rPr lang="en-US" sz="1600" dirty="0">
                <a:solidFill>
                  <a:srgbClr val="1A2B3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- Rata-rata 1,53 produk. Sebagian besar pelanggan hanya menggunakan </a:t>
            </a:r>
            <a:r>
              <a:rPr lang="en-US" sz="1600" b="1" dirty="0">
                <a:solidFill>
                  <a:srgbClr val="1A2B3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1-2 produk</a:t>
            </a:r>
            <a:r>
              <a:rPr lang="en-US" sz="1600" dirty="0">
                <a:solidFill>
                  <a:srgbClr val="1A2B3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(Q1=1, Q3=2).</a:t>
            </a:r>
            <a:endParaRPr lang="en-US" sz="1600" dirty="0"/>
          </a:p>
          <a:p>
            <a:pPr algn="l">
              <a:lnSpc>
                <a:spcPct val="160000"/>
              </a:lnSpc>
              <a:spcBef>
                <a:spcPts val="800"/>
              </a:spcBef>
            </a:pPr>
            <a:r>
              <a:rPr lang="en-US" sz="1600" b="1" dirty="0">
                <a:solidFill>
                  <a:srgbClr val="D462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EstimatedSalary</a:t>
            </a:r>
            <a:r>
              <a:rPr lang="en-US" sz="1600" dirty="0">
                <a:solidFill>
                  <a:srgbClr val="1A2B3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- Rata-rata 100.090,24 | Median 100.193,91. Distribusi relatif </a:t>
            </a:r>
            <a:r>
              <a:rPr lang="en-US" sz="1600" b="1" dirty="0">
                <a:solidFill>
                  <a:srgbClr val="1A2B3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simetris</a:t>
            </a:r>
            <a:r>
              <a:rPr lang="en-US" sz="1600" dirty="0">
                <a:solidFill>
                  <a:srgbClr val="1A2B3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dengan variasi tinggi (std: 57.510,49).</a:t>
            </a:r>
            <a:endParaRPr lang="en-US" sz="1600" dirty="0"/>
          </a:p>
          <a:p>
            <a:pPr algn="l">
              <a:lnSpc>
                <a:spcPct val="160000"/>
              </a:lnSpc>
              <a:spcBef>
                <a:spcPts val="800"/>
              </a:spcBef>
            </a:pPr>
            <a:r>
              <a:rPr lang="en-US" sz="1600" b="1" dirty="0">
                <a:solidFill>
                  <a:srgbClr val="D462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Exited (Target)</a:t>
            </a:r>
            <a:r>
              <a:rPr lang="en-US" sz="1600" dirty="0">
                <a:solidFill>
                  <a:srgbClr val="1A2B3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- Rata-rata 0,2037 = </a:t>
            </a:r>
            <a:r>
              <a:rPr lang="en-US" sz="1600" b="1" dirty="0">
                <a:solidFill>
                  <a:srgbClr val="1A2B3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20,37% churn</a:t>
            </a:r>
            <a:r>
              <a:rPr lang="en-US" sz="1600" dirty="0">
                <a:solidFill>
                  <a:srgbClr val="1A2B3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 Q1=Q2=Q3=0, menunjukkan &gt;75% data adalah non-churn. Dataset mengalami </a:t>
            </a:r>
            <a:r>
              <a:rPr lang="en-US" sz="1600" b="1" dirty="0">
                <a:solidFill>
                  <a:srgbClr val="1A2B3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class imbalance</a:t>
            </a:r>
            <a:r>
              <a:rPr lang="en-US" sz="1600" dirty="0">
                <a:solidFill>
                  <a:srgbClr val="1A2B3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0" y="8636000"/>
            <a:ext cx="16256000" cy="5080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29" name="Shape 27"/>
          <p:cNvSpPr/>
          <p:nvPr/>
        </p:nvSpPr>
        <p:spPr>
          <a:xfrm>
            <a:off x="5422900" y="8636000"/>
            <a:ext cx="5410200" cy="508000"/>
          </a:xfrm>
          <a:prstGeom prst="rect">
            <a:avLst/>
          </a:prstGeom>
          <a:solidFill>
            <a:srgbClr val="FFFFFF">
              <a:alpha val="14510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127000" y="8712200"/>
            <a:ext cx="51689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Bab I - Pendahuluan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549900" y="8712200"/>
            <a:ext cx="51689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Bab II - Pembahasan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10845800" y="8712200"/>
            <a:ext cx="51562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Bab III - Penutup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14986000" y="50800"/>
            <a:ext cx="762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200" dirty="0">
                <a:solidFill>
                  <a:srgbClr val="6B7B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09</a:t>
            </a:r>
            <a:endParaRPr lang="en-US" sz="12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444500"/>
            <a:ext cx="8890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800" b="1" dirty="0">
                <a:solidFill>
                  <a:srgbClr val="1E3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Rekayasa Fitur - Agregasi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62000" y="1041400"/>
            <a:ext cx="762000" cy="50800"/>
          </a:xfrm>
          <a:prstGeom prst="rect">
            <a:avLst/>
          </a:prstGeom>
          <a:solidFill>
            <a:srgbClr val="E891A0"/>
          </a:solidFill>
          <a:ln/>
        </p:spPr>
      </p:sp>
      <p:sp>
        <p:nvSpPr>
          <p:cNvPr id="4" name="Text 2"/>
          <p:cNvSpPr/>
          <p:nvPr/>
        </p:nvSpPr>
        <p:spPr>
          <a:xfrm>
            <a:off x="762000" y="1206500"/>
            <a:ext cx="14732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500" dirty="0">
                <a:solidFill>
                  <a:srgbClr val="6B7B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Pembentukan fitur agregasi berdasarkan 5 variabel kategorikal: Geography, Gender, IsActiveMember, HasCrCard, NumOfProducts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62000" y="1879600"/>
            <a:ext cx="14732000" cy="6350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/>
          <a:effectLst>
            <a:outerShdw blurRad="127000" dist="25400" dir="5400000" algn="bl" rotWithShape="0">
              <a:srgbClr val="000000">
                <a:alpha val="3922"/>
              </a:srgbClr>
            </a:outerShdw>
          </a:effectLst>
        </p:spPr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51950860"/>
              </p:ext>
            </p:extLst>
          </p:nvPr>
        </p:nvGraphicFramePr>
        <p:xfrm>
          <a:off x="952500" y="2006600"/>
          <a:ext cx="14351000" cy="6096000"/>
        </p:xfrm>
        <a:graphic>
          <a:graphicData uri="http://schemas.openxmlformats.org/drawingml/2006/table">
            <a:tbl>
              <a:tblPr/>
              <a:tblGrid>
                <a:gridCol w="20091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091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22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221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091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43967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43967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96240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Variabel</a:t>
                      </a:r>
                      <a:endParaRPr lang="en-US" sz="20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Kategori</a:t>
                      </a:r>
                      <a:endParaRPr lang="en-US" sz="20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Total Cust.</a:t>
                      </a:r>
                      <a:endParaRPr lang="en-US" sz="20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Total Churn</a:t>
                      </a:r>
                      <a:endParaRPr lang="en-US" sz="20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Total Non-Churn</a:t>
                      </a:r>
                      <a:endParaRPr lang="en-US" sz="20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Churn Rate</a:t>
                      </a:r>
                      <a:endParaRPr lang="en-US" sz="20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Non-Churn Rate</a:t>
                      </a:r>
                      <a:endParaRPr lang="en-US" sz="20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240">
                <a:tc rowSpan="3"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1A2B3C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Geography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1A2B3C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France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1A2B3C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5.014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1A2B3C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810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1A2B3C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4.204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1E3A5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16,15%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1A2B3C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83,85%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240">
                <a:tc vMerge="1">
                  <a:txBody>
                    <a:bodyPr/>
                    <a:lstStyle/>
                    <a:p>
                      <a:endParaRPr lang="id-ID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1A2B3C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Germany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1A2B3C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2.509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1A2B3C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814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1A2B3C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1.695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D4627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32,44%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1A2B3C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67,56%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6240">
                <a:tc vMerge="1">
                  <a:txBody>
                    <a:bodyPr/>
                    <a:lstStyle/>
                    <a:p>
                      <a:endParaRPr lang="id-ID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1A2B3C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Spain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1A2B3C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2.477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1A2B3C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413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1A2B3C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2.064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1E3A5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16,67%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1A2B3C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83,33%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6240">
                <a:tc rowSpan="2"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1A2B3C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Gender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1A2B3C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Female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1A2B3C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4.543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1A2B3C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1.139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1A2B3C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3.404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D4627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25,07%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1A2B3C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74,93%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6240">
                <a:tc vMerge="1">
                  <a:txBody>
                    <a:bodyPr/>
                    <a:lstStyle/>
                    <a:p>
                      <a:endParaRPr lang="id-ID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1A2B3C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Male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1A2B3C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5.457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1A2B3C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898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1A2B3C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4.559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1E3A5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16,46%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1A2B3C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83,54%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6240">
                <a:tc rowSpan="2"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1A2B3C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IsActiveMember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1A2B3C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Tidak Aktif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1A2B3C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4.849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1A2B3C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1.302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1A2B3C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3.547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D4627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26,85%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1A2B3C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73,15%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96240">
                <a:tc vMerge="1">
                  <a:txBody>
                    <a:bodyPr/>
                    <a:lstStyle/>
                    <a:p>
                      <a:endParaRPr lang="id-ID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1A2B3C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Aktif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1A2B3C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5.151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1A2B3C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735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1A2B3C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4.416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1E3A5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14,27%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1A2B3C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85,73%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96240">
                <a:tc rowSpan="2"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1A2B3C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HasCrCard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1A2B3C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Tidak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1A2B3C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2.945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1A2B3C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613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1A2B3C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2.332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1E3A5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20,81%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1A2B3C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79,19%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96240">
                <a:tc vMerge="1">
                  <a:txBody>
                    <a:bodyPr/>
                    <a:lstStyle/>
                    <a:p>
                      <a:endParaRPr lang="id-ID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1A2B3C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Memiliki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1A2B3C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7.055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1A2B3C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1.424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1A2B3C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5.631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1E3A5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20,18%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1A2B3C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79,82%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96240">
                <a:tc rowSpan="4"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1A2B3C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NumOfProducts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1A2B3C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1 Produk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1A2B3C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5.084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1A2B3C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1.409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1A2B3C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3.675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D4627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27,71%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1A2B3C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72,29%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96240">
                <a:tc vMerge="1">
                  <a:txBody>
                    <a:bodyPr/>
                    <a:lstStyle/>
                    <a:p>
                      <a:endParaRPr lang="id-ID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1A2B3C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2 Produk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1A2B3C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4.590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1A2B3C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348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1A2B3C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4.242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1E3A5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7,58%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1A2B3C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92,42%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96240">
                <a:tc vMerge="1">
                  <a:txBody>
                    <a:bodyPr/>
                    <a:lstStyle/>
                    <a:p>
                      <a:endParaRPr lang="id-ID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1A2B3C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3 Produk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1A2B3C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266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1A2B3C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220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1A2B3C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46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D4627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82,71%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1A2B3C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17,29%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96240">
                <a:tc vMerge="1">
                  <a:txBody>
                    <a:bodyPr/>
                    <a:lstStyle/>
                    <a:p>
                      <a:endParaRPr lang="id-ID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1A2B3C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4 Produk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1A2B3C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60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1A2B3C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60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1A2B3C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0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D4627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100%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1A2B3C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0%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548640">
                <a:tc gridSpan="7">
                  <a:txBody>
                    <a:bodyPr/>
                    <a:lstStyle/>
                    <a:p>
                      <a:pPr algn="ctr"/>
                      <a:r>
                        <a:rPr lang="en-US" sz="1100" i="1" dirty="0">
                          <a:solidFill>
                            <a:srgbClr val="6B7B8D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Churn rate tertinggi: Germany (32,44%), Female (25,07%), Inactive (26,85%), 4 Produk (100%)</a:t>
                      </a:r>
                      <a:endParaRPr lang="en-US" sz="11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id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id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id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id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id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id-ID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0" y="8636000"/>
            <a:ext cx="16256000" cy="5080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8" name="Shape 5"/>
          <p:cNvSpPr/>
          <p:nvPr/>
        </p:nvSpPr>
        <p:spPr>
          <a:xfrm>
            <a:off x="5422900" y="8636000"/>
            <a:ext cx="5410200" cy="508000"/>
          </a:xfrm>
          <a:prstGeom prst="rect">
            <a:avLst/>
          </a:prstGeom>
          <a:solidFill>
            <a:srgbClr val="FFFFFF">
              <a:alpha val="14510"/>
            </a:srgbClr>
          </a:solidFill>
          <a:ln/>
        </p:spPr>
      </p:sp>
      <p:sp>
        <p:nvSpPr>
          <p:cNvPr id="9" name="Text 6"/>
          <p:cNvSpPr/>
          <p:nvPr/>
        </p:nvSpPr>
        <p:spPr>
          <a:xfrm>
            <a:off x="127000" y="8712200"/>
            <a:ext cx="51689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Bab I - Pendahuluan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549900" y="8712200"/>
            <a:ext cx="51689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Bab II - Pembahasan</a:t>
            </a:r>
            <a:endParaRPr lang="en-US" sz="1200" dirty="0"/>
          </a:p>
        </p:txBody>
      </p:sp>
      <p:sp>
        <p:nvSpPr>
          <p:cNvPr id="6" name="Text 8"/>
          <p:cNvSpPr/>
          <p:nvPr/>
        </p:nvSpPr>
        <p:spPr>
          <a:xfrm>
            <a:off x="10845800" y="8712200"/>
            <a:ext cx="51562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Bab III - Penutup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14986000" y="50800"/>
            <a:ext cx="762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200" dirty="0">
                <a:solidFill>
                  <a:srgbClr val="6B7B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10</a:t>
            </a:r>
            <a:endParaRPr lang="en-US" sz="12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444500"/>
            <a:ext cx="8890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800" b="1" dirty="0">
                <a:solidFill>
                  <a:srgbClr val="1E3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Distribusi Data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62000" y="1041400"/>
            <a:ext cx="762000" cy="50800"/>
          </a:xfrm>
          <a:prstGeom prst="rect">
            <a:avLst/>
          </a:prstGeom>
          <a:solidFill>
            <a:srgbClr val="E891A0"/>
          </a:solidFill>
          <a:ln/>
        </p:spPr>
      </p:sp>
      <p:sp>
        <p:nvSpPr>
          <p:cNvPr id="4" name="Shape 2"/>
          <p:cNvSpPr/>
          <p:nvPr/>
        </p:nvSpPr>
        <p:spPr>
          <a:xfrm>
            <a:off x="428367" y="1270000"/>
            <a:ext cx="5218670" cy="3302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000000">
                <a:alpha val="3922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28362" y="1308100"/>
            <a:ext cx="381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b="1" dirty="0">
                <a:solidFill>
                  <a:srgbClr val="1E3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Distribusi CreditScore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751530" y="1270000"/>
            <a:ext cx="5094000" cy="3302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000000">
                <a:alpha val="3922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5929870" y="1326978"/>
            <a:ext cx="381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b="1" dirty="0">
                <a:solidFill>
                  <a:srgbClr val="1E3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Distribusi Age (Usia)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1016000" y="4991100"/>
            <a:ext cx="381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endParaRPr lang="id-ID" sz="1400" b="1" dirty="0">
              <a:solidFill>
                <a:srgbClr val="1E3A5F"/>
              </a:solidFill>
              <a:latin typeface="Quattrocento Sans" pitchFamily="34" charset="0"/>
              <a:ea typeface="Quattrocento Sans" pitchFamily="34" charset="-122"/>
              <a:cs typeface="Quattrocento Sans" pitchFamily="34" charset="-120"/>
            </a:endParaRPr>
          </a:p>
        </p:txBody>
      </p:sp>
      <p:sp>
        <p:nvSpPr>
          <p:cNvPr id="16" name="Shape 10"/>
          <p:cNvSpPr/>
          <p:nvPr/>
        </p:nvSpPr>
        <p:spPr>
          <a:xfrm>
            <a:off x="0" y="8636000"/>
            <a:ext cx="16256000" cy="5080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7" name="Shape 11"/>
          <p:cNvSpPr/>
          <p:nvPr/>
        </p:nvSpPr>
        <p:spPr>
          <a:xfrm>
            <a:off x="5422900" y="8636000"/>
            <a:ext cx="5410200" cy="508000"/>
          </a:xfrm>
          <a:prstGeom prst="rect">
            <a:avLst/>
          </a:prstGeom>
          <a:solidFill>
            <a:srgbClr val="FFFFFF">
              <a:alpha val="14510"/>
            </a:srgbClr>
          </a:solidFill>
          <a:ln/>
        </p:spPr>
      </p:sp>
      <p:sp>
        <p:nvSpPr>
          <p:cNvPr id="18" name="Text 12"/>
          <p:cNvSpPr/>
          <p:nvPr/>
        </p:nvSpPr>
        <p:spPr>
          <a:xfrm>
            <a:off x="127000" y="8712200"/>
            <a:ext cx="51689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Bab I - Pendahuluan</a:t>
            </a:r>
            <a:endParaRPr lang="en-US" sz="1200" dirty="0"/>
          </a:p>
        </p:txBody>
      </p:sp>
      <p:sp>
        <p:nvSpPr>
          <p:cNvPr id="19" name="Text 13"/>
          <p:cNvSpPr/>
          <p:nvPr/>
        </p:nvSpPr>
        <p:spPr>
          <a:xfrm>
            <a:off x="5549900" y="8712200"/>
            <a:ext cx="51689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Bab II - Pembahasan</a:t>
            </a:r>
            <a:endParaRPr lang="en-US" sz="1200" dirty="0"/>
          </a:p>
        </p:txBody>
      </p:sp>
      <p:sp>
        <p:nvSpPr>
          <p:cNvPr id="20" name="Text 14"/>
          <p:cNvSpPr/>
          <p:nvPr/>
        </p:nvSpPr>
        <p:spPr>
          <a:xfrm>
            <a:off x="10845800" y="8712200"/>
            <a:ext cx="51562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Bab III - Penutup</a:t>
            </a:r>
            <a:endParaRPr lang="en-US" sz="1200" dirty="0"/>
          </a:p>
        </p:txBody>
      </p:sp>
      <p:sp>
        <p:nvSpPr>
          <p:cNvPr id="21" name="Text 15"/>
          <p:cNvSpPr/>
          <p:nvPr/>
        </p:nvSpPr>
        <p:spPr>
          <a:xfrm>
            <a:off x="14986000" y="50800"/>
            <a:ext cx="762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200" dirty="0">
                <a:solidFill>
                  <a:srgbClr val="6B7B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11</a:t>
            </a:r>
            <a:endParaRPr lang="en-US" sz="1200" dirty="0"/>
          </a:p>
        </p:txBody>
      </p:sp>
      <p:pic>
        <p:nvPicPr>
          <p:cNvPr id="22" name="Gambar 21">
            <a:extLst>
              <a:ext uri="{FF2B5EF4-FFF2-40B4-BE49-F238E27FC236}">
                <a16:creationId xmlns:a16="http://schemas.microsoft.com/office/drawing/2014/main" id="{676888EC-7025-4D14-12EC-C46F57AD8E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7102" y="1757405"/>
            <a:ext cx="4881200" cy="2764071"/>
          </a:xfrm>
          <a:prstGeom prst="rect">
            <a:avLst/>
          </a:prstGeom>
        </p:spPr>
      </p:pic>
      <p:sp>
        <p:nvSpPr>
          <p:cNvPr id="24" name="Shape 4">
            <a:extLst>
              <a:ext uri="{FF2B5EF4-FFF2-40B4-BE49-F238E27FC236}">
                <a16:creationId xmlns:a16="http://schemas.microsoft.com/office/drawing/2014/main" id="{0EBB875C-5F1E-B56D-893B-ED06828A4789}"/>
              </a:ext>
            </a:extLst>
          </p:cNvPr>
          <p:cNvSpPr/>
          <p:nvPr/>
        </p:nvSpPr>
        <p:spPr>
          <a:xfrm>
            <a:off x="10950023" y="1270000"/>
            <a:ext cx="5094000" cy="3302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000000">
                <a:alpha val="3922"/>
              </a:srgbClr>
            </a:outerShdw>
          </a:effectLst>
        </p:spPr>
      </p:sp>
      <p:sp>
        <p:nvSpPr>
          <p:cNvPr id="14" name="Text 9"/>
          <p:cNvSpPr/>
          <p:nvPr/>
        </p:nvSpPr>
        <p:spPr>
          <a:xfrm>
            <a:off x="11082638" y="1326978"/>
            <a:ext cx="4445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b="1" dirty="0" err="1">
                <a:solidFill>
                  <a:srgbClr val="1E3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Distribusi</a:t>
            </a:r>
            <a:r>
              <a:rPr lang="en-US" sz="1400" b="1" dirty="0">
                <a:solidFill>
                  <a:srgbClr val="1E3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r>
              <a:rPr lang="id-ID" sz="1400" b="1" dirty="0" err="1">
                <a:solidFill>
                  <a:srgbClr val="1E3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Tenure</a:t>
            </a:r>
            <a:endParaRPr lang="en-US" sz="1400" dirty="0"/>
          </a:p>
        </p:txBody>
      </p:sp>
      <p:sp>
        <p:nvSpPr>
          <p:cNvPr id="28" name="Text 3">
            <a:extLst>
              <a:ext uri="{FF2B5EF4-FFF2-40B4-BE49-F238E27FC236}">
                <a16:creationId xmlns:a16="http://schemas.microsoft.com/office/drawing/2014/main" id="{08B91758-B3BB-A432-1D0F-58D387E9BC6F}"/>
              </a:ext>
            </a:extLst>
          </p:cNvPr>
          <p:cNvSpPr/>
          <p:nvPr/>
        </p:nvSpPr>
        <p:spPr>
          <a:xfrm>
            <a:off x="1016000" y="4775200"/>
            <a:ext cx="381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endParaRPr lang="en-US" sz="1400" dirty="0"/>
          </a:p>
        </p:txBody>
      </p:sp>
      <p:sp>
        <p:nvSpPr>
          <p:cNvPr id="32" name="Text 5">
            <a:extLst>
              <a:ext uri="{FF2B5EF4-FFF2-40B4-BE49-F238E27FC236}">
                <a16:creationId xmlns:a16="http://schemas.microsoft.com/office/drawing/2014/main" id="{FFA15285-9958-6477-06B2-E4CD9A3CDBC7}"/>
              </a:ext>
            </a:extLst>
          </p:cNvPr>
          <p:cNvSpPr/>
          <p:nvPr/>
        </p:nvSpPr>
        <p:spPr>
          <a:xfrm>
            <a:off x="8636000" y="4775200"/>
            <a:ext cx="381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endParaRPr lang="en-US" sz="1400" dirty="0"/>
          </a:p>
        </p:txBody>
      </p:sp>
      <p:sp>
        <p:nvSpPr>
          <p:cNvPr id="36" name="Text 9">
            <a:extLst>
              <a:ext uri="{FF2B5EF4-FFF2-40B4-BE49-F238E27FC236}">
                <a16:creationId xmlns:a16="http://schemas.microsoft.com/office/drawing/2014/main" id="{FE586B7B-FAB9-C3F7-9F4D-E58EADD3FC87}"/>
              </a:ext>
            </a:extLst>
          </p:cNvPr>
          <p:cNvSpPr/>
          <p:nvPr/>
        </p:nvSpPr>
        <p:spPr>
          <a:xfrm>
            <a:off x="11082638" y="4730578"/>
            <a:ext cx="4445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endParaRPr lang="en-US" sz="1400" dirty="0"/>
          </a:p>
        </p:txBody>
      </p:sp>
      <p:pic>
        <p:nvPicPr>
          <p:cNvPr id="37" name="Gambar 36">
            <a:extLst>
              <a:ext uri="{FF2B5EF4-FFF2-40B4-BE49-F238E27FC236}">
                <a16:creationId xmlns:a16="http://schemas.microsoft.com/office/drawing/2014/main" id="{494DF86E-C0F4-13E1-8863-C76208FAFC1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15772" y="1764337"/>
            <a:ext cx="4945678" cy="2764800"/>
          </a:xfrm>
          <a:prstGeom prst="rect">
            <a:avLst/>
          </a:prstGeom>
        </p:spPr>
      </p:pic>
      <p:sp>
        <p:nvSpPr>
          <p:cNvPr id="39" name="Shape 2">
            <a:extLst>
              <a:ext uri="{FF2B5EF4-FFF2-40B4-BE49-F238E27FC236}">
                <a16:creationId xmlns:a16="http://schemas.microsoft.com/office/drawing/2014/main" id="{FA66E79E-10AE-7510-0D04-D6AD1F57FC88}"/>
              </a:ext>
            </a:extLst>
          </p:cNvPr>
          <p:cNvSpPr/>
          <p:nvPr/>
        </p:nvSpPr>
        <p:spPr>
          <a:xfrm>
            <a:off x="428367" y="4691105"/>
            <a:ext cx="5218670" cy="3302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000000">
                <a:alpha val="3922"/>
              </a:srgbClr>
            </a:outerShdw>
          </a:effectLst>
        </p:spPr>
      </p:sp>
      <p:sp>
        <p:nvSpPr>
          <p:cNvPr id="41" name="Text 3">
            <a:extLst>
              <a:ext uri="{FF2B5EF4-FFF2-40B4-BE49-F238E27FC236}">
                <a16:creationId xmlns:a16="http://schemas.microsoft.com/office/drawing/2014/main" id="{0DE33AFF-849F-ABB4-6060-24561DFCF0E8}"/>
              </a:ext>
            </a:extLst>
          </p:cNvPr>
          <p:cNvSpPr/>
          <p:nvPr/>
        </p:nvSpPr>
        <p:spPr>
          <a:xfrm>
            <a:off x="728362" y="4729205"/>
            <a:ext cx="381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b="1" dirty="0" err="1">
                <a:solidFill>
                  <a:srgbClr val="1E3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Distribusi</a:t>
            </a:r>
            <a:r>
              <a:rPr lang="en-US" sz="1400" b="1" dirty="0">
                <a:solidFill>
                  <a:srgbClr val="1E3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r>
              <a:rPr lang="id-ID" sz="1400" b="1" dirty="0" err="1">
                <a:solidFill>
                  <a:srgbClr val="1E3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Balance</a:t>
            </a:r>
            <a:r>
              <a:rPr lang="id-ID" sz="1400" b="1" dirty="0">
                <a:solidFill>
                  <a:srgbClr val="1E3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(Saldo)</a:t>
            </a:r>
            <a:endParaRPr lang="en-US" sz="1400" dirty="0"/>
          </a:p>
        </p:txBody>
      </p:sp>
      <p:sp>
        <p:nvSpPr>
          <p:cNvPr id="43" name="Shape 4">
            <a:extLst>
              <a:ext uri="{FF2B5EF4-FFF2-40B4-BE49-F238E27FC236}">
                <a16:creationId xmlns:a16="http://schemas.microsoft.com/office/drawing/2014/main" id="{974D786F-A008-9BF3-28CE-F7DF98D8F856}"/>
              </a:ext>
            </a:extLst>
          </p:cNvPr>
          <p:cNvSpPr/>
          <p:nvPr/>
        </p:nvSpPr>
        <p:spPr>
          <a:xfrm>
            <a:off x="5751530" y="4691105"/>
            <a:ext cx="5094000" cy="3302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000000">
                <a:alpha val="3922"/>
              </a:srgbClr>
            </a:outerShdw>
          </a:effectLst>
        </p:spPr>
      </p:sp>
      <p:sp>
        <p:nvSpPr>
          <p:cNvPr id="45" name="Text 5">
            <a:extLst>
              <a:ext uri="{FF2B5EF4-FFF2-40B4-BE49-F238E27FC236}">
                <a16:creationId xmlns:a16="http://schemas.microsoft.com/office/drawing/2014/main" id="{77FA4913-6A46-99FF-285D-B9F127BDB2BC}"/>
              </a:ext>
            </a:extLst>
          </p:cNvPr>
          <p:cNvSpPr/>
          <p:nvPr/>
        </p:nvSpPr>
        <p:spPr>
          <a:xfrm>
            <a:off x="5929870" y="4748083"/>
            <a:ext cx="381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 err="1">
                <a:solidFill>
                  <a:srgbClr val="1E3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Distribusi</a:t>
            </a:r>
            <a:r>
              <a:rPr lang="en-US" sz="1400" b="1" dirty="0">
                <a:solidFill>
                  <a:srgbClr val="1E3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r>
              <a:rPr lang="en-US" sz="1400" b="1" dirty="0" err="1">
                <a:solidFill>
                  <a:srgbClr val="1E3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NumOfProducts</a:t>
            </a:r>
            <a:endParaRPr lang="en-US" sz="1400" dirty="0"/>
          </a:p>
        </p:txBody>
      </p:sp>
      <p:sp>
        <p:nvSpPr>
          <p:cNvPr id="49" name="Shape 4">
            <a:extLst>
              <a:ext uri="{FF2B5EF4-FFF2-40B4-BE49-F238E27FC236}">
                <a16:creationId xmlns:a16="http://schemas.microsoft.com/office/drawing/2014/main" id="{D19D164A-B21E-8774-1C2E-E948FA481C16}"/>
              </a:ext>
            </a:extLst>
          </p:cNvPr>
          <p:cNvSpPr/>
          <p:nvPr/>
        </p:nvSpPr>
        <p:spPr>
          <a:xfrm>
            <a:off x="10950023" y="4691105"/>
            <a:ext cx="5094000" cy="3302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000000">
                <a:alpha val="3922"/>
              </a:srgbClr>
            </a:outerShdw>
          </a:effectLst>
        </p:spPr>
      </p:sp>
      <p:sp>
        <p:nvSpPr>
          <p:cNvPr id="51" name="Text 9">
            <a:extLst>
              <a:ext uri="{FF2B5EF4-FFF2-40B4-BE49-F238E27FC236}">
                <a16:creationId xmlns:a16="http://schemas.microsoft.com/office/drawing/2014/main" id="{75DE8851-FF99-37C7-DEE1-510F1E6F44CF}"/>
              </a:ext>
            </a:extLst>
          </p:cNvPr>
          <p:cNvSpPr/>
          <p:nvPr/>
        </p:nvSpPr>
        <p:spPr>
          <a:xfrm>
            <a:off x="11082638" y="4748083"/>
            <a:ext cx="4445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b="1" dirty="0" err="1">
                <a:solidFill>
                  <a:srgbClr val="1E3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Distribusi</a:t>
            </a:r>
            <a:r>
              <a:rPr lang="en-US" sz="1400" b="1" dirty="0">
                <a:solidFill>
                  <a:srgbClr val="1E3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r>
              <a:rPr lang="id-ID" sz="1400" b="1" dirty="0" err="1">
                <a:solidFill>
                  <a:srgbClr val="1E3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EstimatedSalary</a:t>
            </a:r>
            <a:endParaRPr lang="en-US" sz="1400" dirty="0"/>
          </a:p>
        </p:txBody>
      </p:sp>
      <p:pic>
        <p:nvPicPr>
          <p:cNvPr id="54" name="Gambar 53">
            <a:extLst>
              <a:ext uri="{FF2B5EF4-FFF2-40B4-BE49-F238E27FC236}">
                <a16:creationId xmlns:a16="http://schemas.microsoft.com/office/drawing/2014/main" id="{0B785C43-4276-9AAD-6CE1-E84E09D659C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54497" y="1741273"/>
            <a:ext cx="4882973" cy="2764800"/>
          </a:xfrm>
          <a:prstGeom prst="rect">
            <a:avLst/>
          </a:prstGeom>
        </p:spPr>
      </p:pic>
      <p:pic>
        <p:nvPicPr>
          <p:cNvPr id="55" name="Gambar 54">
            <a:extLst>
              <a:ext uri="{FF2B5EF4-FFF2-40B4-BE49-F238E27FC236}">
                <a16:creationId xmlns:a16="http://schemas.microsoft.com/office/drawing/2014/main" id="{3C2539F2-A489-815C-3B1A-0A7D2F86691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2999" y="5214895"/>
            <a:ext cx="4945303" cy="2764800"/>
          </a:xfrm>
          <a:prstGeom prst="rect">
            <a:avLst/>
          </a:prstGeom>
        </p:spPr>
      </p:pic>
      <p:pic>
        <p:nvPicPr>
          <p:cNvPr id="56" name="Gambar 55">
            <a:extLst>
              <a:ext uri="{FF2B5EF4-FFF2-40B4-BE49-F238E27FC236}">
                <a16:creationId xmlns:a16="http://schemas.microsoft.com/office/drawing/2014/main" id="{405672CC-100E-BAE5-9E10-180269ACF66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40326" y="5162719"/>
            <a:ext cx="4946795" cy="2764800"/>
          </a:xfrm>
          <a:prstGeom prst="rect">
            <a:avLst/>
          </a:prstGeom>
        </p:spPr>
      </p:pic>
      <p:pic>
        <p:nvPicPr>
          <p:cNvPr id="57" name="Gambar 56">
            <a:extLst>
              <a:ext uri="{FF2B5EF4-FFF2-40B4-BE49-F238E27FC236}">
                <a16:creationId xmlns:a16="http://schemas.microsoft.com/office/drawing/2014/main" id="{EF778D5E-E958-940E-F607-A10846DDD4A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983293" y="5174392"/>
            <a:ext cx="4881214" cy="27648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3F90F9B-7AB5-C05C-CB6D-0E054B96E2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9E50A19C-ABE1-DD85-360B-453B51AD1F64}"/>
              </a:ext>
            </a:extLst>
          </p:cNvPr>
          <p:cNvSpPr/>
          <p:nvPr/>
        </p:nvSpPr>
        <p:spPr>
          <a:xfrm>
            <a:off x="762000" y="444500"/>
            <a:ext cx="8890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800" b="1" dirty="0">
                <a:solidFill>
                  <a:srgbClr val="1E3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Boxplot &amp; Outlier Analysis</a:t>
            </a:r>
            <a:endParaRPr lang="en-US" sz="2800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36041E75-D3FC-D896-C1F7-992666DEB50F}"/>
              </a:ext>
            </a:extLst>
          </p:cNvPr>
          <p:cNvSpPr/>
          <p:nvPr/>
        </p:nvSpPr>
        <p:spPr>
          <a:xfrm>
            <a:off x="762000" y="1041400"/>
            <a:ext cx="762000" cy="50800"/>
          </a:xfrm>
          <a:prstGeom prst="rect">
            <a:avLst/>
          </a:prstGeom>
          <a:solidFill>
            <a:srgbClr val="E891A0"/>
          </a:solidFill>
          <a:ln/>
        </p:spPr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3E016311-074A-4A4E-3116-328CD10B3B4F}"/>
              </a:ext>
            </a:extLst>
          </p:cNvPr>
          <p:cNvSpPr/>
          <p:nvPr/>
        </p:nvSpPr>
        <p:spPr>
          <a:xfrm>
            <a:off x="762000" y="1270000"/>
            <a:ext cx="14732000" cy="1016000"/>
          </a:xfrm>
          <a:prstGeom prst="roundRect">
            <a:avLst>
              <a:gd name="adj" fmla="val 5000"/>
            </a:avLst>
          </a:prstGeom>
          <a:solidFill>
            <a:srgbClr val="1E3A5F"/>
          </a:solidFill>
          <a:ln/>
          <a:effectLst>
            <a:outerShdw blurRad="101600" dist="25400" dir="5400000" algn="bl" rotWithShape="0">
              <a:srgbClr val="000000">
                <a:alpha val="8235"/>
              </a:srgbClr>
            </a:outerShdw>
          </a:effectLst>
        </p:spPr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1066B2A1-DE45-B16C-FADC-B0FF13451537}"/>
              </a:ext>
            </a:extLst>
          </p:cNvPr>
          <p:cNvSpPr/>
          <p:nvPr/>
        </p:nvSpPr>
        <p:spPr>
          <a:xfrm>
            <a:off x="1143000" y="1397000"/>
            <a:ext cx="13970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E891A0"/>
                </a:solidFill>
                <a:latin typeface="Quattrocento Sans" panose="020B0502050000020003" pitchFamily="34" charset="0"/>
                <a:ea typeface="Quattrocento Sans" pitchFamily="34" charset="-122"/>
                <a:cs typeface="Quattrocento Sans" pitchFamily="34" charset="-120"/>
              </a:rPr>
              <a:t>Key Finding:</a:t>
            </a:r>
            <a:r>
              <a:rPr lang="en-US" sz="1600" dirty="0">
                <a:solidFill>
                  <a:srgbClr val="FFFFFF"/>
                </a:solidFill>
                <a:latin typeface="Quattrocento Sans" panose="020B0502050000020003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r>
              <a:rPr lang="id-ID" sz="1600" b="1" dirty="0">
                <a:solidFill>
                  <a:schemeClr val="bg1"/>
                </a:solidFill>
                <a:latin typeface="Quattrocento Sans" panose="020B0502050000020003" pitchFamily="34" charset="0"/>
              </a:rPr>
              <a:t>Age</a:t>
            </a:r>
            <a:r>
              <a:rPr lang="id-ID" sz="1600" dirty="0">
                <a:solidFill>
                  <a:schemeClr val="bg1"/>
                </a:solidFill>
                <a:latin typeface="Quattrocento Sans" panose="020B0502050000020003" pitchFamily="34" charset="0"/>
              </a:rPr>
              <a:t> merupakan variabel numerik yang paling diskriminatif terhadap status </a:t>
            </a:r>
            <a:r>
              <a:rPr lang="id-ID" sz="1600" dirty="0" err="1">
                <a:solidFill>
                  <a:schemeClr val="bg1"/>
                </a:solidFill>
                <a:latin typeface="Quattrocento Sans" panose="020B0502050000020003" pitchFamily="34" charset="0"/>
              </a:rPr>
              <a:t>churn</a:t>
            </a:r>
            <a:r>
              <a:rPr lang="id-ID" sz="1600" dirty="0">
                <a:solidFill>
                  <a:schemeClr val="bg1"/>
                </a:solidFill>
                <a:latin typeface="Quattrocento Sans" panose="020B0502050000020003" pitchFamily="34" charset="0"/>
              </a:rPr>
              <a:t>, sedangkan </a:t>
            </a:r>
            <a:r>
              <a:rPr lang="id-ID" sz="1600" b="1" dirty="0" err="1">
                <a:solidFill>
                  <a:schemeClr val="bg1"/>
                </a:solidFill>
                <a:latin typeface="Quattrocento Sans" panose="020B0502050000020003" pitchFamily="34" charset="0"/>
              </a:rPr>
              <a:t>CreditScore</a:t>
            </a:r>
            <a:r>
              <a:rPr lang="id-ID" sz="1600" dirty="0">
                <a:solidFill>
                  <a:schemeClr val="bg1"/>
                </a:solidFill>
                <a:latin typeface="Quattrocento Sans" panose="020B0502050000020003" pitchFamily="34" charset="0"/>
              </a:rPr>
              <a:t> dan </a:t>
            </a:r>
            <a:r>
              <a:rPr lang="id-ID" sz="1600" b="1" dirty="0" err="1">
                <a:solidFill>
                  <a:schemeClr val="bg1"/>
                </a:solidFill>
                <a:latin typeface="Quattrocento Sans" panose="020B0502050000020003" pitchFamily="34" charset="0"/>
              </a:rPr>
              <a:t>Tenure</a:t>
            </a:r>
            <a:r>
              <a:rPr lang="id-ID" sz="1600" dirty="0">
                <a:solidFill>
                  <a:schemeClr val="bg1"/>
                </a:solidFill>
                <a:latin typeface="Quattrocento Sans" panose="020B0502050000020003" pitchFamily="34" charset="0"/>
              </a:rPr>
              <a:t> memiliki distribusi yang relatif serupa antara pelanggan </a:t>
            </a:r>
            <a:r>
              <a:rPr lang="id-ID" sz="1600" dirty="0" err="1">
                <a:solidFill>
                  <a:schemeClr val="bg1"/>
                </a:solidFill>
                <a:latin typeface="Quattrocento Sans" panose="020B0502050000020003" pitchFamily="34" charset="0"/>
              </a:rPr>
              <a:t>Churn</a:t>
            </a:r>
            <a:r>
              <a:rPr lang="id-ID" sz="1600" dirty="0">
                <a:solidFill>
                  <a:schemeClr val="bg1"/>
                </a:solidFill>
                <a:latin typeface="Quattrocento Sans" panose="020B0502050000020003" pitchFamily="34" charset="0"/>
              </a:rPr>
              <a:t> dan Non-</a:t>
            </a:r>
            <a:r>
              <a:rPr lang="id-ID" sz="1600" dirty="0" err="1">
                <a:solidFill>
                  <a:schemeClr val="bg1"/>
                </a:solidFill>
                <a:latin typeface="Quattrocento Sans" panose="020B0502050000020003" pitchFamily="34" charset="0"/>
              </a:rPr>
              <a:t>churn</a:t>
            </a:r>
            <a:endParaRPr lang="en-US" sz="1600" dirty="0">
              <a:solidFill>
                <a:schemeClr val="bg1"/>
              </a:solidFill>
              <a:latin typeface="Quattrocento Sans" panose="020B0502050000020003" pitchFamily="34" charset="0"/>
            </a:endParaRPr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27C4F39B-7C7F-5D12-7402-341612E6E6CF}"/>
              </a:ext>
            </a:extLst>
          </p:cNvPr>
          <p:cNvSpPr/>
          <p:nvPr/>
        </p:nvSpPr>
        <p:spPr>
          <a:xfrm>
            <a:off x="762000" y="2540000"/>
            <a:ext cx="4699000" cy="3556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000000">
                <a:alpha val="3922"/>
              </a:srgbClr>
            </a:outerShdw>
          </a:effectLst>
        </p:spPr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355A3F75-8EB6-C915-A77D-FBAA91E42194}"/>
              </a:ext>
            </a:extLst>
          </p:cNvPr>
          <p:cNvSpPr/>
          <p:nvPr/>
        </p:nvSpPr>
        <p:spPr>
          <a:xfrm>
            <a:off x="1016000" y="2667000"/>
            <a:ext cx="381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300" b="1" dirty="0">
                <a:solidFill>
                  <a:srgbClr val="1E3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Boxplot: Age</a:t>
            </a:r>
            <a:endParaRPr lang="en-US" sz="1300" dirty="0"/>
          </a:p>
        </p:txBody>
      </p:sp>
      <p:sp>
        <p:nvSpPr>
          <p:cNvPr id="9" name="Shape 6">
            <a:extLst>
              <a:ext uri="{FF2B5EF4-FFF2-40B4-BE49-F238E27FC236}">
                <a16:creationId xmlns:a16="http://schemas.microsoft.com/office/drawing/2014/main" id="{919B1780-8952-94D4-1D06-54D8E2BFBC41}"/>
              </a:ext>
            </a:extLst>
          </p:cNvPr>
          <p:cNvSpPr/>
          <p:nvPr/>
        </p:nvSpPr>
        <p:spPr>
          <a:xfrm>
            <a:off x="5778500" y="2540000"/>
            <a:ext cx="4699000" cy="3556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000000">
                <a:alpha val="3922"/>
              </a:srgbClr>
            </a:outerShdw>
          </a:effectLst>
        </p:spPr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99950B86-7E47-FB9E-08F3-FCD9979554A8}"/>
              </a:ext>
            </a:extLst>
          </p:cNvPr>
          <p:cNvSpPr/>
          <p:nvPr/>
        </p:nvSpPr>
        <p:spPr>
          <a:xfrm>
            <a:off x="6032500" y="2667000"/>
            <a:ext cx="381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300" b="1" dirty="0">
                <a:solidFill>
                  <a:srgbClr val="1E3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Boxplot: CreditScore</a:t>
            </a:r>
            <a:endParaRPr lang="en-US" sz="1300" dirty="0"/>
          </a:p>
        </p:txBody>
      </p:sp>
      <p:sp>
        <p:nvSpPr>
          <p:cNvPr id="12" name="Shape 8">
            <a:extLst>
              <a:ext uri="{FF2B5EF4-FFF2-40B4-BE49-F238E27FC236}">
                <a16:creationId xmlns:a16="http://schemas.microsoft.com/office/drawing/2014/main" id="{CE631BD9-B69B-D1C8-1D05-DC28FB0B6967}"/>
              </a:ext>
            </a:extLst>
          </p:cNvPr>
          <p:cNvSpPr/>
          <p:nvPr/>
        </p:nvSpPr>
        <p:spPr>
          <a:xfrm>
            <a:off x="10795000" y="2540000"/>
            <a:ext cx="4699000" cy="3556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000000">
                <a:alpha val="3922"/>
              </a:srgbClr>
            </a:outerShdw>
          </a:effectLst>
        </p:spPr>
      </p:sp>
      <p:sp>
        <p:nvSpPr>
          <p:cNvPr id="13" name="Text 9">
            <a:extLst>
              <a:ext uri="{FF2B5EF4-FFF2-40B4-BE49-F238E27FC236}">
                <a16:creationId xmlns:a16="http://schemas.microsoft.com/office/drawing/2014/main" id="{A9359245-85CA-9B69-833C-A4F0899BDEA3}"/>
              </a:ext>
            </a:extLst>
          </p:cNvPr>
          <p:cNvSpPr/>
          <p:nvPr/>
        </p:nvSpPr>
        <p:spPr>
          <a:xfrm>
            <a:off x="11049000" y="2667000"/>
            <a:ext cx="381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300" b="1" dirty="0">
                <a:solidFill>
                  <a:srgbClr val="1E3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Boxplot: </a:t>
            </a:r>
            <a:r>
              <a:rPr lang="id-ID" sz="1300" b="1" dirty="0" err="1">
                <a:solidFill>
                  <a:srgbClr val="1E3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Tenure</a:t>
            </a:r>
            <a:endParaRPr lang="en-US" sz="1300" dirty="0"/>
          </a:p>
        </p:txBody>
      </p:sp>
      <p:sp>
        <p:nvSpPr>
          <p:cNvPr id="15" name="Shape 10">
            <a:extLst>
              <a:ext uri="{FF2B5EF4-FFF2-40B4-BE49-F238E27FC236}">
                <a16:creationId xmlns:a16="http://schemas.microsoft.com/office/drawing/2014/main" id="{A93320F8-C431-3A25-7E4D-3FB2AB30794F}"/>
              </a:ext>
            </a:extLst>
          </p:cNvPr>
          <p:cNvSpPr/>
          <p:nvPr/>
        </p:nvSpPr>
        <p:spPr>
          <a:xfrm>
            <a:off x="762000" y="6413500"/>
            <a:ext cx="14732000" cy="1778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000000">
                <a:alpha val="3922"/>
              </a:srgbClr>
            </a:outerShdw>
          </a:effectLst>
        </p:spPr>
        <p:txBody>
          <a:bodyPr/>
          <a:lstStyle/>
          <a:p>
            <a:endParaRPr lang="id-ID" dirty="0"/>
          </a:p>
        </p:txBody>
      </p:sp>
      <p:sp>
        <p:nvSpPr>
          <p:cNvPr id="16" name="Text 11">
            <a:extLst>
              <a:ext uri="{FF2B5EF4-FFF2-40B4-BE49-F238E27FC236}">
                <a16:creationId xmlns:a16="http://schemas.microsoft.com/office/drawing/2014/main" id="{57D9F1F4-CA3B-CA69-96F1-17A0752B8C69}"/>
              </a:ext>
            </a:extLst>
          </p:cNvPr>
          <p:cNvSpPr/>
          <p:nvPr/>
        </p:nvSpPr>
        <p:spPr>
          <a:xfrm>
            <a:off x="1143000" y="6540500"/>
            <a:ext cx="13970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id-ID" sz="1600" b="1" dirty="0" err="1">
                <a:solidFill>
                  <a:schemeClr val="accent1">
                    <a:lumMod val="50000"/>
                  </a:schemeClr>
                </a:solidFill>
                <a:latin typeface="Quattrocento Sans" panose="020B0502050000020003" pitchFamily="34" charset="0"/>
              </a:rPr>
              <a:t>CreditScore</a:t>
            </a:r>
            <a:r>
              <a:rPr lang="id-ID" sz="1600" dirty="0">
                <a:latin typeface="Quattrocento Sans" panose="020B0502050000020003" pitchFamily="34" charset="0"/>
              </a:rPr>
              <a:t>: Median dan sebaran </a:t>
            </a:r>
            <a:r>
              <a:rPr lang="id-ID" sz="1600" dirty="0" err="1">
                <a:solidFill>
                  <a:srgbClr val="FF3399"/>
                </a:solidFill>
                <a:latin typeface="Quattrocento Sans" panose="020B0502050000020003" pitchFamily="34" charset="0"/>
              </a:rPr>
              <a:t>Churn</a:t>
            </a:r>
            <a:r>
              <a:rPr lang="id-ID" sz="1600" dirty="0">
                <a:latin typeface="Quattrocento Sans" panose="020B0502050000020003" pitchFamily="34" charset="0"/>
              </a:rPr>
              <a:t> dan </a:t>
            </a:r>
            <a:r>
              <a:rPr lang="id-ID" sz="1600" dirty="0">
                <a:solidFill>
                  <a:srgbClr val="FF3399"/>
                </a:solidFill>
                <a:latin typeface="Quattrocento Sans" panose="020B0502050000020003" pitchFamily="34" charset="0"/>
              </a:rPr>
              <a:t>Non-</a:t>
            </a:r>
            <a:r>
              <a:rPr lang="id-ID" sz="1600" dirty="0" err="1">
                <a:solidFill>
                  <a:srgbClr val="FF3399"/>
                </a:solidFill>
                <a:latin typeface="Quattrocento Sans" panose="020B0502050000020003" pitchFamily="34" charset="0"/>
              </a:rPr>
              <a:t>churn</a:t>
            </a:r>
            <a:r>
              <a:rPr lang="id-ID" sz="1600" dirty="0">
                <a:latin typeface="Quattrocento Sans" panose="020B0502050000020003" pitchFamily="34" charset="0"/>
              </a:rPr>
              <a:t> hampir sama (≈650) atau </a:t>
            </a:r>
            <a:r>
              <a:rPr lang="id-ID" sz="1600" dirty="0" err="1">
                <a:latin typeface="Quattrocento Sans" panose="020B0502050000020003" pitchFamily="34" charset="0"/>
              </a:rPr>
              <a:t>overlap</a:t>
            </a:r>
            <a:endParaRPr lang="id-ID" sz="1600" dirty="0">
              <a:latin typeface="Quattrocento Sans" panose="020B0502050000020003" pitchFamily="34" charset="0"/>
            </a:endParaRPr>
          </a:p>
          <a:p>
            <a:pPr>
              <a:lnSpc>
                <a:spcPct val="160000"/>
              </a:lnSpc>
            </a:pPr>
            <a:r>
              <a:rPr lang="id-ID" sz="1600" b="1" dirty="0">
                <a:solidFill>
                  <a:schemeClr val="accent1">
                    <a:lumMod val="50000"/>
                  </a:schemeClr>
                </a:solidFill>
                <a:latin typeface="Quattrocento Sans" panose="020B0502050000020003" pitchFamily="34" charset="0"/>
              </a:rPr>
              <a:t>Age</a:t>
            </a:r>
            <a:r>
              <a:rPr lang="id-ID" sz="1600" dirty="0">
                <a:latin typeface="Quattrocento Sans" panose="020B0502050000020003" pitchFamily="34" charset="0"/>
              </a:rPr>
              <a:t>: Pelanggan yang melakukan </a:t>
            </a:r>
            <a:r>
              <a:rPr lang="id-ID" sz="1600" dirty="0" err="1">
                <a:solidFill>
                  <a:srgbClr val="FF3399"/>
                </a:solidFill>
                <a:latin typeface="Quattrocento Sans" panose="020B0502050000020003" pitchFamily="34" charset="0"/>
              </a:rPr>
              <a:t>churn</a:t>
            </a:r>
            <a:r>
              <a:rPr lang="id-ID" sz="1600" dirty="0">
                <a:latin typeface="Quattrocento Sans" panose="020B0502050000020003" pitchFamily="34" charset="0"/>
              </a:rPr>
              <a:t> cenderung memiliki usia lebih tinggi (median ≈45 tahun) dibandingkan Non-</a:t>
            </a:r>
            <a:r>
              <a:rPr lang="id-ID" sz="1600" dirty="0" err="1">
                <a:latin typeface="Quattrocento Sans" panose="020B0502050000020003" pitchFamily="34" charset="0"/>
              </a:rPr>
              <a:t>churn</a:t>
            </a:r>
            <a:r>
              <a:rPr lang="id-ID" sz="1600" dirty="0">
                <a:latin typeface="Quattrocento Sans" panose="020B0502050000020003" pitchFamily="34" charset="0"/>
              </a:rPr>
              <a:t> (≈35 tahun)</a:t>
            </a:r>
          </a:p>
          <a:p>
            <a:pPr>
              <a:lnSpc>
                <a:spcPct val="160000"/>
              </a:lnSpc>
            </a:pPr>
            <a:r>
              <a:rPr lang="id-ID" sz="1600" b="1" dirty="0" err="1">
                <a:solidFill>
                  <a:schemeClr val="accent1">
                    <a:lumMod val="50000"/>
                  </a:schemeClr>
                </a:solidFill>
                <a:latin typeface="Quattrocento Sans" panose="020B0502050000020003" pitchFamily="34" charset="0"/>
              </a:rPr>
              <a:t>Tenure</a:t>
            </a:r>
            <a:r>
              <a:rPr lang="id-ID" sz="1600" dirty="0">
                <a:latin typeface="Quattrocento Sans" panose="020B0502050000020003" pitchFamily="34" charset="0"/>
              </a:rPr>
              <a:t>: Median kedua kelompok sama (≈5 tahun) dengan distribusi yang saling bertumpang tindih</a:t>
            </a:r>
            <a:endParaRPr lang="en-US" sz="1600" dirty="0">
              <a:latin typeface="Quattrocento Sans" panose="020B0502050000020003" pitchFamily="34" charset="0"/>
            </a:endParaRPr>
          </a:p>
        </p:txBody>
      </p:sp>
      <p:sp>
        <p:nvSpPr>
          <p:cNvPr id="17" name="Shape 12">
            <a:extLst>
              <a:ext uri="{FF2B5EF4-FFF2-40B4-BE49-F238E27FC236}">
                <a16:creationId xmlns:a16="http://schemas.microsoft.com/office/drawing/2014/main" id="{928333B6-2B86-8679-7B30-0F7A39580750}"/>
              </a:ext>
            </a:extLst>
          </p:cNvPr>
          <p:cNvSpPr/>
          <p:nvPr/>
        </p:nvSpPr>
        <p:spPr>
          <a:xfrm>
            <a:off x="0" y="8636000"/>
            <a:ext cx="16256000" cy="5080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8" name="Shape 13">
            <a:extLst>
              <a:ext uri="{FF2B5EF4-FFF2-40B4-BE49-F238E27FC236}">
                <a16:creationId xmlns:a16="http://schemas.microsoft.com/office/drawing/2014/main" id="{506F395C-033D-6D78-3628-D27C60E59B64}"/>
              </a:ext>
            </a:extLst>
          </p:cNvPr>
          <p:cNvSpPr/>
          <p:nvPr/>
        </p:nvSpPr>
        <p:spPr>
          <a:xfrm>
            <a:off x="5422900" y="8636000"/>
            <a:ext cx="5410200" cy="508000"/>
          </a:xfrm>
          <a:prstGeom prst="rect">
            <a:avLst/>
          </a:prstGeom>
          <a:solidFill>
            <a:srgbClr val="FFFFFF">
              <a:alpha val="14510"/>
            </a:srgbClr>
          </a:solidFill>
          <a:ln/>
        </p:spPr>
      </p:sp>
      <p:sp>
        <p:nvSpPr>
          <p:cNvPr id="19" name="Text 14">
            <a:extLst>
              <a:ext uri="{FF2B5EF4-FFF2-40B4-BE49-F238E27FC236}">
                <a16:creationId xmlns:a16="http://schemas.microsoft.com/office/drawing/2014/main" id="{17F6AADF-7F04-3304-8727-9170ADF166C5}"/>
              </a:ext>
            </a:extLst>
          </p:cNvPr>
          <p:cNvSpPr/>
          <p:nvPr/>
        </p:nvSpPr>
        <p:spPr>
          <a:xfrm>
            <a:off x="127000" y="8712200"/>
            <a:ext cx="51689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Bab I - Pendahuluan</a:t>
            </a:r>
            <a:endParaRPr lang="en-US" sz="1200" dirty="0"/>
          </a:p>
        </p:txBody>
      </p:sp>
      <p:sp>
        <p:nvSpPr>
          <p:cNvPr id="20" name="Text 15">
            <a:extLst>
              <a:ext uri="{FF2B5EF4-FFF2-40B4-BE49-F238E27FC236}">
                <a16:creationId xmlns:a16="http://schemas.microsoft.com/office/drawing/2014/main" id="{86AB9E7A-51ED-AB30-6C3F-FCAC2993066A}"/>
              </a:ext>
            </a:extLst>
          </p:cNvPr>
          <p:cNvSpPr/>
          <p:nvPr/>
        </p:nvSpPr>
        <p:spPr>
          <a:xfrm>
            <a:off x="5549900" y="8712200"/>
            <a:ext cx="51689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Bab II - Pembahasan</a:t>
            </a:r>
            <a:endParaRPr lang="en-US" sz="1200" dirty="0"/>
          </a:p>
        </p:txBody>
      </p:sp>
      <p:sp>
        <p:nvSpPr>
          <p:cNvPr id="21" name="Text 16">
            <a:extLst>
              <a:ext uri="{FF2B5EF4-FFF2-40B4-BE49-F238E27FC236}">
                <a16:creationId xmlns:a16="http://schemas.microsoft.com/office/drawing/2014/main" id="{3AD819A6-E93D-3B70-62E5-82BD4A924DD6}"/>
              </a:ext>
            </a:extLst>
          </p:cNvPr>
          <p:cNvSpPr/>
          <p:nvPr/>
        </p:nvSpPr>
        <p:spPr>
          <a:xfrm>
            <a:off x="10845800" y="8712200"/>
            <a:ext cx="51562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Bab III - Penutup</a:t>
            </a:r>
            <a:endParaRPr lang="en-US" sz="1200" dirty="0"/>
          </a:p>
        </p:txBody>
      </p:sp>
      <p:sp>
        <p:nvSpPr>
          <p:cNvPr id="22" name="Text 17">
            <a:extLst>
              <a:ext uri="{FF2B5EF4-FFF2-40B4-BE49-F238E27FC236}">
                <a16:creationId xmlns:a16="http://schemas.microsoft.com/office/drawing/2014/main" id="{49C9008A-F07C-8B96-D420-5C364E884FB8}"/>
              </a:ext>
            </a:extLst>
          </p:cNvPr>
          <p:cNvSpPr/>
          <p:nvPr/>
        </p:nvSpPr>
        <p:spPr>
          <a:xfrm>
            <a:off x="14986000" y="50800"/>
            <a:ext cx="762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200" dirty="0">
                <a:solidFill>
                  <a:srgbClr val="6B7B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12</a:t>
            </a:r>
            <a:endParaRPr lang="en-US" sz="1200" dirty="0"/>
          </a:p>
        </p:txBody>
      </p:sp>
      <p:pic>
        <p:nvPicPr>
          <p:cNvPr id="8" name="Gambar 7">
            <a:extLst>
              <a:ext uri="{FF2B5EF4-FFF2-40B4-BE49-F238E27FC236}">
                <a16:creationId xmlns:a16="http://schemas.microsoft.com/office/drawing/2014/main" id="{0C3C340E-EEAE-C558-5E2F-96968B1E2D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12158" y="3098800"/>
            <a:ext cx="4444383" cy="2830269"/>
          </a:xfrm>
          <a:prstGeom prst="rect">
            <a:avLst/>
          </a:prstGeom>
        </p:spPr>
      </p:pic>
      <p:pic>
        <p:nvPicPr>
          <p:cNvPr id="11" name="Gambar 10">
            <a:extLst>
              <a:ext uri="{FF2B5EF4-FFF2-40B4-BE49-F238E27FC236}">
                <a16:creationId xmlns:a16="http://schemas.microsoft.com/office/drawing/2014/main" id="{575978B9-0EA5-EF11-E1C3-15A6EFF7413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2467" y="3112961"/>
            <a:ext cx="4378066" cy="2829600"/>
          </a:xfrm>
          <a:prstGeom prst="rect">
            <a:avLst/>
          </a:prstGeom>
        </p:spPr>
      </p:pic>
      <p:pic>
        <p:nvPicPr>
          <p:cNvPr id="14" name="Gambar 13">
            <a:extLst>
              <a:ext uri="{FF2B5EF4-FFF2-40B4-BE49-F238E27FC236}">
                <a16:creationId xmlns:a16="http://schemas.microsoft.com/office/drawing/2014/main" id="{D4CA5D86-FE2D-142D-63AD-36FF53561D7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45800" y="3048000"/>
            <a:ext cx="4378744" cy="282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22177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444500"/>
            <a:ext cx="8890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800" b="1" dirty="0">
                <a:solidFill>
                  <a:srgbClr val="1E3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Boxplot &amp; Outlier Analysis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62000" y="1041400"/>
            <a:ext cx="762000" cy="50800"/>
          </a:xfrm>
          <a:prstGeom prst="rect">
            <a:avLst/>
          </a:prstGeom>
          <a:solidFill>
            <a:srgbClr val="E891A0"/>
          </a:solidFill>
          <a:ln/>
        </p:spPr>
      </p:sp>
      <p:sp>
        <p:nvSpPr>
          <p:cNvPr id="4" name="Shape 2"/>
          <p:cNvSpPr/>
          <p:nvPr/>
        </p:nvSpPr>
        <p:spPr>
          <a:xfrm>
            <a:off x="762000" y="1270000"/>
            <a:ext cx="14732000" cy="1016000"/>
          </a:xfrm>
          <a:prstGeom prst="roundRect">
            <a:avLst>
              <a:gd name="adj" fmla="val 5000"/>
            </a:avLst>
          </a:prstGeom>
          <a:solidFill>
            <a:srgbClr val="1E3A5F"/>
          </a:solidFill>
          <a:ln/>
          <a:effectLst>
            <a:outerShdw blurRad="101600" dist="25400" dir="5400000" algn="bl" rotWithShape="0">
              <a:srgbClr val="000000">
                <a:alpha val="8235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143000" y="1397000"/>
            <a:ext cx="13970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50000"/>
              </a:lnSpc>
            </a:pPr>
            <a:r>
              <a:rPr lang="en-US" sz="1600" b="1" dirty="0">
                <a:solidFill>
                  <a:srgbClr val="E891A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Key Finding:</a:t>
            </a: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Variabel </a:t>
            </a:r>
            <a:r>
              <a:rPr lang="en-US" sz="1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Age</a:t>
            </a: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menunjukkan perbedaan distribusi paling jelas antara Churn (median ~45 th) dan Non-Churn (median ~35 th). CreditScore, Tenure, dan EstimatedSalary memiliki distribusi yang relatif serupa pada kedua kelompok.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62000" y="2540000"/>
            <a:ext cx="4699000" cy="3556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000000">
                <a:alpha val="3922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016000" y="2667000"/>
            <a:ext cx="381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300" b="1" dirty="0">
                <a:solidFill>
                  <a:srgbClr val="1E3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Boxplot: </a:t>
            </a:r>
            <a:r>
              <a:rPr lang="id-ID" sz="1300" b="1" dirty="0" err="1">
                <a:solidFill>
                  <a:srgbClr val="1E3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Balance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778500" y="2540000"/>
            <a:ext cx="4699000" cy="3556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000000">
                <a:alpha val="3922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6032500" y="2667000"/>
            <a:ext cx="381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300" b="1" dirty="0">
                <a:solidFill>
                  <a:srgbClr val="1E3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Boxplot: </a:t>
            </a:r>
            <a:r>
              <a:rPr lang="id-ID" sz="1300" b="1" dirty="0" err="1">
                <a:solidFill>
                  <a:srgbClr val="1E3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NumOfProduct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10795000" y="2540000"/>
            <a:ext cx="4699000" cy="3556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000000">
                <a:alpha val="3922"/>
              </a:srgbClr>
            </a:outerShdw>
          </a:effectLst>
        </p:spPr>
      </p:sp>
      <p:sp>
        <p:nvSpPr>
          <p:cNvPr id="13" name="Text 9"/>
          <p:cNvSpPr/>
          <p:nvPr/>
        </p:nvSpPr>
        <p:spPr>
          <a:xfrm>
            <a:off x="11049000" y="2667000"/>
            <a:ext cx="381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300" b="1" dirty="0">
                <a:solidFill>
                  <a:srgbClr val="1E3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Boxplot: </a:t>
            </a:r>
            <a:r>
              <a:rPr lang="id-ID" sz="1300" b="1" dirty="0" err="1">
                <a:solidFill>
                  <a:srgbClr val="1E3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EstimatedSalary</a:t>
            </a:r>
            <a:endParaRPr lang="en-US" sz="1300" dirty="0"/>
          </a:p>
        </p:txBody>
      </p:sp>
      <p:sp>
        <p:nvSpPr>
          <p:cNvPr id="15" name="Shape 10"/>
          <p:cNvSpPr/>
          <p:nvPr/>
        </p:nvSpPr>
        <p:spPr>
          <a:xfrm>
            <a:off x="762000" y="6413500"/>
            <a:ext cx="14732000" cy="1778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000000">
                <a:alpha val="3922"/>
              </a:srgbClr>
            </a:outerShdw>
          </a:effectLst>
        </p:spPr>
        <p:txBody>
          <a:bodyPr/>
          <a:lstStyle/>
          <a:p>
            <a:endParaRPr lang="id-ID" dirty="0"/>
          </a:p>
        </p:txBody>
      </p:sp>
      <p:sp>
        <p:nvSpPr>
          <p:cNvPr id="16" name="Text 11"/>
          <p:cNvSpPr/>
          <p:nvPr/>
        </p:nvSpPr>
        <p:spPr>
          <a:xfrm>
            <a:off x="1143000" y="6540500"/>
            <a:ext cx="13970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id-ID" sz="1600" b="1" dirty="0" err="1">
                <a:solidFill>
                  <a:schemeClr val="accent1">
                    <a:lumMod val="75000"/>
                  </a:schemeClr>
                </a:solidFill>
                <a:latin typeface="Quattrocento Sans" panose="020B0502050000020003" pitchFamily="34" charset="0"/>
              </a:rPr>
              <a:t>Balance</a:t>
            </a:r>
            <a:r>
              <a:rPr lang="id-ID" sz="1600" dirty="0">
                <a:latin typeface="Quattrocento Sans" panose="020B0502050000020003" pitchFamily="34" charset="0"/>
              </a:rPr>
              <a:t>: Median saldo pelanggan </a:t>
            </a:r>
            <a:r>
              <a:rPr lang="id-ID" sz="1600" dirty="0" err="1">
                <a:solidFill>
                  <a:srgbClr val="FF3399"/>
                </a:solidFill>
                <a:latin typeface="Quattrocento Sans" panose="020B0502050000020003" pitchFamily="34" charset="0"/>
              </a:rPr>
              <a:t>Churn</a:t>
            </a:r>
            <a:r>
              <a:rPr lang="id-ID" sz="1600" dirty="0">
                <a:latin typeface="Quattrocento Sans" panose="020B0502050000020003" pitchFamily="34" charset="0"/>
              </a:rPr>
              <a:t> sedikit lebih tinggi dibandingkan </a:t>
            </a:r>
            <a:r>
              <a:rPr lang="id-ID" sz="1600" dirty="0">
                <a:solidFill>
                  <a:srgbClr val="FF3399"/>
                </a:solidFill>
                <a:latin typeface="Quattrocento Sans" panose="020B0502050000020003" pitchFamily="34" charset="0"/>
              </a:rPr>
              <a:t>Non-</a:t>
            </a:r>
            <a:r>
              <a:rPr lang="id-ID" sz="1600" dirty="0" err="1">
                <a:solidFill>
                  <a:srgbClr val="FF3399"/>
                </a:solidFill>
                <a:latin typeface="Quattrocento Sans" panose="020B0502050000020003" pitchFamily="34" charset="0"/>
              </a:rPr>
              <a:t>churn</a:t>
            </a:r>
            <a:endParaRPr lang="id-ID" sz="1600" dirty="0">
              <a:solidFill>
                <a:srgbClr val="FF3399"/>
              </a:solidFill>
              <a:latin typeface="Quattrocento Sans" panose="020B0502050000020003" pitchFamily="34" charset="0"/>
            </a:endParaRPr>
          </a:p>
          <a:p>
            <a:pPr>
              <a:lnSpc>
                <a:spcPct val="160000"/>
              </a:lnSpc>
            </a:pPr>
            <a:r>
              <a:rPr lang="id-ID" sz="1600" b="1" dirty="0" err="1">
                <a:solidFill>
                  <a:schemeClr val="accent1">
                    <a:lumMod val="75000"/>
                  </a:schemeClr>
                </a:solidFill>
                <a:latin typeface="Quattrocento Sans" panose="020B0502050000020003" pitchFamily="34" charset="0"/>
              </a:rPr>
              <a:t>NumOfProducts</a:t>
            </a:r>
            <a:r>
              <a:rPr lang="id-ID" sz="1600" dirty="0">
                <a:solidFill>
                  <a:schemeClr val="accent1">
                    <a:lumMod val="75000"/>
                  </a:schemeClr>
                </a:solidFill>
                <a:latin typeface="Quattrocento Sans" panose="020B0502050000020003" pitchFamily="34" charset="0"/>
              </a:rPr>
              <a:t>: </a:t>
            </a:r>
            <a:r>
              <a:rPr lang="id-ID" sz="1600" dirty="0">
                <a:latin typeface="Quattrocento Sans" panose="020B0502050000020003" pitchFamily="34" charset="0"/>
              </a:rPr>
              <a:t>Mayoritas pelanggan pada kedua kelompok memiliki </a:t>
            </a:r>
            <a:r>
              <a:rPr lang="id-ID" sz="1600" dirty="0" err="1">
                <a:latin typeface="Quattrocento Sans" panose="020B0502050000020003" pitchFamily="34" charset="0"/>
              </a:rPr>
              <a:t>prduk</a:t>
            </a:r>
            <a:r>
              <a:rPr lang="id-ID" sz="1600" dirty="0">
                <a:latin typeface="Quattrocento Sans" panose="020B0502050000020003" pitchFamily="34" charset="0"/>
              </a:rPr>
              <a:t> 1 dan 2 dengan median yang sama</a:t>
            </a:r>
          </a:p>
          <a:p>
            <a:pPr>
              <a:lnSpc>
                <a:spcPct val="160000"/>
              </a:lnSpc>
            </a:pPr>
            <a:r>
              <a:rPr lang="id-ID" sz="1600" b="1" dirty="0" err="1">
                <a:solidFill>
                  <a:schemeClr val="accent1">
                    <a:lumMod val="75000"/>
                  </a:schemeClr>
                </a:solidFill>
                <a:latin typeface="Quattrocento Sans" panose="020B0502050000020003" pitchFamily="34" charset="0"/>
              </a:rPr>
              <a:t>EstimatedSalary</a:t>
            </a:r>
            <a:r>
              <a:rPr lang="id-ID" sz="1600" dirty="0">
                <a:latin typeface="Quattrocento Sans" panose="020B0502050000020003" pitchFamily="34" charset="0"/>
              </a:rPr>
              <a:t>: Distribusi pendapatan pada kelompok </a:t>
            </a:r>
            <a:r>
              <a:rPr lang="id-ID" sz="1600" dirty="0" err="1">
                <a:solidFill>
                  <a:srgbClr val="FF3399"/>
                </a:solidFill>
                <a:latin typeface="Quattrocento Sans" panose="020B0502050000020003" pitchFamily="34" charset="0"/>
              </a:rPr>
              <a:t>Churn</a:t>
            </a:r>
            <a:r>
              <a:rPr lang="id-ID" sz="1600" dirty="0">
                <a:latin typeface="Quattrocento Sans" panose="020B0502050000020003" pitchFamily="34" charset="0"/>
              </a:rPr>
              <a:t> dan </a:t>
            </a:r>
            <a:r>
              <a:rPr lang="id-ID" sz="1600" dirty="0">
                <a:solidFill>
                  <a:srgbClr val="FF3399"/>
                </a:solidFill>
                <a:latin typeface="Quattrocento Sans" panose="020B0502050000020003" pitchFamily="34" charset="0"/>
              </a:rPr>
              <a:t>Non-</a:t>
            </a:r>
            <a:r>
              <a:rPr lang="id-ID" sz="1600" dirty="0" err="1">
                <a:solidFill>
                  <a:srgbClr val="FF3399"/>
                </a:solidFill>
                <a:latin typeface="Quattrocento Sans" panose="020B0502050000020003" pitchFamily="34" charset="0"/>
              </a:rPr>
              <a:t>churn</a:t>
            </a:r>
            <a:r>
              <a:rPr lang="id-ID" sz="1600" dirty="0">
                <a:solidFill>
                  <a:srgbClr val="FF3399"/>
                </a:solidFill>
                <a:latin typeface="Quattrocento Sans" panose="020B0502050000020003" pitchFamily="34" charset="0"/>
              </a:rPr>
              <a:t> </a:t>
            </a:r>
            <a:r>
              <a:rPr lang="id-ID" sz="1600" dirty="0">
                <a:latin typeface="Quattrocento Sans" panose="020B0502050000020003" pitchFamily="34" charset="0"/>
              </a:rPr>
              <a:t>hampir identik</a:t>
            </a:r>
            <a:endParaRPr lang="en-US" sz="1600" dirty="0">
              <a:latin typeface="Quattrocento Sans" panose="020B0502050000020003" pitchFamily="34" charset="0"/>
            </a:endParaRPr>
          </a:p>
        </p:txBody>
      </p:sp>
      <p:sp>
        <p:nvSpPr>
          <p:cNvPr id="17" name="Shape 12"/>
          <p:cNvSpPr/>
          <p:nvPr/>
        </p:nvSpPr>
        <p:spPr>
          <a:xfrm>
            <a:off x="0" y="8636000"/>
            <a:ext cx="16256000" cy="5080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8" name="Shape 13"/>
          <p:cNvSpPr/>
          <p:nvPr/>
        </p:nvSpPr>
        <p:spPr>
          <a:xfrm>
            <a:off x="5422900" y="8636000"/>
            <a:ext cx="5410200" cy="508000"/>
          </a:xfrm>
          <a:prstGeom prst="rect">
            <a:avLst/>
          </a:prstGeom>
          <a:solidFill>
            <a:srgbClr val="FFFFFF">
              <a:alpha val="14510"/>
            </a:srgbClr>
          </a:solidFill>
          <a:ln/>
        </p:spPr>
      </p:sp>
      <p:sp>
        <p:nvSpPr>
          <p:cNvPr id="19" name="Text 14"/>
          <p:cNvSpPr/>
          <p:nvPr/>
        </p:nvSpPr>
        <p:spPr>
          <a:xfrm>
            <a:off x="127000" y="8712200"/>
            <a:ext cx="51689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Bab I - Pendahuluan</a:t>
            </a:r>
            <a:endParaRPr lang="en-US" sz="1200" dirty="0"/>
          </a:p>
        </p:txBody>
      </p:sp>
      <p:sp>
        <p:nvSpPr>
          <p:cNvPr id="20" name="Text 15"/>
          <p:cNvSpPr/>
          <p:nvPr/>
        </p:nvSpPr>
        <p:spPr>
          <a:xfrm>
            <a:off x="5549900" y="8712200"/>
            <a:ext cx="51689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Bab II - Pembahasan</a:t>
            </a:r>
            <a:endParaRPr lang="en-US" sz="1200" dirty="0"/>
          </a:p>
        </p:txBody>
      </p:sp>
      <p:sp>
        <p:nvSpPr>
          <p:cNvPr id="21" name="Text 16"/>
          <p:cNvSpPr/>
          <p:nvPr/>
        </p:nvSpPr>
        <p:spPr>
          <a:xfrm>
            <a:off x="10845800" y="8712200"/>
            <a:ext cx="51562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Bab III - Penutup</a:t>
            </a:r>
            <a:endParaRPr lang="en-US" sz="1200" dirty="0"/>
          </a:p>
        </p:txBody>
      </p:sp>
      <p:sp>
        <p:nvSpPr>
          <p:cNvPr id="22" name="Text 17"/>
          <p:cNvSpPr/>
          <p:nvPr/>
        </p:nvSpPr>
        <p:spPr>
          <a:xfrm>
            <a:off x="14986000" y="50800"/>
            <a:ext cx="762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200" dirty="0">
                <a:solidFill>
                  <a:srgbClr val="6B7B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12</a:t>
            </a:r>
            <a:endParaRPr lang="en-US" sz="1200" dirty="0"/>
          </a:p>
        </p:txBody>
      </p:sp>
      <p:pic>
        <p:nvPicPr>
          <p:cNvPr id="23" name="Gambar 22">
            <a:extLst>
              <a:ext uri="{FF2B5EF4-FFF2-40B4-BE49-F238E27FC236}">
                <a16:creationId xmlns:a16="http://schemas.microsoft.com/office/drawing/2014/main" id="{60FE161B-37D0-FB8B-3A08-92FAF21FBC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834" y="3139400"/>
            <a:ext cx="4622066" cy="2829600"/>
          </a:xfrm>
          <a:prstGeom prst="rect">
            <a:avLst/>
          </a:prstGeom>
        </p:spPr>
      </p:pic>
      <p:pic>
        <p:nvPicPr>
          <p:cNvPr id="24" name="Gambar 23">
            <a:extLst>
              <a:ext uri="{FF2B5EF4-FFF2-40B4-BE49-F238E27FC236}">
                <a16:creationId xmlns:a16="http://schemas.microsoft.com/office/drawing/2014/main" id="{2DC1FF8A-545B-8D88-ECBB-F194991C9BD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27025" y="3098800"/>
            <a:ext cx="4414650" cy="2829600"/>
          </a:xfrm>
          <a:prstGeom prst="rect">
            <a:avLst/>
          </a:prstGeom>
        </p:spPr>
      </p:pic>
      <p:pic>
        <p:nvPicPr>
          <p:cNvPr id="25" name="Gambar 24">
            <a:extLst>
              <a:ext uri="{FF2B5EF4-FFF2-40B4-BE49-F238E27FC236}">
                <a16:creationId xmlns:a16="http://schemas.microsoft.com/office/drawing/2014/main" id="{E5B9E44F-732F-46E2-CD05-33665E85CB8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02663" y="3048000"/>
            <a:ext cx="4623032" cy="28296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BD7BD9C-7C77-CC19-3F69-C30037FF68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69D79660-4F3C-9894-ABC1-972850E317D7}"/>
              </a:ext>
            </a:extLst>
          </p:cNvPr>
          <p:cNvSpPr/>
          <p:nvPr/>
        </p:nvSpPr>
        <p:spPr>
          <a:xfrm>
            <a:off x="762000" y="444500"/>
            <a:ext cx="8890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800" b="1" dirty="0">
                <a:solidFill>
                  <a:srgbClr val="1E3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Analisis Churn Ratio</a:t>
            </a:r>
            <a:endParaRPr lang="en-US" sz="2800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4EFB3566-E4DF-A72A-821E-2901A6E10FEA}"/>
              </a:ext>
            </a:extLst>
          </p:cNvPr>
          <p:cNvSpPr/>
          <p:nvPr/>
        </p:nvSpPr>
        <p:spPr>
          <a:xfrm>
            <a:off x="762000" y="1041400"/>
            <a:ext cx="762000" cy="50800"/>
          </a:xfrm>
          <a:prstGeom prst="rect">
            <a:avLst/>
          </a:prstGeom>
          <a:solidFill>
            <a:srgbClr val="E891A0"/>
          </a:solidFill>
          <a:ln/>
        </p:spPr>
      </p:sp>
      <p:sp>
        <p:nvSpPr>
          <p:cNvPr id="11" name="Text 7">
            <a:extLst>
              <a:ext uri="{FF2B5EF4-FFF2-40B4-BE49-F238E27FC236}">
                <a16:creationId xmlns:a16="http://schemas.microsoft.com/office/drawing/2014/main" id="{71584A9A-515C-C95E-6C29-E95FCF650981}"/>
              </a:ext>
            </a:extLst>
          </p:cNvPr>
          <p:cNvSpPr/>
          <p:nvPr/>
        </p:nvSpPr>
        <p:spPr>
          <a:xfrm>
            <a:off x="4397289" y="787400"/>
            <a:ext cx="4191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endParaRPr lang="en-US" sz="1400" dirty="0"/>
          </a:p>
        </p:txBody>
      </p:sp>
      <p:sp>
        <p:nvSpPr>
          <p:cNvPr id="14" name="Text 9">
            <a:extLst>
              <a:ext uri="{FF2B5EF4-FFF2-40B4-BE49-F238E27FC236}">
                <a16:creationId xmlns:a16="http://schemas.microsoft.com/office/drawing/2014/main" id="{032EE9AF-1AEA-053C-ACB0-C53868FF789D}"/>
              </a:ext>
            </a:extLst>
          </p:cNvPr>
          <p:cNvSpPr/>
          <p:nvPr/>
        </p:nvSpPr>
        <p:spPr>
          <a:xfrm>
            <a:off x="922123" y="1161054"/>
            <a:ext cx="4191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endParaRPr lang="en-US" sz="1400" dirty="0"/>
          </a:p>
        </p:txBody>
      </p:sp>
      <p:sp>
        <p:nvSpPr>
          <p:cNvPr id="19" name="Shape 12">
            <a:extLst>
              <a:ext uri="{FF2B5EF4-FFF2-40B4-BE49-F238E27FC236}">
                <a16:creationId xmlns:a16="http://schemas.microsoft.com/office/drawing/2014/main" id="{ECCC25A5-7C8E-22EA-90E3-BC83595C366B}"/>
              </a:ext>
            </a:extLst>
          </p:cNvPr>
          <p:cNvSpPr/>
          <p:nvPr/>
        </p:nvSpPr>
        <p:spPr>
          <a:xfrm>
            <a:off x="0" y="8636000"/>
            <a:ext cx="16256000" cy="5080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20" name="Shape 13">
            <a:extLst>
              <a:ext uri="{FF2B5EF4-FFF2-40B4-BE49-F238E27FC236}">
                <a16:creationId xmlns:a16="http://schemas.microsoft.com/office/drawing/2014/main" id="{553ADBB0-D613-DC41-C8A4-5A855BF90911}"/>
              </a:ext>
            </a:extLst>
          </p:cNvPr>
          <p:cNvSpPr/>
          <p:nvPr/>
        </p:nvSpPr>
        <p:spPr>
          <a:xfrm>
            <a:off x="5422900" y="8636000"/>
            <a:ext cx="5410200" cy="508000"/>
          </a:xfrm>
          <a:prstGeom prst="rect">
            <a:avLst/>
          </a:prstGeom>
          <a:solidFill>
            <a:srgbClr val="FFFFFF">
              <a:alpha val="14510"/>
            </a:srgbClr>
          </a:solidFill>
          <a:ln/>
        </p:spPr>
      </p:sp>
      <p:sp>
        <p:nvSpPr>
          <p:cNvPr id="21" name="Text 14">
            <a:extLst>
              <a:ext uri="{FF2B5EF4-FFF2-40B4-BE49-F238E27FC236}">
                <a16:creationId xmlns:a16="http://schemas.microsoft.com/office/drawing/2014/main" id="{2A7B0FFA-385F-97BD-C6E8-94B96C371384}"/>
              </a:ext>
            </a:extLst>
          </p:cNvPr>
          <p:cNvSpPr/>
          <p:nvPr/>
        </p:nvSpPr>
        <p:spPr>
          <a:xfrm>
            <a:off x="127000" y="8712200"/>
            <a:ext cx="51689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Bab I - Pendahuluan</a:t>
            </a:r>
            <a:endParaRPr lang="en-US" sz="1200" dirty="0"/>
          </a:p>
        </p:txBody>
      </p:sp>
      <p:sp>
        <p:nvSpPr>
          <p:cNvPr id="22" name="Text 15">
            <a:extLst>
              <a:ext uri="{FF2B5EF4-FFF2-40B4-BE49-F238E27FC236}">
                <a16:creationId xmlns:a16="http://schemas.microsoft.com/office/drawing/2014/main" id="{57C062FB-C3E9-0E30-07A4-EFB21FA47EC1}"/>
              </a:ext>
            </a:extLst>
          </p:cNvPr>
          <p:cNvSpPr/>
          <p:nvPr/>
        </p:nvSpPr>
        <p:spPr>
          <a:xfrm>
            <a:off x="5549900" y="8712200"/>
            <a:ext cx="51689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Bab II - Pembahasan</a:t>
            </a:r>
            <a:endParaRPr lang="en-US" sz="1200" dirty="0"/>
          </a:p>
        </p:txBody>
      </p:sp>
      <p:sp>
        <p:nvSpPr>
          <p:cNvPr id="23" name="Text 16">
            <a:extLst>
              <a:ext uri="{FF2B5EF4-FFF2-40B4-BE49-F238E27FC236}">
                <a16:creationId xmlns:a16="http://schemas.microsoft.com/office/drawing/2014/main" id="{0750B9EC-D8D2-85F3-A436-2519A552A43F}"/>
              </a:ext>
            </a:extLst>
          </p:cNvPr>
          <p:cNvSpPr/>
          <p:nvPr/>
        </p:nvSpPr>
        <p:spPr>
          <a:xfrm>
            <a:off x="10845800" y="8712200"/>
            <a:ext cx="51562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Bab III - Penutup</a:t>
            </a:r>
            <a:endParaRPr lang="en-US" sz="1200" dirty="0"/>
          </a:p>
        </p:txBody>
      </p:sp>
      <p:sp>
        <p:nvSpPr>
          <p:cNvPr id="24" name="Text 17">
            <a:extLst>
              <a:ext uri="{FF2B5EF4-FFF2-40B4-BE49-F238E27FC236}">
                <a16:creationId xmlns:a16="http://schemas.microsoft.com/office/drawing/2014/main" id="{4EDE6EAD-80BA-984A-A542-EC5F768F0D57}"/>
              </a:ext>
            </a:extLst>
          </p:cNvPr>
          <p:cNvSpPr/>
          <p:nvPr/>
        </p:nvSpPr>
        <p:spPr>
          <a:xfrm>
            <a:off x="14986000" y="50800"/>
            <a:ext cx="762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200" dirty="0">
                <a:solidFill>
                  <a:srgbClr val="6B7B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13</a:t>
            </a:r>
            <a:endParaRPr lang="en-US" sz="1200" dirty="0"/>
          </a:p>
        </p:txBody>
      </p:sp>
      <p:sp>
        <p:nvSpPr>
          <p:cNvPr id="27" name="Rectangle 3">
            <a:extLst>
              <a:ext uri="{FF2B5EF4-FFF2-40B4-BE49-F238E27FC236}">
                <a16:creationId xmlns:a16="http://schemas.microsoft.com/office/drawing/2014/main" id="{F5C11237-17A0-F8C8-28C6-54A2295D95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625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id-ID"/>
          </a:p>
        </p:txBody>
      </p:sp>
      <p:sp>
        <p:nvSpPr>
          <p:cNvPr id="37" name="Rectangle 6">
            <a:extLst>
              <a:ext uri="{FF2B5EF4-FFF2-40B4-BE49-F238E27FC236}">
                <a16:creationId xmlns:a16="http://schemas.microsoft.com/office/drawing/2014/main" id="{82BEC077-789E-2930-5D1C-3CB7EE4274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1625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id-ID"/>
          </a:p>
        </p:txBody>
      </p:sp>
      <p:sp>
        <p:nvSpPr>
          <p:cNvPr id="38" name="Rectangle 9">
            <a:extLst>
              <a:ext uri="{FF2B5EF4-FFF2-40B4-BE49-F238E27FC236}">
                <a16:creationId xmlns:a16="http://schemas.microsoft.com/office/drawing/2014/main" id="{14A3B264-EC17-42E6-7C3B-84DF133C3B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304800"/>
            <a:ext cx="1625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id-ID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EF7345E7-E811-4530-D6EB-DA1553DFE3C8}"/>
              </a:ext>
            </a:extLst>
          </p:cNvPr>
          <p:cNvSpPr/>
          <p:nvPr/>
        </p:nvSpPr>
        <p:spPr>
          <a:xfrm>
            <a:off x="5207000" y="1680650"/>
            <a:ext cx="4191000" cy="655629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000000">
                <a:alpha val="3922"/>
              </a:srgbClr>
            </a:outerShdw>
          </a:effectLst>
        </p:spPr>
        <p:txBody>
          <a:bodyPr/>
          <a:lstStyle/>
          <a:p>
            <a:endParaRPr lang="id-ID" dirty="0"/>
          </a:p>
        </p:txBody>
      </p:sp>
      <p:sp>
        <p:nvSpPr>
          <p:cNvPr id="10" name="Text 3">
            <a:extLst>
              <a:ext uri="{FF2B5EF4-FFF2-40B4-BE49-F238E27FC236}">
                <a16:creationId xmlns:a16="http://schemas.microsoft.com/office/drawing/2014/main" id="{703EF74F-BD5D-CA70-EDE6-722DAAF3762D}"/>
              </a:ext>
            </a:extLst>
          </p:cNvPr>
          <p:cNvSpPr/>
          <p:nvPr/>
        </p:nvSpPr>
        <p:spPr>
          <a:xfrm>
            <a:off x="1016000" y="1422400"/>
            <a:ext cx="3937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endParaRPr lang="en-US" sz="1400" dirty="0"/>
          </a:p>
        </p:txBody>
      </p:sp>
      <p:sp>
        <p:nvSpPr>
          <p:cNvPr id="13" name="Shape 4">
            <a:extLst>
              <a:ext uri="{FF2B5EF4-FFF2-40B4-BE49-F238E27FC236}">
                <a16:creationId xmlns:a16="http://schemas.microsoft.com/office/drawing/2014/main" id="{9EEEEAD6-C1E2-15AB-B593-40BE9218978E}"/>
              </a:ext>
            </a:extLst>
          </p:cNvPr>
          <p:cNvSpPr/>
          <p:nvPr/>
        </p:nvSpPr>
        <p:spPr>
          <a:xfrm>
            <a:off x="571744" y="1680650"/>
            <a:ext cx="4191000" cy="655629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000000">
                <a:alpha val="3922"/>
              </a:srgbClr>
            </a:outerShdw>
          </a:effectLst>
        </p:spPr>
      </p:sp>
      <p:sp>
        <p:nvSpPr>
          <p:cNvPr id="16" name="Text 9">
            <a:extLst>
              <a:ext uri="{FF2B5EF4-FFF2-40B4-BE49-F238E27FC236}">
                <a16:creationId xmlns:a16="http://schemas.microsoft.com/office/drawing/2014/main" id="{5775EFBD-6C58-FF1D-53A9-2E7839AC5EC6}"/>
              </a:ext>
            </a:extLst>
          </p:cNvPr>
          <p:cNvSpPr/>
          <p:nvPr/>
        </p:nvSpPr>
        <p:spPr>
          <a:xfrm>
            <a:off x="922123" y="1161054"/>
            <a:ext cx="4191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b="1" dirty="0">
                <a:solidFill>
                  <a:srgbClr val="1E3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Churn Rate by </a:t>
            </a:r>
            <a:r>
              <a:rPr lang="id-ID" sz="1400" b="1" dirty="0" err="1">
                <a:solidFill>
                  <a:srgbClr val="1E3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Geography</a:t>
            </a:r>
            <a:endParaRPr lang="en-US" sz="1400" dirty="0"/>
          </a:p>
        </p:txBody>
      </p:sp>
      <p:pic>
        <p:nvPicPr>
          <p:cNvPr id="25" name="Gambar 24">
            <a:extLst>
              <a:ext uri="{FF2B5EF4-FFF2-40B4-BE49-F238E27FC236}">
                <a16:creationId xmlns:a16="http://schemas.microsoft.com/office/drawing/2014/main" id="{8246FB04-C9C3-5BA3-42CA-52FBAAC305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1459" y="1773092"/>
            <a:ext cx="3638535" cy="3499124"/>
          </a:xfrm>
          <a:prstGeom prst="rect">
            <a:avLst/>
          </a:prstGeom>
          <a:ln>
            <a:noFill/>
          </a:ln>
        </p:spPr>
      </p:pic>
      <p:pic>
        <p:nvPicPr>
          <p:cNvPr id="28" name="Gambar 27">
            <a:extLst>
              <a:ext uri="{FF2B5EF4-FFF2-40B4-BE49-F238E27FC236}">
                <a16:creationId xmlns:a16="http://schemas.microsoft.com/office/drawing/2014/main" id="{FE3D6EEF-AFF7-589F-CCF3-B48A850BEF5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2579" y="5317105"/>
            <a:ext cx="3749330" cy="2874952"/>
          </a:xfrm>
          <a:prstGeom prst="rect">
            <a:avLst/>
          </a:prstGeom>
          <a:ln>
            <a:noFill/>
          </a:ln>
        </p:spPr>
      </p:pic>
      <p:pic>
        <p:nvPicPr>
          <p:cNvPr id="30" name="Gambar 1">
            <a:extLst>
              <a:ext uri="{FF2B5EF4-FFF2-40B4-BE49-F238E27FC236}">
                <a16:creationId xmlns:a16="http://schemas.microsoft.com/office/drawing/2014/main" id="{227D715A-17D8-9F13-E99A-E75A02858C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37327" y="5193164"/>
            <a:ext cx="3480752" cy="30687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" name="Picture 2">
            <a:extLst>
              <a:ext uri="{FF2B5EF4-FFF2-40B4-BE49-F238E27FC236}">
                <a16:creationId xmlns:a16="http://schemas.microsoft.com/office/drawing/2014/main" id="{C3255622-8F18-0273-EDC6-A3E9D08CBC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78499" y="1777554"/>
            <a:ext cx="3255097" cy="34240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9" name="Text 9">
            <a:extLst>
              <a:ext uri="{FF2B5EF4-FFF2-40B4-BE49-F238E27FC236}">
                <a16:creationId xmlns:a16="http://schemas.microsoft.com/office/drawing/2014/main" id="{6BEBB369-BE2D-8DF5-6CA1-D37807CDF758}"/>
              </a:ext>
            </a:extLst>
          </p:cNvPr>
          <p:cNvSpPr/>
          <p:nvPr/>
        </p:nvSpPr>
        <p:spPr>
          <a:xfrm>
            <a:off x="5397256" y="1214504"/>
            <a:ext cx="4191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b="1" dirty="0">
                <a:solidFill>
                  <a:srgbClr val="1E3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Churn Rate by </a:t>
            </a:r>
            <a:r>
              <a:rPr lang="id-ID" sz="1400" b="1" dirty="0">
                <a:solidFill>
                  <a:srgbClr val="1E3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Gender</a:t>
            </a:r>
            <a:endParaRPr lang="en-US" sz="1400" dirty="0"/>
          </a:p>
        </p:txBody>
      </p:sp>
      <p:sp>
        <p:nvSpPr>
          <p:cNvPr id="41" name="Text 5">
            <a:extLst>
              <a:ext uri="{FF2B5EF4-FFF2-40B4-BE49-F238E27FC236}">
                <a16:creationId xmlns:a16="http://schemas.microsoft.com/office/drawing/2014/main" id="{67EE6846-E3D5-30D7-B03A-04167828465D}"/>
              </a:ext>
            </a:extLst>
          </p:cNvPr>
          <p:cNvSpPr/>
          <p:nvPr/>
        </p:nvSpPr>
        <p:spPr>
          <a:xfrm>
            <a:off x="10160000" y="1364695"/>
            <a:ext cx="5080000" cy="26759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endParaRPr lang="en-US" sz="1400" dirty="0"/>
          </a:p>
        </p:txBody>
      </p:sp>
      <p:sp>
        <p:nvSpPr>
          <p:cNvPr id="43" name="Text 11">
            <a:extLst>
              <a:ext uri="{FF2B5EF4-FFF2-40B4-BE49-F238E27FC236}">
                <a16:creationId xmlns:a16="http://schemas.microsoft.com/office/drawing/2014/main" id="{D5805C51-B443-EC3C-12B9-76B5E42D360B}"/>
              </a:ext>
            </a:extLst>
          </p:cNvPr>
          <p:cNvSpPr/>
          <p:nvPr/>
        </p:nvSpPr>
        <p:spPr>
          <a:xfrm>
            <a:off x="11049000" y="4279900"/>
            <a:ext cx="4191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endParaRPr lang="en-US" sz="1400" dirty="0"/>
          </a:p>
        </p:txBody>
      </p:sp>
      <p:sp>
        <p:nvSpPr>
          <p:cNvPr id="45" name="Persegi Panjang: Sudut Lengkung 44">
            <a:extLst>
              <a:ext uri="{FF2B5EF4-FFF2-40B4-BE49-F238E27FC236}">
                <a16:creationId xmlns:a16="http://schemas.microsoft.com/office/drawing/2014/main" id="{81E602CE-6ED9-F50E-B8AE-E9C74EB715F1}"/>
              </a:ext>
            </a:extLst>
          </p:cNvPr>
          <p:cNvSpPr/>
          <p:nvPr/>
        </p:nvSpPr>
        <p:spPr>
          <a:xfrm>
            <a:off x="9652000" y="749300"/>
            <a:ext cx="6153665" cy="4238783"/>
          </a:xfrm>
          <a:prstGeom prst="roundRect">
            <a:avLst>
              <a:gd name="adj" fmla="val 4706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id-ID" sz="1600" b="1" dirty="0" err="1">
                <a:solidFill>
                  <a:schemeClr val="tx1"/>
                </a:solidFill>
                <a:latin typeface="Quattrocento Sans" panose="020B0502050000020003" pitchFamily="34" charset="0"/>
              </a:rPr>
              <a:t>Germany</a:t>
            </a:r>
            <a:r>
              <a:rPr lang="id-ID" sz="1600" dirty="0">
                <a:solidFill>
                  <a:schemeClr val="tx1"/>
                </a:solidFill>
                <a:latin typeface="Quattrocento Sans" panose="020B0502050000020003" pitchFamily="34" charset="0"/>
              </a:rPr>
              <a:t> memiliki jumlah pelanggan </a:t>
            </a:r>
            <a:r>
              <a:rPr lang="id-ID" sz="1600" dirty="0" err="1">
                <a:solidFill>
                  <a:schemeClr val="tx1"/>
                </a:solidFill>
                <a:latin typeface="Quattrocento Sans" panose="020B0502050000020003" pitchFamily="34" charset="0"/>
              </a:rPr>
              <a:t>churn</a:t>
            </a:r>
            <a:r>
              <a:rPr lang="id-ID" sz="1600" dirty="0">
                <a:solidFill>
                  <a:schemeClr val="tx1"/>
                </a:solidFill>
                <a:latin typeface="Quattrocento Sans" panose="020B0502050000020003" pitchFamily="34" charset="0"/>
              </a:rPr>
              <a:t> tertinggi, yaitu </a:t>
            </a:r>
            <a:r>
              <a:rPr lang="id-ID" sz="1600" b="1" dirty="0">
                <a:solidFill>
                  <a:schemeClr val="tx1"/>
                </a:solidFill>
                <a:latin typeface="Quattrocento Sans" panose="020B0502050000020003" pitchFamily="34" charset="0"/>
              </a:rPr>
              <a:t>814 pelanggan (49,71%)</a:t>
            </a:r>
            <a:r>
              <a:rPr lang="id-ID" sz="1600" dirty="0">
                <a:solidFill>
                  <a:schemeClr val="tx1"/>
                </a:solidFill>
                <a:latin typeface="Quattrocento Sans" panose="020B0502050000020003" pitchFamily="34" charset="0"/>
              </a:rPr>
              <a:t>. 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id-ID" sz="1600" b="1" dirty="0" err="1">
                <a:solidFill>
                  <a:schemeClr val="tx1"/>
                </a:solidFill>
                <a:latin typeface="Quattrocento Sans" panose="020B0502050000020003" pitchFamily="34" charset="0"/>
              </a:rPr>
              <a:t>France</a:t>
            </a:r>
            <a:r>
              <a:rPr lang="id-ID" sz="1600" dirty="0">
                <a:solidFill>
                  <a:schemeClr val="tx1"/>
                </a:solidFill>
                <a:latin typeface="Quattrocento Sans" panose="020B0502050000020003" pitchFamily="34" charset="0"/>
              </a:rPr>
              <a:t> memiliki jumlah pelanggan terbanyak, tetapi proporsi </a:t>
            </a:r>
            <a:r>
              <a:rPr lang="id-ID" sz="1600" dirty="0" err="1">
                <a:solidFill>
                  <a:schemeClr val="tx1"/>
                </a:solidFill>
                <a:latin typeface="Quattrocento Sans" panose="020B0502050000020003" pitchFamily="34" charset="0"/>
              </a:rPr>
              <a:t>churn</a:t>
            </a:r>
            <a:r>
              <a:rPr lang="id-ID" sz="1600" dirty="0">
                <a:solidFill>
                  <a:schemeClr val="tx1"/>
                </a:solidFill>
                <a:latin typeface="Quattrocento Sans" panose="020B0502050000020003" pitchFamily="34" charset="0"/>
              </a:rPr>
              <a:t> lebih rendah dibandingkan </a:t>
            </a:r>
            <a:r>
              <a:rPr lang="id-ID" sz="1600" dirty="0" err="1">
                <a:solidFill>
                  <a:schemeClr val="tx1"/>
                </a:solidFill>
                <a:latin typeface="Quattrocento Sans" panose="020B0502050000020003" pitchFamily="34" charset="0"/>
              </a:rPr>
              <a:t>Germany</a:t>
            </a:r>
            <a:r>
              <a:rPr lang="id-ID" sz="1600" dirty="0">
                <a:solidFill>
                  <a:schemeClr val="tx1"/>
                </a:solidFill>
                <a:latin typeface="Quattrocento Sans" panose="020B0502050000020003" pitchFamily="34" charset="0"/>
              </a:rPr>
              <a:t>. 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id-ID" sz="1600" b="1" dirty="0">
                <a:solidFill>
                  <a:schemeClr val="tx1"/>
                </a:solidFill>
                <a:latin typeface="Quattrocento Sans" panose="020B0502050000020003" pitchFamily="34" charset="0"/>
              </a:rPr>
              <a:t>Spain</a:t>
            </a:r>
            <a:r>
              <a:rPr lang="id-ID" sz="1600" dirty="0">
                <a:solidFill>
                  <a:schemeClr val="tx1"/>
                </a:solidFill>
                <a:latin typeface="Quattrocento Sans" panose="020B0502050000020003" pitchFamily="34" charset="0"/>
              </a:rPr>
              <a:t> mencatat </a:t>
            </a:r>
            <a:r>
              <a:rPr lang="id-ID" sz="1600" b="1" dirty="0">
                <a:solidFill>
                  <a:schemeClr val="tx1"/>
                </a:solidFill>
                <a:latin typeface="Quattrocento Sans" panose="020B0502050000020003" pitchFamily="34" charset="0"/>
              </a:rPr>
              <a:t>413 pelanggan </a:t>
            </a:r>
            <a:r>
              <a:rPr lang="id-ID" sz="1600" b="1" dirty="0" err="1">
                <a:solidFill>
                  <a:schemeClr val="tx1"/>
                </a:solidFill>
                <a:latin typeface="Quattrocento Sans" panose="020B0502050000020003" pitchFamily="34" charset="0"/>
              </a:rPr>
              <a:t>churn</a:t>
            </a:r>
            <a:r>
              <a:rPr lang="id-ID" sz="1600" b="1" dirty="0">
                <a:solidFill>
                  <a:schemeClr val="tx1"/>
                </a:solidFill>
                <a:latin typeface="Quattrocento Sans" panose="020B0502050000020003" pitchFamily="34" charset="0"/>
              </a:rPr>
              <a:t> (25,54%)</a:t>
            </a:r>
            <a:r>
              <a:rPr lang="id-ID" sz="1600" dirty="0">
                <a:solidFill>
                  <a:schemeClr val="tx1"/>
                </a:solidFill>
                <a:latin typeface="Quattrocento Sans" panose="020B0502050000020003" pitchFamily="34" charset="0"/>
              </a:rPr>
              <a:t>, lebih rendah dibandingkan </a:t>
            </a:r>
            <a:r>
              <a:rPr lang="id-ID" sz="1600" dirty="0" err="1">
                <a:solidFill>
                  <a:schemeClr val="tx1"/>
                </a:solidFill>
                <a:latin typeface="Quattrocento Sans" panose="020B0502050000020003" pitchFamily="34" charset="0"/>
              </a:rPr>
              <a:t>Germany</a:t>
            </a:r>
            <a:r>
              <a:rPr lang="id-ID" sz="1600" dirty="0">
                <a:solidFill>
                  <a:schemeClr val="tx1"/>
                </a:solidFill>
                <a:latin typeface="Quattrocento Sans" panose="020B0502050000020003" pitchFamily="34" charset="0"/>
              </a:rPr>
              <a:t> dan </a:t>
            </a:r>
            <a:r>
              <a:rPr lang="id-ID" sz="1600" dirty="0" err="1">
                <a:solidFill>
                  <a:schemeClr val="tx1"/>
                </a:solidFill>
                <a:latin typeface="Quattrocento Sans" panose="020B0502050000020003" pitchFamily="34" charset="0"/>
              </a:rPr>
              <a:t>France</a:t>
            </a:r>
            <a:r>
              <a:rPr lang="id-ID" sz="1600" dirty="0">
                <a:solidFill>
                  <a:schemeClr val="tx1"/>
                </a:solidFill>
                <a:latin typeface="Quattrocento Sans" panose="020B0502050000020003" pitchFamily="34" charset="0"/>
              </a:rPr>
              <a:t>. 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id-ID" sz="1600" dirty="0">
                <a:solidFill>
                  <a:schemeClr val="tx1"/>
                </a:solidFill>
                <a:latin typeface="Quattrocento Sans" panose="020B0502050000020003" pitchFamily="34" charset="0"/>
              </a:rPr>
              <a:t>Hasil ini menunjukkan bahwa </a:t>
            </a:r>
            <a:r>
              <a:rPr lang="id-ID" sz="1600" b="1" dirty="0">
                <a:solidFill>
                  <a:schemeClr val="tx1"/>
                </a:solidFill>
                <a:latin typeface="Quattrocento Sans" panose="020B0502050000020003" pitchFamily="34" charset="0"/>
              </a:rPr>
              <a:t>pelanggan di </a:t>
            </a:r>
            <a:r>
              <a:rPr lang="id-ID" sz="1600" b="1" dirty="0" err="1">
                <a:solidFill>
                  <a:schemeClr val="tx1"/>
                </a:solidFill>
                <a:latin typeface="Quattrocento Sans" panose="020B0502050000020003" pitchFamily="34" charset="0"/>
              </a:rPr>
              <a:t>Germany</a:t>
            </a:r>
            <a:r>
              <a:rPr lang="id-ID" sz="1600" b="1" dirty="0">
                <a:solidFill>
                  <a:schemeClr val="tx1"/>
                </a:solidFill>
                <a:latin typeface="Quattrocento Sans" panose="020B0502050000020003" pitchFamily="34" charset="0"/>
              </a:rPr>
              <a:t> memiliki kecenderungan </a:t>
            </a:r>
            <a:r>
              <a:rPr lang="id-ID" sz="1600" b="1" dirty="0" err="1">
                <a:solidFill>
                  <a:schemeClr val="tx1"/>
                </a:solidFill>
                <a:latin typeface="Quattrocento Sans" panose="020B0502050000020003" pitchFamily="34" charset="0"/>
              </a:rPr>
              <a:t>churn</a:t>
            </a:r>
            <a:r>
              <a:rPr lang="id-ID" sz="1600" b="1" dirty="0">
                <a:solidFill>
                  <a:schemeClr val="tx1"/>
                </a:solidFill>
                <a:latin typeface="Quattrocento Sans" panose="020B0502050000020003" pitchFamily="34" charset="0"/>
              </a:rPr>
              <a:t> paling tinggi</a:t>
            </a:r>
            <a:r>
              <a:rPr lang="id-ID" sz="1600" dirty="0">
                <a:solidFill>
                  <a:schemeClr val="tx1"/>
                </a:solidFill>
                <a:latin typeface="Quattrocento Sans" panose="020B0502050000020003" pitchFamily="34" charset="0"/>
              </a:rPr>
              <a:t> dibandingkan negara lainnya. 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br>
              <a:rPr lang="id-ID" sz="1600" dirty="0">
                <a:solidFill>
                  <a:schemeClr val="tx1"/>
                </a:solidFill>
                <a:latin typeface="Quattrocento Sans" panose="020B0502050000020003" pitchFamily="34" charset="0"/>
              </a:rPr>
            </a:br>
            <a:r>
              <a:rPr lang="id-ID" sz="1600" dirty="0" err="1">
                <a:solidFill>
                  <a:schemeClr val="tx1"/>
                </a:solidFill>
                <a:latin typeface="Quattrocento Sans" panose="020B0502050000020003" pitchFamily="34" charset="0"/>
              </a:rPr>
              <a:t>Geography</a:t>
            </a:r>
            <a:r>
              <a:rPr lang="id-ID" sz="1600" dirty="0">
                <a:solidFill>
                  <a:schemeClr val="tx1"/>
                </a:solidFill>
                <a:latin typeface="Quattrocento Sans" panose="020B0502050000020003" pitchFamily="34" charset="0"/>
              </a:rPr>
              <a:t> berpengaruh terhadap </a:t>
            </a:r>
            <a:r>
              <a:rPr lang="id-ID" sz="1600" dirty="0" err="1">
                <a:solidFill>
                  <a:schemeClr val="tx1"/>
                </a:solidFill>
                <a:latin typeface="Quattrocento Sans" panose="020B0502050000020003" pitchFamily="34" charset="0"/>
              </a:rPr>
              <a:t>churn</a:t>
            </a:r>
            <a:r>
              <a:rPr lang="id-ID" sz="1600" dirty="0">
                <a:solidFill>
                  <a:schemeClr val="tx1"/>
                </a:solidFill>
                <a:latin typeface="Quattrocento Sans" panose="020B0502050000020003" pitchFamily="34" charset="0"/>
              </a:rPr>
              <a:t>, dengan </a:t>
            </a:r>
            <a:r>
              <a:rPr lang="id-ID" sz="1600" dirty="0" err="1">
                <a:solidFill>
                  <a:schemeClr val="tx1"/>
                </a:solidFill>
                <a:latin typeface="Quattrocento Sans" panose="020B0502050000020003" pitchFamily="34" charset="0"/>
              </a:rPr>
              <a:t>Germany</a:t>
            </a:r>
            <a:r>
              <a:rPr lang="id-ID" sz="1600" dirty="0">
                <a:solidFill>
                  <a:schemeClr val="tx1"/>
                </a:solidFill>
                <a:latin typeface="Quattrocento Sans" panose="020B0502050000020003" pitchFamily="34" charset="0"/>
              </a:rPr>
              <a:t> menjadi wilayah yang memiliki risiko </a:t>
            </a:r>
            <a:r>
              <a:rPr lang="id-ID" sz="1600" dirty="0" err="1">
                <a:solidFill>
                  <a:schemeClr val="tx1"/>
                </a:solidFill>
                <a:latin typeface="Quattrocento Sans" panose="020B0502050000020003" pitchFamily="34" charset="0"/>
              </a:rPr>
              <a:t>churn</a:t>
            </a:r>
            <a:r>
              <a:rPr lang="id-ID" sz="1600" dirty="0">
                <a:solidFill>
                  <a:schemeClr val="tx1"/>
                </a:solidFill>
                <a:latin typeface="Quattrocento Sans" panose="020B0502050000020003" pitchFamily="34" charset="0"/>
              </a:rPr>
              <a:t> tertinggi meskipun jumlah pelanggannya lebih sedikit dibandingkan </a:t>
            </a:r>
            <a:r>
              <a:rPr lang="id-ID" sz="1600" dirty="0" err="1">
                <a:solidFill>
                  <a:schemeClr val="tx1"/>
                </a:solidFill>
                <a:latin typeface="Quattrocento Sans" panose="020B0502050000020003" pitchFamily="34" charset="0"/>
              </a:rPr>
              <a:t>France</a:t>
            </a:r>
            <a:r>
              <a:rPr lang="id-ID" sz="1600" dirty="0">
                <a:solidFill>
                  <a:schemeClr val="tx1"/>
                </a:solidFill>
                <a:latin typeface="Quattrocento Sans" panose="020B0502050000020003" pitchFamily="34" charset="0"/>
              </a:rPr>
              <a:t>.</a:t>
            </a:r>
          </a:p>
        </p:txBody>
      </p:sp>
      <p:sp>
        <p:nvSpPr>
          <p:cNvPr id="47" name="Persegi Panjang: Sudut Lengkung 46">
            <a:extLst>
              <a:ext uri="{FF2B5EF4-FFF2-40B4-BE49-F238E27FC236}">
                <a16:creationId xmlns:a16="http://schemas.microsoft.com/office/drawing/2014/main" id="{27BC0437-9330-A12A-1353-239E9CE6FC04}"/>
              </a:ext>
            </a:extLst>
          </p:cNvPr>
          <p:cNvSpPr/>
          <p:nvPr/>
        </p:nvSpPr>
        <p:spPr>
          <a:xfrm>
            <a:off x="9632140" y="5080688"/>
            <a:ext cx="6153665" cy="3177329"/>
          </a:xfrm>
          <a:prstGeom prst="roundRect">
            <a:avLst>
              <a:gd name="adj" fmla="val 4706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id-ID" sz="1600" b="1" dirty="0" err="1">
                <a:solidFill>
                  <a:schemeClr val="tx1"/>
                </a:solidFill>
                <a:latin typeface="Quattrocento Sans" panose="020B0502050000020003" pitchFamily="34" charset="0"/>
              </a:rPr>
              <a:t>Female</a:t>
            </a:r>
            <a:r>
              <a:rPr lang="id-ID" sz="1600" dirty="0">
                <a:solidFill>
                  <a:schemeClr val="tx1"/>
                </a:solidFill>
                <a:latin typeface="Quattrocento Sans" panose="020B0502050000020003" pitchFamily="34" charset="0"/>
              </a:rPr>
              <a:t> mendominasi pelanggan </a:t>
            </a:r>
            <a:r>
              <a:rPr lang="id-ID" sz="1600" dirty="0" err="1">
                <a:solidFill>
                  <a:schemeClr val="tx1"/>
                </a:solidFill>
                <a:latin typeface="Quattrocento Sans" panose="020B0502050000020003" pitchFamily="34" charset="0"/>
              </a:rPr>
              <a:t>churn</a:t>
            </a:r>
            <a:r>
              <a:rPr lang="id-ID" sz="1600" dirty="0">
                <a:solidFill>
                  <a:schemeClr val="tx1"/>
                </a:solidFill>
                <a:latin typeface="Quattrocento Sans" panose="020B0502050000020003" pitchFamily="34" charset="0"/>
              </a:rPr>
              <a:t> dengan </a:t>
            </a:r>
            <a:r>
              <a:rPr lang="id-ID" sz="1600" b="1" dirty="0">
                <a:solidFill>
                  <a:schemeClr val="tx1"/>
                </a:solidFill>
                <a:latin typeface="Quattrocento Sans" panose="020B0502050000020003" pitchFamily="34" charset="0"/>
              </a:rPr>
              <a:t>1.139 pelanggan (60,37%)</a:t>
            </a:r>
            <a:r>
              <a:rPr lang="id-ID" sz="1600" dirty="0">
                <a:solidFill>
                  <a:schemeClr val="tx1"/>
                </a:solidFill>
                <a:latin typeface="Quattrocento Sans" panose="020B0502050000020003" pitchFamily="34" charset="0"/>
              </a:rPr>
              <a:t>. 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id-ID" sz="1600" b="1" dirty="0" err="1">
                <a:solidFill>
                  <a:schemeClr val="tx1"/>
                </a:solidFill>
                <a:latin typeface="Quattrocento Sans" panose="020B0502050000020003" pitchFamily="34" charset="0"/>
              </a:rPr>
              <a:t>Churn</a:t>
            </a:r>
            <a:r>
              <a:rPr lang="id-ID" sz="1600" b="1" dirty="0">
                <a:solidFill>
                  <a:schemeClr val="tx1"/>
                </a:solidFill>
                <a:latin typeface="Quattrocento Sans" panose="020B0502050000020003" pitchFamily="34" charset="0"/>
              </a:rPr>
              <a:t> Rate </a:t>
            </a:r>
            <a:r>
              <a:rPr lang="id-ID" sz="1600" b="1" dirty="0" err="1">
                <a:solidFill>
                  <a:schemeClr val="tx1"/>
                </a:solidFill>
                <a:latin typeface="Quattrocento Sans" panose="020B0502050000020003" pitchFamily="34" charset="0"/>
              </a:rPr>
              <a:t>Female</a:t>
            </a:r>
            <a:r>
              <a:rPr lang="id-ID" sz="1600" b="1" dirty="0">
                <a:solidFill>
                  <a:schemeClr val="tx1"/>
                </a:solidFill>
                <a:latin typeface="Quattrocento Sans" panose="020B0502050000020003" pitchFamily="34" charset="0"/>
              </a:rPr>
              <a:t> (25,07%)</a:t>
            </a:r>
            <a:r>
              <a:rPr lang="id-ID" sz="1600" dirty="0">
                <a:solidFill>
                  <a:schemeClr val="tx1"/>
                </a:solidFill>
                <a:latin typeface="Quattrocento Sans" panose="020B0502050000020003" pitchFamily="34" charset="0"/>
              </a:rPr>
              <a:t> lebih tinggi dibandingkan </a:t>
            </a:r>
            <a:r>
              <a:rPr lang="id-ID" sz="1600" b="1" dirty="0">
                <a:solidFill>
                  <a:schemeClr val="tx1"/>
                </a:solidFill>
                <a:latin typeface="Quattrocento Sans" panose="020B0502050000020003" pitchFamily="34" charset="0"/>
              </a:rPr>
              <a:t>Male (16,46%)</a:t>
            </a:r>
            <a:r>
              <a:rPr lang="id-ID" sz="1600" dirty="0">
                <a:solidFill>
                  <a:schemeClr val="tx1"/>
                </a:solidFill>
                <a:latin typeface="Quattrocento Sans" panose="020B0502050000020003" pitchFamily="34" charset="0"/>
              </a:rPr>
              <a:t>. 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id-ID" sz="1600" dirty="0">
                <a:solidFill>
                  <a:schemeClr val="tx1"/>
                </a:solidFill>
                <a:latin typeface="Quattrocento Sans" panose="020B0502050000020003" pitchFamily="34" charset="0"/>
              </a:rPr>
              <a:t>Meskipun jumlah pelanggan </a:t>
            </a:r>
            <a:r>
              <a:rPr lang="id-ID" sz="1600" b="1" dirty="0">
                <a:solidFill>
                  <a:schemeClr val="tx1"/>
                </a:solidFill>
                <a:latin typeface="Quattrocento Sans" panose="020B0502050000020003" pitchFamily="34" charset="0"/>
              </a:rPr>
              <a:t>Male lebih banyak</a:t>
            </a:r>
            <a:r>
              <a:rPr lang="id-ID" sz="1600" dirty="0">
                <a:solidFill>
                  <a:schemeClr val="tx1"/>
                </a:solidFill>
                <a:latin typeface="Quattrocento Sans" panose="020B0502050000020003" pitchFamily="34" charset="0"/>
              </a:rPr>
              <a:t>, jumlah pelanggan yang </a:t>
            </a:r>
            <a:r>
              <a:rPr lang="id-ID" sz="1600" dirty="0" err="1">
                <a:solidFill>
                  <a:schemeClr val="tx1"/>
                </a:solidFill>
                <a:latin typeface="Quattrocento Sans" panose="020B0502050000020003" pitchFamily="34" charset="0"/>
              </a:rPr>
              <a:t>churn</a:t>
            </a:r>
            <a:r>
              <a:rPr lang="id-ID" sz="1600" dirty="0">
                <a:solidFill>
                  <a:schemeClr val="tx1"/>
                </a:solidFill>
                <a:latin typeface="Quattrocento Sans" panose="020B0502050000020003" pitchFamily="34" charset="0"/>
              </a:rPr>
              <a:t> justru lebih tinggi pada </a:t>
            </a:r>
            <a:r>
              <a:rPr lang="id-ID" sz="1600" b="1" dirty="0" err="1">
                <a:solidFill>
                  <a:schemeClr val="tx1"/>
                </a:solidFill>
                <a:latin typeface="Quattrocento Sans" panose="020B0502050000020003" pitchFamily="34" charset="0"/>
              </a:rPr>
              <a:t>Female</a:t>
            </a:r>
            <a:r>
              <a:rPr lang="id-ID" sz="1600" dirty="0">
                <a:solidFill>
                  <a:schemeClr val="tx1"/>
                </a:solidFill>
                <a:latin typeface="Quattrocento Sans" panose="020B0502050000020003" pitchFamily="34" charset="0"/>
              </a:rPr>
              <a:t>. 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id-ID" sz="1600" dirty="0">
                <a:solidFill>
                  <a:schemeClr val="tx1"/>
                </a:solidFill>
                <a:latin typeface="Quattrocento Sans" panose="020B0502050000020003" pitchFamily="34" charset="0"/>
              </a:rPr>
              <a:t>Hal ini menunjukkan bahwa </a:t>
            </a:r>
            <a:r>
              <a:rPr lang="id-ID" sz="1600" b="1" dirty="0">
                <a:solidFill>
                  <a:schemeClr val="tx1"/>
                </a:solidFill>
                <a:latin typeface="Quattrocento Sans" panose="020B0502050000020003" pitchFamily="34" charset="0"/>
              </a:rPr>
              <a:t>pelanggan</a:t>
            </a:r>
            <a:r>
              <a:rPr lang="id-ID" sz="1600" dirty="0">
                <a:solidFill>
                  <a:schemeClr val="tx1"/>
                </a:solidFill>
                <a:latin typeface="Quattrocento Sans" panose="020B0502050000020003" pitchFamily="34" charset="0"/>
              </a:rPr>
              <a:t> </a:t>
            </a:r>
            <a:r>
              <a:rPr lang="id-ID" sz="1600" b="1" dirty="0">
                <a:solidFill>
                  <a:schemeClr val="tx1"/>
                </a:solidFill>
                <a:latin typeface="Quattrocento Sans" panose="020B0502050000020003" pitchFamily="34" charset="0"/>
              </a:rPr>
              <a:t>perempuan</a:t>
            </a:r>
            <a:r>
              <a:rPr lang="id-ID" sz="1600" dirty="0">
                <a:solidFill>
                  <a:schemeClr val="tx1"/>
                </a:solidFill>
                <a:latin typeface="Quattrocento Sans" panose="020B0502050000020003" pitchFamily="34" charset="0"/>
              </a:rPr>
              <a:t> memiliki kecenderungan lebih besar untuk menghentikan layanan. </a:t>
            </a:r>
          </a:p>
          <a:p>
            <a:pPr>
              <a:spcAft>
                <a:spcPts val="600"/>
              </a:spcAft>
            </a:pPr>
            <a:br>
              <a:rPr lang="id-ID" sz="1600" dirty="0">
                <a:solidFill>
                  <a:schemeClr val="tx1"/>
                </a:solidFill>
                <a:latin typeface="Quattrocento Sans" panose="020B0502050000020003" pitchFamily="34" charset="0"/>
              </a:rPr>
            </a:br>
            <a:r>
              <a:rPr lang="id-ID" sz="1600" dirty="0">
                <a:solidFill>
                  <a:schemeClr val="tx1"/>
                </a:solidFill>
                <a:latin typeface="Quattrocento Sans" panose="020B0502050000020003" pitchFamily="34" charset="0"/>
              </a:rPr>
              <a:t>Gender menunjukkan hubungan dengan </a:t>
            </a:r>
            <a:r>
              <a:rPr lang="id-ID" sz="1600" dirty="0" err="1">
                <a:solidFill>
                  <a:schemeClr val="tx1"/>
                </a:solidFill>
                <a:latin typeface="Quattrocento Sans" panose="020B0502050000020003" pitchFamily="34" charset="0"/>
              </a:rPr>
              <a:t>churn</a:t>
            </a:r>
            <a:r>
              <a:rPr lang="id-ID" sz="1600" dirty="0">
                <a:solidFill>
                  <a:schemeClr val="tx1"/>
                </a:solidFill>
                <a:latin typeface="Quattrocento Sans" panose="020B0502050000020003" pitchFamily="34" charset="0"/>
              </a:rPr>
              <a:t>, di mana pelanggan </a:t>
            </a:r>
            <a:r>
              <a:rPr lang="id-ID" sz="1600" dirty="0" err="1">
                <a:solidFill>
                  <a:schemeClr val="tx1"/>
                </a:solidFill>
                <a:latin typeface="Quattrocento Sans" panose="020B0502050000020003" pitchFamily="34" charset="0"/>
              </a:rPr>
              <a:t>Female</a:t>
            </a:r>
            <a:r>
              <a:rPr lang="id-ID" sz="1600" dirty="0">
                <a:solidFill>
                  <a:schemeClr val="tx1"/>
                </a:solidFill>
                <a:latin typeface="Quattrocento Sans" panose="020B0502050000020003" pitchFamily="34" charset="0"/>
              </a:rPr>
              <a:t> memiliki tingkat </a:t>
            </a:r>
            <a:r>
              <a:rPr lang="id-ID" sz="1600" dirty="0" err="1">
                <a:solidFill>
                  <a:schemeClr val="tx1"/>
                </a:solidFill>
                <a:latin typeface="Quattrocento Sans" panose="020B0502050000020003" pitchFamily="34" charset="0"/>
              </a:rPr>
              <a:t>churn</a:t>
            </a:r>
            <a:r>
              <a:rPr lang="id-ID" sz="1600" dirty="0">
                <a:solidFill>
                  <a:schemeClr val="tx1"/>
                </a:solidFill>
                <a:latin typeface="Quattrocento Sans" panose="020B0502050000020003" pitchFamily="34" charset="0"/>
              </a:rPr>
              <a:t> yang lebih tinggi dibandingkan Male.</a:t>
            </a:r>
          </a:p>
        </p:txBody>
      </p:sp>
    </p:spTree>
    <p:extLst>
      <p:ext uri="{BB962C8B-B14F-4D97-AF65-F5344CB8AC3E}">
        <p14:creationId xmlns:p14="http://schemas.microsoft.com/office/powerpoint/2010/main" val="144325538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Shape 4">
            <a:extLst>
              <a:ext uri="{FF2B5EF4-FFF2-40B4-BE49-F238E27FC236}">
                <a16:creationId xmlns:a16="http://schemas.microsoft.com/office/drawing/2014/main" id="{435402FE-AD64-E7F5-7D46-F6275DF4E55B}"/>
              </a:ext>
            </a:extLst>
          </p:cNvPr>
          <p:cNvSpPr/>
          <p:nvPr/>
        </p:nvSpPr>
        <p:spPr>
          <a:xfrm>
            <a:off x="5207000" y="1680650"/>
            <a:ext cx="4191000" cy="655629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000000">
                <a:alpha val="3922"/>
              </a:srgbClr>
            </a:outerShdw>
          </a:effectLst>
        </p:spPr>
        <p:txBody>
          <a:bodyPr/>
          <a:lstStyle/>
          <a:p>
            <a:endParaRPr lang="id-ID" dirty="0"/>
          </a:p>
        </p:txBody>
      </p:sp>
      <p:sp>
        <p:nvSpPr>
          <p:cNvPr id="2" name="Text 0"/>
          <p:cNvSpPr/>
          <p:nvPr/>
        </p:nvSpPr>
        <p:spPr>
          <a:xfrm>
            <a:off x="762000" y="444500"/>
            <a:ext cx="8890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800" b="1" dirty="0">
                <a:solidFill>
                  <a:srgbClr val="1E3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Analisis Churn Ratio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62000" y="1041400"/>
            <a:ext cx="762000" cy="50800"/>
          </a:xfrm>
          <a:prstGeom prst="rect">
            <a:avLst/>
          </a:prstGeom>
          <a:solidFill>
            <a:srgbClr val="E891A0"/>
          </a:solidFill>
          <a:ln/>
        </p:spPr>
      </p:sp>
      <p:sp>
        <p:nvSpPr>
          <p:cNvPr id="5" name="Text 3"/>
          <p:cNvSpPr/>
          <p:nvPr/>
        </p:nvSpPr>
        <p:spPr>
          <a:xfrm>
            <a:off x="1016000" y="1422400"/>
            <a:ext cx="3937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71744" y="1680650"/>
            <a:ext cx="4191000" cy="655629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000000">
                <a:alpha val="3922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10160000" y="1364695"/>
            <a:ext cx="5080000" cy="26759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5422900" y="1244823"/>
            <a:ext cx="4191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b="1" dirty="0">
                <a:solidFill>
                  <a:srgbClr val="1E3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Churn Rate by </a:t>
            </a:r>
            <a:r>
              <a:rPr lang="id-ID" sz="1400" b="1" dirty="0" err="1">
                <a:solidFill>
                  <a:srgbClr val="1E3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HsCredit</a:t>
            </a:r>
            <a:endParaRPr lang="en-US" sz="1400" dirty="0"/>
          </a:p>
        </p:txBody>
      </p:sp>
      <p:sp>
        <p:nvSpPr>
          <p:cNvPr id="14" name="Text 9"/>
          <p:cNvSpPr/>
          <p:nvPr/>
        </p:nvSpPr>
        <p:spPr>
          <a:xfrm>
            <a:off x="922123" y="1161054"/>
            <a:ext cx="4191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b="1" dirty="0">
                <a:solidFill>
                  <a:srgbClr val="1E3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Churn Rate by </a:t>
            </a:r>
            <a:r>
              <a:rPr lang="id-ID" sz="1400" b="1" dirty="0" err="1">
                <a:solidFill>
                  <a:srgbClr val="1E3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IsActive</a:t>
            </a:r>
            <a:endParaRPr lang="en-US" sz="1400" dirty="0"/>
          </a:p>
        </p:txBody>
      </p:sp>
      <p:sp>
        <p:nvSpPr>
          <p:cNvPr id="17" name="Text 11"/>
          <p:cNvSpPr/>
          <p:nvPr/>
        </p:nvSpPr>
        <p:spPr>
          <a:xfrm>
            <a:off x="11049000" y="4279900"/>
            <a:ext cx="4191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endParaRPr lang="en-US" sz="1400" dirty="0"/>
          </a:p>
        </p:txBody>
      </p:sp>
      <p:sp>
        <p:nvSpPr>
          <p:cNvPr id="19" name="Shape 12"/>
          <p:cNvSpPr/>
          <p:nvPr/>
        </p:nvSpPr>
        <p:spPr>
          <a:xfrm>
            <a:off x="0" y="8636000"/>
            <a:ext cx="16256000" cy="5080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20" name="Shape 13"/>
          <p:cNvSpPr/>
          <p:nvPr/>
        </p:nvSpPr>
        <p:spPr>
          <a:xfrm>
            <a:off x="5422900" y="8636000"/>
            <a:ext cx="5410200" cy="508000"/>
          </a:xfrm>
          <a:prstGeom prst="rect">
            <a:avLst/>
          </a:prstGeom>
          <a:solidFill>
            <a:srgbClr val="FFFFFF">
              <a:alpha val="14510"/>
            </a:srgbClr>
          </a:solidFill>
          <a:ln/>
        </p:spPr>
      </p:sp>
      <p:sp>
        <p:nvSpPr>
          <p:cNvPr id="21" name="Text 14"/>
          <p:cNvSpPr/>
          <p:nvPr/>
        </p:nvSpPr>
        <p:spPr>
          <a:xfrm>
            <a:off x="127000" y="8712200"/>
            <a:ext cx="51689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Bab I - Pendahuluan</a:t>
            </a:r>
            <a:endParaRPr lang="en-US" sz="1200" dirty="0"/>
          </a:p>
        </p:txBody>
      </p:sp>
      <p:sp>
        <p:nvSpPr>
          <p:cNvPr id="22" name="Text 15"/>
          <p:cNvSpPr/>
          <p:nvPr/>
        </p:nvSpPr>
        <p:spPr>
          <a:xfrm>
            <a:off x="5549900" y="8712200"/>
            <a:ext cx="51689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Bab II - Pembahasan</a:t>
            </a:r>
            <a:endParaRPr lang="en-US" sz="1200" dirty="0"/>
          </a:p>
        </p:txBody>
      </p:sp>
      <p:sp>
        <p:nvSpPr>
          <p:cNvPr id="23" name="Text 16"/>
          <p:cNvSpPr/>
          <p:nvPr/>
        </p:nvSpPr>
        <p:spPr>
          <a:xfrm>
            <a:off x="10845800" y="8712200"/>
            <a:ext cx="51562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Bab III - Penutup</a:t>
            </a:r>
            <a:endParaRPr lang="en-US" sz="1200" dirty="0"/>
          </a:p>
        </p:txBody>
      </p:sp>
      <p:sp>
        <p:nvSpPr>
          <p:cNvPr id="24" name="Text 17"/>
          <p:cNvSpPr/>
          <p:nvPr/>
        </p:nvSpPr>
        <p:spPr>
          <a:xfrm>
            <a:off x="14986000" y="50800"/>
            <a:ext cx="762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200" dirty="0">
                <a:solidFill>
                  <a:srgbClr val="6B7B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13</a:t>
            </a:r>
            <a:endParaRPr lang="en-US" sz="1200" dirty="0"/>
          </a:p>
        </p:txBody>
      </p:sp>
      <p:sp>
        <p:nvSpPr>
          <p:cNvPr id="27" name="Rectangle 3">
            <a:extLst>
              <a:ext uri="{FF2B5EF4-FFF2-40B4-BE49-F238E27FC236}">
                <a16:creationId xmlns:a16="http://schemas.microsoft.com/office/drawing/2014/main" id="{80ADAB86-FD02-70EC-993B-06AC7CA812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625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id-ID"/>
          </a:p>
        </p:txBody>
      </p:sp>
      <p:sp>
        <p:nvSpPr>
          <p:cNvPr id="34" name="Persegi Panjang: Sudut Lengkung 33">
            <a:extLst>
              <a:ext uri="{FF2B5EF4-FFF2-40B4-BE49-F238E27FC236}">
                <a16:creationId xmlns:a16="http://schemas.microsoft.com/office/drawing/2014/main" id="{1E50BC62-8207-470F-9A4C-9C443D744CFE}"/>
              </a:ext>
            </a:extLst>
          </p:cNvPr>
          <p:cNvSpPr/>
          <p:nvPr/>
        </p:nvSpPr>
        <p:spPr>
          <a:xfrm>
            <a:off x="9594335" y="270405"/>
            <a:ext cx="6153665" cy="4238783"/>
          </a:xfrm>
          <a:prstGeom prst="roundRect">
            <a:avLst>
              <a:gd name="adj" fmla="val 4706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id-ID" sz="1600" b="1" dirty="0" err="1">
                <a:solidFill>
                  <a:schemeClr val="tx1"/>
                </a:solidFill>
                <a:latin typeface="Quattrocento Sans" panose="020B0502050000020003" pitchFamily="34" charset="0"/>
              </a:rPr>
              <a:t>Inactive</a:t>
            </a:r>
            <a:r>
              <a:rPr lang="id-ID" sz="1600" b="1" dirty="0">
                <a:solidFill>
                  <a:schemeClr val="tx1"/>
                </a:solidFill>
                <a:latin typeface="Quattrocento Sans" panose="020B0502050000020003" pitchFamily="34" charset="0"/>
              </a:rPr>
              <a:t> Member</a:t>
            </a:r>
            <a:r>
              <a:rPr lang="id-ID" sz="1600" dirty="0">
                <a:solidFill>
                  <a:schemeClr val="tx1"/>
                </a:solidFill>
                <a:latin typeface="Quattrocento Sans" panose="020B0502050000020003" pitchFamily="34" charset="0"/>
              </a:rPr>
              <a:t> mendominasi pelanggan </a:t>
            </a:r>
            <a:r>
              <a:rPr lang="id-ID" sz="1600" dirty="0" err="1">
                <a:solidFill>
                  <a:schemeClr val="tx1"/>
                </a:solidFill>
                <a:latin typeface="Quattrocento Sans" panose="020B0502050000020003" pitchFamily="34" charset="0"/>
              </a:rPr>
              <a:t>churn</a:t>
            </a:r>
            <a:r>
              <a:rPr lang="id-ID" sz="1600" dirty="0">
                <a:solidFill>
                  <a:schemeClr val="tx1"/>
                </a:solidFill>
                <a:latin typeface="Quattrocento Sans" panose="020B0502050000020003" pitchFamily="34" charset="0"/>
              </a:rPr>
              <a:t> dengan </a:t>
            </a:r>
            <a:r>
              <a:rPr lang="id-ID" sz="1600" b="1" dirty="0">
                <a:solidFill>
                  <a:schemeClr val="tx1"/>
                </a:solidFill>
                <a:latin typeface="Quattrocento Sans" panose="020B0502050000020003" pitchFamily="34" charset="0"/>
              </a:rPr>
              <a:t>1.302 pelanggan (65,30%)</a:t>
            </a:r>
            <a:r>
              <a:rPr lang="id-ID" sz="1600" dirty="0">
                <a:solidFill>
                  <a:schemeClr val="tx1"/>
                </a:solidFill>
                <a:latin typeface="Quattrocento Sans" panose="020B0502050000020003" pitchFamily="34" charset="0"/>
              </a:rPr>
              <a:t>. 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id-ID" sz="1600" b="1" dirty="0" err="1">
                <a:solidFill>
                  <a:schemeClr val="tx1"/>
                </a:solidFill>
                <a:latin typeface="Quattrocento Sans" panose="020B0502050000020003" pitchFamily="34" charset="0"/>
              </a:rPr>
              <a:t>Churn</a:t>
            </a:r>
            <a:r>
              <a:rPr lang="id-ID" sz="1600" b="1" dirty="0">
                <a:solidFill>
                  <a:schemeClr val="tx1"/>
                </a:solidFill>
                <a:latin typeface="Quattrocento Sans" panose="020B0502050000020003" pitchFamily="34" charset="0"/>
              </a:rPr>
              <a:t> Rate</a:t>
            </a:r>
            <a:r>
              <a:rPr lang="id-ID" sz="1600" dirty="0">
                <a:solidFill>
                  <a:schemeClr val="tx1"/>
                </a:solidFill>
                <a:latin typeface="Quattrocento Sans" panose="020B0502050000020003" pitchFamily="34" charset="0"/>
              </a:rPr>
              <a:t> pelanggan tidak aktif mencapai </a:t>
            </a:r>
            <a:r>
              <a:rPr lang="id-ID" sz="1600" b="1" dirty="0">
                <a:solidFill>
                  <a:schemeClr val="tx1"/>
                </a:solidFill>
                <a:latin typeface="Quattrocento Sans" panose="020B0502050000020003" pitchFamily="34" charset="0"/>
              </a:rPr>
              <a:t>26,85%</a:t>
            </a:r>
            <a:r>
              <a:rPr lang="id-ID" sz="1600" dirty="0">
                <a:solidFill>
                  <a:schemeClr val="tx1"/>
                </a:solidFill>
                <a:latin typeface="Quattrocento Sans" panose="020B0502050000020003" pitchFamily="34" charset="0"/>
              </a:rPr>
              <a:t>, hampir dua kali lipat dibandingkan pelanggan aktif (</a:t>
            </a:r>
            <a:r>
              <a:rPr lang="id-ID" sz="1600" b="1" dirty="0">
                <a:solidFill>
                  <a:schemeClr val="tx1"/>
                </a:solidFill>
                <a:latin typeface="Quattrocento Sans" panose="020B0502050000020003" pitchFamily="34" charset="0"/>
              </a:rPr>
              <a:t>14,27%</a:t>
            </a:r>
            <a:r>
              <a:rPr lang="id-ID" sz="1600" dirty="0">
                <a:solidFill>
                  <a:schemeClr val="tx1"/>
                </a:solidFill>
                <a:latin typeface="Quattrocento Sans" panose="020B0502050000020003" pitchFamily="34" charset="0"/>
              </a:rPr>
              <a:t>). 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id-ID" sz="1600" dirty="0">
                <a:solidFill>
                  <a:schemeClr val="tx1"/>
                </a:solidFill>
                <a:latin typeface="Quattrocento Sans" panose="020B0502050000020003" pitchFamily="34" charset="0"/>
              </a:rPr>
              <a:t>Meskipun jumlah pelanggan aktif dan tidak aktif relatif seimbang, pelanggan tidak aktif jauh lebih sering melakukan </a:t>
            </a:r>
            <a:r>
              <a:rPr lang="id-ID" sz="1600" dirty="0" err="1">
                <a:solidFill>
                  <a:schemeClr val="tx1"/>
                </a:solidFill>
                <a:latin typeface="Quattrocento Sans" panose="020B0502050000020003" pitchFamily="34" charset="0"/>
              </a:rPr>
              <a:t>churn</a:t>
            </a:r>
            <a:r>
              <a:rPr lang="id-ID" sz="1600" dirty="0">
                <a:solidFill>
                  <a:schemeClr val="tx1"/>
                </a:solidFill>
                <a:latin typeface="Quattrocento Sans" panose="020B0502050000020003" pitchFamily="34" charset="0"/>
              </a:rPr>
              <a:t>. 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id-ID" sz="1600" dirty="0">
                <a:solidFill>
                  <a:schemeClr val="tx1"/>
                </a:solidFill>
                <a:latin typeface="Quattrocento Sans" panose="020B0502050000020003" pitchFamily="34" charset="0"/>
              </a:rPr>
              <a:t>Status keaktifan pelanggan menunjukkan hubungan yang kuat dengan risiko </a:t>
            </a:r>
            <a:r>
              <a:rPr lang="id-ID" sz="1600" dirty="0" err="1">
                <a:solidFill>
                  <a:schemeClr val="tx1"/>
                </a:solidFill>
                <a:latin typeface="Quattrocento Sans" panose="020B0502050000020003" pitchFamily="34" charset="0"/>
              </a:rPr>
              <a:t>customer</a:t>
            </a:r>
            <a:r>
              <a:rPr lang="id-ID" sz="1600" dirty="0">
                <a:solidFill>
                  <a:schemeClr val="tx1"/>
                </a:solidFill>
                <a:latin typeface="Quattrocento Sans" panose="020B0502050000020003" pitchFamily="34" charset="0"/>
              </a:rPr>
              <a:t> </a:t>
            </a:r>
            <a:r>
              <a:rPr lang="id-ID" sz="1600" dirty="0" err="1">
                <a:solidFill>
                  <a:schemeClr val="tx1"/>
                </a:solidFill>
                <a:latin typeface="Quattrocento Sans" panose="020B0502050000020003" pitchFamily="34" charset="0"/>
              </a:rPr>
              <a:t>churn</a:t>
            </a:r>
            <a:r>
              <a:rPr lang="id-ID" sz="1600" dirty="0">
                <a:solidFill>
                  <a:schemeClr val="tx1"/>
                </a:solidFill>
                <a:latin typeface="Quattrocento Sans" panose="020B0502050000020003" pitchFamily="34" charset="0"/>
              </a:rPr>
              <a:t>. 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br>
              <a:rPr lang="id-ID" sz="1600" dirty="0">
                <a:solidFill>
                  <a:schemeClr val="tx1"/>
                </a:solidFill>
                <a:latin typeface="Quattrocento Sans" panose="020B0502050000020003" pitchFamily="34" charset="0"/>
              </a:rPr>
            </a:br>
            <a:r>
              <a:rPr lang="id-ID" sz="1600" dirty="0" err="1">
                <a:solidFill>
                  <a:schemeClr val="tx1"/>
                </a:solidFill>
                <a:latin typeface="Quattrocento Sans" panose="020B0502050000020003" pitchFamily="34" charset="0"/>
              </a:rPr>
              <a:t>IsActiveMember</a:t>
            </a:r>
            <a:r>
              <a:rPr lang="id-ID" sz="1600" dirty="0">
                <a:solidFill>
                  <a:schemeClr val="tx1"/>
                </a:solidFill>
                <a:latin typeface="Quattrocento Sans" panose="020B0502050000020003" pitchFamily="34" charset="0"/>
              </a:rPr>
              <a:t> merupakan salah satu variabel </a:t>
            </a:r>
            <a:r>
              <a:rPr lang="id-ID" sz="1600" dirty="0" err="1">
                <a:solidFill>
                  <a:schemeClr val="tx1"/>
                </a:solidFill>
                <a:latin typeface="Quattrocento Sans" panose="020B0502050000020003" pitchFamily="34" charset="0"/>
              </a:rPr>
              <a:t>kategorikal</a:t>
            </a:r>
            <a:r>
              <a:rPr lang="id-ID" sz="1600" dirty="0">
                <a:solidFill>
                  <a:schemeClr val="tx1"/>
                </a:solidFill>
                <a:latin typeface="Quattrocento Sans" panose="020B0502050000020003" pitchFamily="34" charset="0"/>
              </a:rPr>
              <a:t> yang paling berpengaruh terhadap </a:t>
            </a:r>
            <a:r>
              <a:rPr lang="id-ID" sz="1600" dirty="0" err="1">
                <a:solidFill>
                  <a:schemeClr val="tx1"/>
                </a:solidFill>
                <a:latin typeface="Quattrocento Sans" panose="020B0502050000020003" pitchFamily="34" charset="0"/>
              </a:rPr>
              <a:t>churn</a:t>
            </a:r>
            <a:r>
              <a:rPr lang="id-ID" sz="1600" dirty="0">
                <a:solidFill>
                  <a:schemeClr val="tx1"/>
                </a:solidFill>
                <a:latin typeface="Quattrocento Sans" panose="020B0502050000020003" pitchFamily="34" charset="0"/>
              </a:rPr>
              <a:t>, di mana pelanggan tidak aktif memiliki risiko </a:t>
            </a:r>
            <a:r>
              <a:rPr lang="id-ID" sz="1600" dirty="0" err="1">
                <a:solidFill>
                  <a:schemeClr val="tx1"/>
                </a:solidFill>
                <a:latin typeface="Quattrocento Sans" panose="020B0502050000020003" pitchFamily="34" charset="0"/>
              </a:rPr>
              <a:t>churn</a:t>
            </a:r>
            <a:r>
              <a:rPr lang="id-ID" sz="1600" dirty="0">
                <a:solidFill>
                  <a:schemeClr val="tx1"/>
                </a:solidFill>
                <a:latin typeface="Quattrocento Sans" panose="020B0502050000020003" pitchFamily="34" charset="0"/>
              </a:rPr>
              <a:t> yang jauh lebih tinggi dibandingkan pelanggan aktif.</a:t>
            </a:r>
          </a:p>
        </p:txBody>
      </p:sp>
      <p:sp>
        <p:nvSpPr>
          <p:cNvPr id="36" name="Persegi Panjang: Sudut Lengkung 35">
            <a:extLst>
              <a:ext uri="{FF2B5EF4-FFF2-40B4-BE49-F238E27FC236}">
                <a16:creationId xmlns:a16="http://schemas.microsoft.com/office/drawing/2014/main" id="{1CAFC31C-8EBB-20DE-439C-32612AFEDEFC}"/>
              </a:ext>
            </a:extLst>
          </p:cNvPr>
          <p:cNvSpPr/>
          <p:nvPr/>
        </p:nvSpPr>
        <p:spPr>
          <a:xfrm>
            <a:off x="9632140" y="4584012"/>
            <a:ext cx="6153665" cy="3674005"/>
          </a:xfrm>
          <a:prstGeom prst="roundRect">
            <a:avLst>
              <a:gd name="adj" fmla="val 4706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id-ID" sz="1600" dirty="0">
                <a:solidFill>
                  <a:schemeClr val="tx1"/>
                </a:solidFill>
              </a:rPr>
              <a:t>Distribusi pelanggan </a:t>
            </a:r>
            <a:r>
              <a:rPr lang="id-ID" sz="1600" dirty="0" err="1">
                <a:solidFill>
                  <a:schemeClr val="tx1"/>
                </a:solidFill>
              </a:rPr>
              <a:t>churn</a:t>
            </a:r>
            <a:r>
              <a:rPr lang="id-ID" sz="1600" dirty="0">
                <a:solidFill>
                  <a:schemeClr val="tx1"/>
                </a:solidFill>
              </a:rPr>
              <a:t> pada kelompok </a:t>
            </a:r>
            <a:r>
              <a:rPr lang="id-ID" sz="1600" b="1" dirty="0">
                <a:solidFill>
                  <a:schemeClr val="tx1"/>
                </a:solidFill>
              </a:rPr>
              <a:t>memiliki</a:t>
            </a:r>
            <a:r>
              <a:rPr lang="id-ID" sz="1600" dirty="0">
                <a:solidFill>
                  <a:schemeClr val="tx1"/>
                </a:solidFill>
              </a:rPr>
              <a:t> dan </a:t>
            </a:r>
            <a:r>
              <a:rPr lang="id-ID" sz="1600" b="1" dirty="0">
                <a:solidFill>
                  <a:schemeClr val="tx1"/>
                </a:solidFill>
              </a:rPr>
              <a:t>tidak memiliki kartu kredit</a:t>
            </a:r>
            <a:r>
              <a:rPr lang="id-ID" sz="1600" dirty="0">
                <a:solidFill>
                  <a:schemeClr val="tx1"/>
                </a:solidFill>
              </a:rPr>
              <a:t> relatif seimbang. 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id-ID" sz="1600" b="1" dirty="0" err="1">
                <a:solidFill>
                  <a:schemeClr val="tx1"/>
                </a:solidFill>
              </a:rPr>
              <a:t>Churn</a:t>
            </a:r>
            <a:r>
              <a:rPr lang="id-ID" sz="1600" b="1" dirty="0">
                <a:solidFill>
                  <a:schemeClr val="tx1"/>
                </a:solidFill>
              </a:rPr>
              <a:t> Rate</a:t>
            </a:r>
            <a:r>
              <a:rPr lang="id-ID" sz="1600" dirty="0">
                <a:solidFill>
                  <a:schemeClr val="tx1"/>
                </a:solidFill>
              </a:rPr>
              <a:t> pelanggan tanpa kartu kredit (</a:t>
            </a:r>
            <a:r>
              <a:rPr lang="id-ID" sz="1600" b="1" dirty="0">
                <a:solidFill>
                  <a:schemeClr val="tx1"/>
                </a:solidFill>
              </a:rPr>
              <a:t>20,81%</a:t>
            </a:r>
            <a:r>
              <a:rPr lang="id-ID" sz="1600" dirty="0">
                <a:solidFill>
                  <a:schemeClr val="tx1"/>
                </a:solidFill>
              </a:rPr>
              <a:t>) hanya sedikit lebih tinggi dibandingkan pelanggan yang memiliki kartu kredit (</a:t>
            </a:r>
            <a:r>
              <a:rPr lang="id-ID" sz="1600" b="1" dirty="0">
                <a:solidFill>
                  <a:schemeClr val="tx1"/>
                </a:solidFill>
              </a:rPr>
              <a:t>20,18%</a:t>
            </a:r>
            <a:r>
              <a:rPr lang="id-ID" sz="1600" dirty="0">
                <a:solidFill>
                  <a:schemeClr val="tx1"/>
                </a:solidFill>
              </a:rPr>
              <a:t>). 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id-ID" sz="1600" dirty="0">
                <a:solidFill>
                  <a:schemeClr val="tx1"/>
                </a:solidFill>
              </a:rPr>
              <a:t>Jumlah pelanggan </a:t>
            </a:r>
            <a:r>
              <a:rPr lang="id-ID" sz="1600" dirty="0" err="1">
                <a:solidFill>
                  <a:schemeClr val="tx1"/>
                </a:solidFill>
              </a:rPr>
              <a:t>churn</a:t>
            </a:r>
            <a:r>
              <a:rPr lang="id-ID" sz="1600" dirty="0">
                <a:solidFill>
                  <a:schemeClr val="tx1"/>
                </a:solidFill>
              </a:rPr>
              <a:t> yang memiliki kartu kredit lebih besar secara absolut karena populasinya memang lebih banyak. 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id-ID" sz="1600" dirty="0">
                <a:solidFill>
                  <a:schemeClr val="tx1"/>
                </a:solidFill>
              </a:rPr>
              <a:t>Secara proporsi, kepemilikan kartu kredit tidak menunjukkan perbedaan </a:t>
            </a:r>
            <a:r>
              <a:rPr lang="id-ID" sz="1600" dirty="0" err="1">
                <a:solidFill>
                  <a:schemeClr val="tx1"/>
                </a:solidFill>
              </a:rPr>
              <a:t>churn</a:t>
            </a:r>
            <a:r>
              <a:rPr lang="id-ID" sz="1600" dirty="0">
                <a:solidFill>
                  <a:schemeClr val="tx1"/>
                </a:solidFill>
              </a:rPr>
              <a:t> yang berarti. 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br>
              <a:rPr lang="id-ID" sz="1600" dirty="0">
                <a:solidFill>
                  <a:schemeClr val="tx1"/>
                </a:solidFill>
              </a:rPr>
            </a:br>
            <a:r>
              <a:rPr lang="id-ID" sz="1600" dirty="0" err="1">
                <a:solidFill>
                  <a:schemeClr val="tx1"/>
                </a:solidFill>
              </a:rPr>
              <a:t>HasCrCard</a:t>
            </a:r>
            <a:r>
              <a:rPr lang="id-ID" sz="1600" dirty="0">
                <a:solidFill>
                  <a:schemeClr val="tx1"/>
                </a:solidFill>
              </a:rPr>
              <a:t> tidak menunjukkan hubungan yang kuat dengan </a:t>
            </a:r>
            <a:r>
              <a:rPr lang="id-ID" sz="1600" dirty="0" err="1">
                <a:solidFill>
                  <a:schemeClr val="tx1"/>
                </a:solidFill>
              </a:rPr>
              <a:t>customer</a:t>
            </a:r>
            <a:r>
              <a:rPr lang="id-ID" sz="1600" dirty="0">
                <a:solidFill>
                  <a:schemeClr val="tx1"/>
                </a:solidFill>
              </a:rPr>
              <a:t> </a:t>
            </a:r>
            <a:r>
              <a:rPr lang="id-ID" sz="1600" dirty="0" err="1">
                <a:solidFill>
                  <a:schemeClr val="tx1"/>
                </a:solidFill>
              </a:rPr>
              <a:t>churn</a:t>
            </a:r>
            <a:r>
              <a:rPr lang="id-ID" sz="1600" dirty="0">
                <a:solidFill>
                  <a:schemeClr val="tx1"/>
                </a:solidFill>
              </a:rPr>
              <a:t> karena tingkat </a:t>
            </a:r>
            <a:r>
              <a:rPr lang="id-ID" sz="1600" dirty="0" err="1">
                <a:solidFill>
                  <a:schemeClr val="tx1"/>
                </a:solidFill>
              </a:rPr>
              <a:t>churn</a:t>
            </a:r>
            <a:r>
              <a:rPr lang="id-ID" sz="1600" dirty="0">
                <a:solidFill>
                  <a:schemeClr val="tx1"/>
                </a:solidFill>
              </a:rPr>
              <a:t> pada kedua kategori hampir identik.</a:t>
            </a:r>
          </a:p>
        </p:txBody>
      </p:sp>
      <p:pic>
        <p:nvPicPr>
          <p:cNvPr id="1029" name="Picture 5">
            <a:extLst>
              <a:ext uri="{FF2B5EF4-FFF2-40B4-BE49-F238E27FC236}">
                <a16:creationId xmlns:a16="http://schemas.microsoft.com/office/drawing/2014/main" id="{CCE8E434-787F-308C-15A4-67E9F29F3E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6222" y="1858376"/>
            <a:ext cx="3009899" cy="31714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Gambar 1">
            <a:extLst>
              <a:ext uri="{FF2B5EF4-FFF2-40B4-BE49-F238E27FC236}">
                <a16:creationId xmlns:a16="http://schemas.microsoft.com/office/drawing/2014/main" id="{888589E4-E58F-808E-503A-EF1E9D6AA7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2122" y="5169389"/>
            <a:ext cx="3522877" cy="30925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7" name="Rectangle 6">
            <a:extLst>
              <a:ext uri="{FF2B5EF4-FFF2-40B4-BE49-F238E27FC236}">
                <a16:creationId xmlns:a16="http://schemas.microsoft.com/office/drawing/2014/main" id="{D612DBDB-01B1-546B-96BB-2EC99A7949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-2832100" y="-453081"/>
            <a:ext cx="1625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id-ID"/>
          </a:p>
        </p:txBody>
      </p:sp>
      <p:pic>
        <p:nvPicPr>
          <p:cNvPr id="1032" name="Picture 8">
            <a:extLst>
              <a:ext uri="{FF2B5EF4-FFF2-40B4-BE49-F238E27FC236}">
                <a16:creationId xmlns:a16="http://schemas.microsoft.com/office/drawing/2014/main" id="{39476D9C-E89E-9BBC-BB19-5F5789BE51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51743" y="1708076"/>
            <a:ext cx="3429001" cy="34026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1" name="Gambar 1">
            <a:extLst>
              <a:ext uri="{FF2B5EF4-FFF2-40B4-BE49-F238E27FC236}">
                <a16:creationId xmlns:a16="http://schemas.microsoft.com/office/drawing/2014/main" id="{522FA771-5ACB-E90B-48DC-D4A0F072C3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05276" y="5051110"/>
            <a:ext cx="3721933" cy="31487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8" name="Rectangle 9">
            <a:extLst>
              <a:ext uri="{FF2B5EF4-FFF2-40B4-BE49-F238E27FC236}">
                <a16:creationId xmlns:a16="http://schemas.microsoft.com/office/drawing/2014/main" id="{91A64AB6-240A-7FD7-8D47-C33B83F197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-202096"/>
            <a:ext cx="1625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id-ID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B957AB5-0B07-F876-8C2D-07A00086D9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Shape 4">
            <a:extLst>
              <a:ext uri="{FF2B5EF4-FFF2-40B4-BE49-F238E27FC236}">
                <a16:creationId xmlns:a16="http://schemas.microsoft.com/office/drawing/2014/main" id="{41B640FB-254B-29C4-CAD9-ABDB94C9043F}"/>
              </a:ext>
            </a:extLst>
          </p:cNvPr>
          <p:cNvSpPr/>
          <p:nvPr/>
        </p:nvSpPr>
        <p:spPr>
          <a:xfrm>
            <a:off x="5207000" y="2977562"/>
            <a:ext cx="4191000" cy="4238783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000000">
                <a:alpha val="3922"/>
              </a:srgbClr>
            </a:outerShdw>
          </a:effectLst>
        </p:spPr>
        <p:txBody>
          <a:bodyPr/>
          <a:lstStyle/>
          <a:p>
            <a:endParaRPr lang="id-ID" dirty="0"/>
          </a:p>
        </p:txBody>
      </p:sp>
      <p:sp>
        <p:nvSpPr>
          <p:cNvPr id="2" name="Text 0">
            <a:extLst>
              <a:ext uri="{FF2B5EF4-FFF2-40B4-BE49-F238E27FC236}">
                <a16:creationId xmlns:a16="http://schemas.microsoft.com/office/drawing/2014/main" id="{7DF997EB-B89C-135A-1D6E-DCC28CA5181C}"/>
              </a:ext>
            </a:extLst>
          </p:cNvPr>
          <p:cNvSpPr/>
          <p:nvPr/>
        </p:nvSpPr>
        <p:spPr>
          <a:xfrm>
            <a:off x="762000" y="444500"/>
            <a:ext cx="8890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800" b="1" dirty="0">
                <a:solidFill>
                  <a:srgbClr val="1E3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Analisis Churn Ratio</a:t>
            </a:r>
            <a:endParaRPr lang="en-US" sz="2800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6BEB0DC3-46BC-C5B1-6C90-5164EFB34119}"/>
              </a:ext>
            </a:extLst>
          </p:cNvPr>
          <p:cNvSpPr/>
          <p:nvPr/>
        </p:nvSpPr>
        <p:spPr>
          <a:xfrm>
            <a:off x="762000" y="1041400"/>
            <a:ext cx="762000" cy="50800"/>
          </a:xfrm>
          <a:prstGeom prst="rect">
            <a:avLst/>
          </a:prstGeom>
          <a:solidFill>
            <a:srgbClr val="E891A0"/>
          </a:solidFill>
          <a:ln/>
        </p:spPr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CD617EA3-3083-302B-2CB4-820DBC50655B}"/>
              </a:ext>
            </a:extLst>
          </p:cNvPr>
          <p:cNvSpPr/>
          <p:nvPr/>
        </p:nvSpPr>
        <p:spPr>
          <a:xfrm>
            <a:off x="1016000" y="1422400"/>
            <a:ext cx="3937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endParaRPr lang="en-US" sz="1400" dirty="0"/>
          </a:p>
        </p:txBody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BCF132DA-E96F-6CB8-D5B2-23ABF49EF174}"/>
              </a:ext>
            </a:extLst>
          </p:cNvPr>
          <p:cNvSpPr/>
          <p:nvPr/>
        </p:nvSpPr>
        <p:spPr>
          <a:xfrm>
            <a:off x="571744" y="1680650"/>
            <a:ext cx="4191000" cy="655629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000000">
                <a:alpha val="3922"/>
              </a:srgbClr>
            </a:outerShdw>
          </a:effectLst>
        </p:spPr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3E4AFA91-B140-6414-7A09-5B24A836B111}"/>
              </a:ext>
            </a:extLst>
          </p:cNvPr>
          <p:cNvSpPr/>
          <p:nvPr/>
        </p:nvSpPr>
        <p:spPr>
          <a:xfrm>
            <a:off x="10160000" y="1364695"/>
            <a:ext cx="5080000" cy="26759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endParaRPr lang="en-US" sz="1400" dirty="0"/>
          </a:p>
        </p:txBody>
      </p:sp>
      <p:sp>
        <p:nvSpPr>
          <p:cNvPr id="11" name="Text 7">
            <a:extLst>
              <a:ext uri="{FF2B5EF4-FFF2-40B4-BE49-F238E27FC236}">
                <a16:creationId xmlns:a16="http://schemas.microsoft.com/office/drawing/2014/main" id="{DE9C362E-73C1-13FD-F719-71D0F49C4E75}"/>
              </a:ext>
            </a:extLst>
          </p:cNvPr>
          <p:cNvSpPr/>
          <p:nvPr/>
        </p:nvSpPr>
        <p:spPr>
          <a:xfrm>
            <a:off x="5422900" y="2515932"/>
            <a:ext cx="4191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b="1" dirty="0">
                <a:solidFill>
                  <a:srgbClr val="1E3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Churn Rate </a:t>
            </a:r>
            <a:r>
              <a:rPr lang="id-ID" sz="1400" b="1" dirty="0" err="1">
                <a:solidFill>
                  <a:srgbClr val="1E3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overall</a:t>
            </a:r>
            <a:endParaRPr lang="en-US" sz="1400" dirty="0"/>
          </a:p>
        </p:txBody>
      </p:sp>
      <p:sp>
        <p:nvSpPr>
          <p:cNvPr id="14" name="Text 9">
            <a:extLst>
              <a:ext uri="{FF2B5EF4-FFF2-40B4-BE49-F238E27FC236}">
                <a16:creationId xmlns:a16="http://schemas.microsoft.com/office/drawing/2014/main" id="{8C3DAD00-B9FC-70E0-297D-910808CEB389}"/>
              </a:ext>
            </a:extLst>
          </p:cNvPr>
          <p:cNvSpPr/>
          <p:nvPr/>
        </p:nvSpPr>
        <p:spPr>
          <a:xfrm>
            <a:off x="922123" y="1161054"/>
            <a:ext cx="4191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b="1" dirty="0">
                <a:solidFill>
                  <a:srgbClr val="1E3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Churn Rate by </a:t>
            </a:r>
            <a:r>
              <a:rPr lang="id-ID" sz="1400" b="1" dirty="0" err="1">
                <a:solidFill>
                  <a:srgbClr val="1E3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NumOfProduct</a:t>
            </a:r>
            <a:endParaRPr lang="en-US" sz="1400" dirty="0"/>
          </a:p>
        </p:txBody>
      </p:sp>
      <p:sp>
        <p:nvSpPr>
          <p:cNvPr id="17" name="Text 11">
            <a:extLst>
              <a:ext uri="{FF2B5EF4-FFF2-40B4-BE49-F238E27FC236}">
                <a16:creationId xmlns:a16="http://schemas.microsoft.com/office/drawing/2014/main" id="{ECEE2915-E6AD-9FE9-5862-543909E3F579}"/>
              </a:ext>
            </a:extLst>
          </p:cNvPr>
          <p:cNvSpPr/>
          <p:nvPr/>
        </p:nvSpPr>
        <p:spPr>
          <a:xfrm>
            <a:off x="11049000" y="4279900"/>
            <a:ext cx="4191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endParaRPr lang="en-US" sz="1400" dirty="0"/>
          </a:p>
        </p:txBody>
      </p:sp>
      <p:sp>
        <p:nvSpPr>
          <p:cNvPr id="19" name="Shape 12">
            <a:extLst>
              <a:ext uri="{FF2B5EF4-FFF2-40B4-BE49-F238E27FC236}">
                <a16:creationId xmlns:a16="http://schemas.microsoft.com/office/drawing/2014/main" id="{FA5F622E-5F6F-ECF4-E0A0-BA52FB2A01FB}"/>
              </a:ext>
            </a:extLst>
          </p:cNvPr>
          <p:cNvSpPr/>
          <p:nvPr/>
        </p:nvSpPr>
        <p:spPr>
          <a:xfrm>
            <a:off x="0" y="8636000"/>
            <a:ext cx="16256000" cy="5080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20" name="Shape 13">
            <a:extLst>
              <a:ext uri="{FF2B5EF4-FFF2-40B4-BE49-F238E27FC236}">
                <a16:creationId xmlns:a16="http://schemas.microsoft.com/office/drawing/2014/main" id="{8CE04C74-63F0-045D-2045-79983D68AE44}"/>
              </a:ext>
            </a:extLst>
          </p:cNvPr>
          <p:cNvSpPr/>
          <p:nvPr/>
        </p:nvSpPr>
        <p:spPr>
          <a:xfrm>
            <a:off x="5422900" y="8636000"/>
            <a:ext cx="5410200" cy="508000"/>
          </a:xfrm>
          <a:prstGeom prst="rect">
            <a:avLst/>
          </a:prstGeom>
          <a:solidFill>
            <a:srgbClr val="FFFFFF">
              <a:alpha val="14510"/>
            </a:srgbClr>
          </a:solidFill>
          <a:ln/>
        </p:spPr>
      </p:sp>
      <p:sp>
        <p:nvSpPr>
          <p:cNvPr id="21" name="Text 14">
            <a:extLst>
              <a:ext uri="{FF2B5EF4-FFF2-40B4-BE49-F238E27FC236}">
                <a16:creationId xmlns:a16="http://schemas.microsoft.com/office/drawing/2014/main" id="{A0471B97-523C-4B38-9D16-A9DE97F08868}"/>
              </a:ext>
            </a:extLst>
          </p:cNvPr>
          <p:cNvSpPr/>
          <p:nvPr/>
        </p:nvSpPr>
        <p:spPr>
          <a:xfrm>
            <a:off x="127000" y="8712200"/>
            <a:ext cx="51689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Bab I - Pendahuluan</a:t>
            </a:r>
            <a:endParaRPr lang="en-US" sz="1200" dirty="0"/>
          </a:p>
        </p:txBody>
      </p:sp>
      <p:sp>
        <p:nvSpPr>
          <p:cNvPr id="22" name="Text 15">
            <a:extLst>
              <a:ext uri="{FF2B5EF4-FFF2-40B4-BE49-F238E27FC236}">
                <a16:creationId xmlns:a16="http://schemas.microsoft.com/office/drawing/2014/main" id="{DC34EF3B-8081-8A38-AF0A-9C827B474983}"/>
              </a:ext>
            </a:extLst>
          </p:cNvPr>
          <p:cNvSpPr/>
          <p:nvPr/>
        </p:nvSpPr>
        <p:spPr>
          <a:xfrm>
            <a:off x="5549900" y="8712200"/>
            <a:ext cx="51689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Bab II - Pembahasan</a:t>
            </a:r>
            <a:endParaRPr lang="en-US" sz="1200" dirty="0"/>
          </a:p>
        </p:txBody>
      </p:sp>
      <p:sp>
        <p:nvSpPr>
          <p:cNvPr id="23" name="Text 16">
            <a:extLst>
              <a:ext uri="{FF2B5EF4-FFF2-40B4-BE49-F238E27FC236}">
                <a16:creationId xmlns:a16="http://schemas.microsoft.com/office/drawing/2014/main" id="{B3195EF1-ED2C-6EC5-44EB-3E64D31F3915}"/>
              </a:ext>
            </a:extLst>
          </p:cNvPr>
          <p:cNvSpPr/>
          <p:nvPr/>
        </p:nvSpPr>
        <p:spPr>
          <a:xfrm>
            <a:off x="10845800" y="8712200"/>
            <a:ext cx="51562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Bab III - Penutup</a:t>
            </a:r>
            <a:endParaRPr lang="en-US" sz="1200" dirty="0"/>
          </a:p>
        </p:txBody>
      </p:sp>
      <p:sp>
        <p:nvSpPr>
          <p:cNvPr id="24" name="Text 17">
            <a:extLst>
              <a:ext uri="{FF2B5EF4-FFF2-40B4-BE49-F238E27FC236}">
                <a16:creationId xmlns:a16="http://schemas.microsoft.com/office/drawing/2014/main" id="{0DAFEC7C-AA84-DF8D-8744-C22481CB3FBB}"/>
              </a:ext>
            </a:extLst>
          </p:cNvPr>
          <p:cNvSpPr/>
          <p:nvPr/>
        </p:nvSpPr>
        <p:spPr>
          <a:xfrm>
            <a:off x="14986000" y="50800"/>
            <a:ext cx="762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200" dirty="0">
                <a:solidFill>
                  <a:srgbClr val="6B7B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13</a:t>
            </a:r>
            <a:endParaRPr lang="en-US" sz="1200" dirty="0"/>
          </a:p>
        </p:txBody>
      </p:sp>
      <p:sp>
        <p:nvSpPr>
          <p:cNvPr id="27" name="Rectangle 3">
            <a:extLst>
              <a:ext uri="{FF2B5EF4-FFF2-40B4-BE49-F238E27FC236}">
                <a16:creationId xmlns:a16="http://schemas.microsoft.com/office/drawing/2014/main" id="{7D85E8FD-625D-ACBB-DC7A-EB43BF86A8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625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id-ID"/>
          </a:p>
        </p:txBody>
      </p:sp>
      <p:sp>
        <p:nvSpPr>
          <p:cNvPr id="34" name="Persegi Panjang: Sudut Lengkung 33">
            <a:extLst>
              <a:ext uri="{FF2B5EF4-FFF2-40B4-BE49-F238E27FC236}">
                <a16:creationId xmlns:a16="http://schemas.microsoft.com/office/drawing/2014/main" id="{CE9B669C-E780-1B94-47C9-B7AC8F5C773C}"/>
              </a:ext>
            </a:extLst>
          </p:cNvPr>
          <p:cNvSpPr/>
          <p:nvPr/>
        </p:nvSpPr>
        <p:spPr>
          <a:xfrm>
            <a:off x="9600562" y="180816"/>
            <a:ext cx="6153665" cy="4238783"/>
          </a:xfrm>
          <a:prstGeom prst="roundRect">
            <a:avLst>
              <a:gd name="adj" fmla="val 4706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id-ID" sz="1600" dirty="0" err="1">
                <a:solidFill>
                  <a:schemeClr val="tx1"/>
                </a:solidFill>
                <a:latin typeface="Quattrocento Sans" panose="020B0502050000020003" pitchFamily="34" charset="0"/>
              </a:rPr>
              <a:t>Dataset</a:t>
            </a:r>
            <a:r>
              <a:rPr lang="id-ID" sz="1600" dirty="0">
                <a:solidFill>
                  <a:schemeClr val="tx1"/>
                </a:solidFill>
                <a:latin typeface="Quattrocento Sans" panose="020B0502050000020003" pitchFamily="34" charset="0"/>
              </a:rPr>
              <a:t> terdiri dari </a:t>
            </a:r>
            <a:r>
              <a:rPr lang="id-ID" sz="1600" b="1" dirty="0">
                <a:solidFill>
                  <a:schemeClr val="tx1"/>
                </a:solidFill>
                <a:latin typeface="Quattrocento Sans" panose="020B0502050000020003" pitchFamily="34" charset="0"/>
              </a:rPr>
              <a:t>10.000 pelanggan</a:t>
            </a:r>
            <a:r>
              <a:rPr lang="id-ID" sz="1600" dirty="0">
                <a:solidFill>
                  <a:schemeClr val="tx1"/>
                </a:solidFill>
                <a:latin typeface="Quattrocento Sans" panose="020B0502050000020003" pitchFamily="34" charset="0"/>
              </a:rPr>
              <a:t>, dengan </a:t>
            </a:r>
            <a:r>
              <a:rPr lang="id-ID" sz="1600" b="1" dirty="0">
                <a:solidFill>
                  <a:schemeClr val="tx1"/>
                </a:solidFill>
                <a:latin typeface="Quattrocento Sans" panose="020B0502050000020003" pitchFamily="34" charset="0"/>
              </a:rPr>
              <a:t>2.037 pelanggan (20,37%)</a:t>
            </a:r>
            <a:r>
              <a:rPr lang="id-ID" sz="1600" dirty="0">
                <a:solidFill>
                  <a:schemeClr val="tx1"/>
                </a:solidFill>
                <a:latin typeface="Quattrocento Sans" panose="020B0502050000020003" pitchFamily="34" charset="0"/>
              </a:rPr>
              <a:t> mengalami </a:t>
            </a:r>
            <a:r>
              <a:rPr lang="id-ID" sz="1600" dirty="0" err="1">
                <a:solidFill>
                  <a:schemeClr val="tx1"/>
                </a:solidFill>
                <a:latin typeface="Quattrocento Sans" panose="020B0502050000020003" pitchFamily="34" charset="0"/>
              </a:rPr>
              <a:t>churn</a:t>
            </a:r>
            <a:r>
              <a:rPr lang="id-ID" sz="1600" dirty="0">
                <a:solidFill>
                  <a:schemeClr val="tx1"/>
                </a:solidFill>
                <a:latin typeface="Quattrocento Sans" panose="020B0502050000020003" pitchFamily="34" charset="0"/>
              </a:rPr>
              <a:t> dan </a:t>
            </a:r>
            <a:r>
              <a:rPr lang="id-ID" sz="1600" b="1" dirty="0">
                <a:solidFill>
                  <a:schemeClr val="tx1"/>
                </a:solidFill>
                <a:latin typeface="Quattrocento Sans" panose="020B0502050000020003" pitchFamily="34" charset="0"/>
              </a:rPr>
              <a:t>7.963 pelanggan (79,63%)</a:t>
            </a:r>
            <a:r>
              <a:rPr lang="id-ID" sz="1600" dirty="0">
                <a:solidFill>
                  <a:schemeClr val="tx1"/>
                </a:solidFill>
                <a:latin typeface="Quattrocento Sans" panose="020B0502050000020003" pitchFamily="34" charset="0"/>
              </a:rPr>
              <a:t> tidak mengalami </a:t>
            </a:r>
            <a:r>
              <a:rPr lang="id-ID" sz="1600" dirty="0" err="1">
                <a:solidFill>
                  <a:schemeClr val="tx1"/>
                </a:solidFill>
                <a:latin typeface="Quattrocento Sans" panose="020B0502050000020003" pitchFamily="34" charset="0"/>
              </a:rPr>
              <a:t>churn</a:t>
            </a:r>
            <a:r>
              <a:rPr lang="id-ID" sz="1600" dirty="0">
                <a:solidFill>
                  <a:schemeClr val="tx1"/>
                </a:solidFill>
                <a:latin typeface="Quattrocento Sans" panose="020B0502050000020003" pitchFamily="34" charset="0"/>
              </a:rPr>
              <a:t>. 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id-ID" sz="1600" dirty="0">
                <a:solidFill>
                  <a:schemeClr val="tx1"/>
                </a:solidFill>
                <a:latin typeface="Quattrocento Sans" panose="020B0502050000020003" pitchFamily="34" charset="0"/>
              </a:rPr>
              <a:t>Jumlah pelanggan </a:t>
            </a:r>
            <a:r>
              <a:rPr lang="id-ID" sz="1600" b="1" dirty="0">
                <a:solidFill>
                  <a:schemeClr val="tx1"/>
                </a:solidFill>
                <a:latin typeface="Quattrocento Sans" panose="020B0502050000020003" pitchFamily="34" charset="0"/>
              </a:rPr>
              <a:t>Non-</a:t>
            </a:r>
            <a:r>
              <a:rPr lang="id-ID" sz="1600" b="1" dirty="0" err="1">
                <a:solidFill>
                  <a:schemeClr val="tx1"/>
                </a:solidFill>
                <a:latin typeface="Quattrocento Sans" panose="020B0502050000020003" pitchFamily="34" charset="0"/>
              </a:rPr>
              <a:t>churn</a:t>
            </a:r>
            <a:r>
              <a:rPr lang="id-ID" sz="1600" b="1" dirty="0">
                <a:solidFill>
                  <a:schemeClr val="tx1"/>
                </a:solidFill>
                <a:latin typeface="Quattrocento Sans" panose="020B0502050000020003" pitchFamily="34" charset="0"/>
              </a:rPr>
              <a:t> hampir empat kali lebih banyak</a:t>
            </a:r>
            <a:r>
              <a:rPr lang="id-ID" sz="1600" dirty="0">
                <a:solidFill>
                  <a:schemeClr val="tx1"/>
                </a:solidFill>
                <a:latin typeface="Quattrocento Sans" panose="020B0502050000020003" pitchFamily="34" charset="0"/>
              </a:rPr>
              <a:t> dibandingkan pelanggan </a:t>
            </a:r>
            <a:r>
              <a:rPr lang="id-ID" sz="1600" dirty="0" err="1">
                <a:solidFill>
                  <a:schemeClr val="tx1"/>
                </a:solidFill>
                <a:latin typeface="Quattrocento Sans" panose="020B0502050000020003" pitchFamily="34" charset="0"/>
              </a:rPr>
              <a:t>Churn</a:t>
            </a:r>
            <a:r>
              <a:rPr lang="id-ID" sz="1600" dirty="0">
                <a:solidFill>
                  <a:schemeClr val="tx1"/>
                </a:solidFill>
                <a:latin typeface="Quattrocento Sans" panose="020B0502050000020003" pitchFamily="34" charset="0"/>
              </a:rPr>
              <a:t>. 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id-ID" sz="1600" dirty="0">
                <a:solidFill>
                  <a:schemeClr val="tx1"/>
                </a:solidFill>
                <a:latin typeface="Quattrocento Sans" panose="020B0502050000020003" pitchFamily="34" charset="0"/>
              </a:rPr>
              <a:t>Sekitar </a:t>
            </a:r>
            <a:r>
              <a:rPr lang="id-ID" sz="1600" b="1" dirty="0">
                <a:solidFill>
                  <a:schemeClr val="tx1"/>
                </a:solidFill>
                <a:latin typeface="Quattrocento Sans" panose="020B0502050000020003" pitchFamily="34" charset="0"/>
              </a:rPr>
              <a:t>1 dari 5 pelanggan</a:t>
            </a:r>
            <a:r>
              <a:rPr lang="id-ID" sz="1600" dirty="0">
                <a:solidFill>
                  <a:schemeClr val="tx1"/>
                </a:solidFill>
                <a:latin typeface="Quattrocento Sans" panose="020B0502050000020003" pitchFamily="34" charset="0"/>
              </a:rPr>
              <a:t> telah menghentikan penggunaan layanan perusahaan. 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id-ID" sz="1600" dirty="0">
                <a:solidFill>
                  <a:schemeClr val="tx1"/>
                </a:solidFill>
                <a:latin typeface="Quattrocento Sans" panose="020B0502050000020003" pitchFamily="34" charset="0"/>
              </a:rPr>
              <a:t>Distribusi ini menunjukkan </a:t>
            </a:r>
            <a:r>
              <a:rPr lang="id-ID" sz="1600" b="1" dirty="0">
                <a:solidFill>
                  <a:schemeClr val="tx1"/>
                </a:solidFill>
                <a:latin typeface="Quattrocento Sans" panose="020B0502050000020003" pitchFamily="34" charset="0"/>
              </a:rPr>
              <a:t>ketidakseimbangan kelas (</a:t>
            </a:r>
            <a:r>
              <a:rPr lang="id-ID" sz="1600" b="1" dirty="0" err="1">
                <a:solidFill>
                  <a:schemeClr val="tx1"/>
                </a:solidFill>
                <a:latin typeface="Quattrocento Sans" panose="020B0502050000020003" pitchFamily="34" charset="0"/>
              </a:rPr>
              <a:t>class</a:t>
            </a:r>
            <a:r>
              <a:rPr lang="id-ID" sz="1600" b="1" dirty="0">
                <a:solidFill>
                  <a:schemeClr val="tx1"/>
                </a:solidFill>
                <a:latin typeface="Quattrocento Sans" panose="020B0502050000020003" pitchFamily="34" charset="0"/>
              </a:rPr>
              <a:t> </a:t>
            </a:r>
            <a:r>
              <a:rPr lang="id-ID" sz="1600" b="1" dirty="0" err="1">
                <a:solidFill>
                  <a:schemeClr val="tx1"/>
                </a:solidFill>
                <a:latin typeface="Quattrocento Sans" panose="020B0502050000020003" pitchFamily="34" charset="0"/>
              </a:rPr>
              <a:t>imbalance</a:t>
            </a:r>
            <a:r>
              <a:rPr lang="id-ID" sz="1600" b="1" dirty="0">
                <a:solidFill>
                  <a:schemeClr val="tx1"/>
                </a:solidFill>
                <a:latin typeface="Quattrocento Sans" panose="020B0502050000020003" pitchFamily="34" charset="0"/>
              </a:rPr>
              <a:t>)</a:t>
            </a:r>
            <a:r>
              <a:rPr lang="id-ID" sz="1600" dirty="0">
                <a:solidFill>
                  <a:schemeClr val="tx1"/>
                </a:solidFill>
                <a:latin typeface="Quattrocento Sans" panose="020B0502050000020003" pitchFamily="34" charset="0"/>
              </a:rPr>
              <a:t> yang perlu diperhatikan pada tahap pemodelan. 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endParaRPr lang="id-ID" sz="1600" b="1" dirty="0">
              <a:solidFill>
                <a:schemeClr val="tx1"/>
              </a:solidFill>
              <a:latin typeface="Quattrocento Sans" panose="020B0502050000020003" pitchFamily="34" charset="0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id-ID" sz="1600" dirty="0" err="1">
                <a:solidFill>
                  <a:schemeClr val="tx1"/>
                </a:solidFill>
                <a:latin typeface="Quattrocento Sans" panose="020B0502050000020003" pitchFamily="34" charset="0"/>
              </a:rPr>
              <a:t>Dataset</a:t>
            </a:r>
            <a:r>
              <a:rPr lang="id-ID" sz="1600" dirty="0">
                <a:solidFill>
                  <a:schemeClr val="tx1"/>
                </a:solidFill>
                <a:latin typeface="Quattrocento Sans" panose="020B0502050000020003" pitchFamily="34" charset="0"/>
              </a:rPr>
              <a:t> didominasi oleh pelanggan Non-</a:t>
            </a:r>
            <a:r>
              <a:rPr lang="id-ID" sz="1600" dirty="0" err="1">
                <a:solidFill>
                  <a:schemeClr val="tx1"/>
                </a:solidFill>
                <a:latin typeface="Quattrocento Sans" panose="020B0502050000020003" pitchFamily="34" charset="0"/>
              </a:rPr>
              <a:t>churn</a:t>
            </a:r>
            <a:r>
              <a:rPr lang="id-ID" sz="1600" dirty="0">
                <a:solidFill>
                  <a:schemeClr val="tx1"/>
                </a:solidFill>
                <a:latin typeface="Quattrocento Sans" panose="020B0502050000020003" pitchFamily="34" charset="0"/>
              </a:rPr>
              <a:t> sehingga memiliki </a:t>
            </a:r>
            <a:r>
              <a:rPr lang="id-ID" sz="1600" dirty="0" err="1">
                <a:solidFill>
                  <a:schemeClr val="tx1"/>
                </a:solidFill>
                <a:latin typeface="Quattrocento Sans" panose="020B0502050000020003" pitchFamily="34" charset="0"/>
              </a:rPr>
              <a:t>class</a:t>
            </a:r>
            <a:r>
              <a:rPr lang="id-ID" sz="1600" dirty="0">
                <a:solidFill>
                  <a:schemeClr val="tx1"/>
                </a:solidFill>
                <a:latin typeface="Quattrocento Sans" panose="020B0502050000020003" pitchFamily="34" charset="0"/>
              </a:rPr>
              <a:t> </a:t>
            </a:r>
            <a:r>
              <a:rPr lang="id-ID" sz="1600" dirty="0" err="1">
                <a:solidFill>
                  <a:schemeClr val="tx1"/>
                </a:solidFill>
                <a:latin typeface="Quattrocento Sans" panose="020B0502050000020003" pitchFamily="34" charset="0"/>
              </a:rPr>
              <a:t>imbalance</a:t>
            </a:r>
            <a:r>
              <a:rPr lang="id-ID" sz="1600" dirty="0">
                <a:solidFill>
                  <a:schemeClr val="tx1"/>
                </a:solidFill>
                <a:latin typeface="Quattrocento Sans" panose="020B0502050000020003" pitchFamily="34" charset="0"/>
              </a:rPr>
              <a:t>, sementara proporsi </a:t>
            </a:r>
            <a:r>
              <a:rPr lang="id-ID" sz="1600" dirty="0" err="1">
                <a:solidFill>
                  <a:schemeClr val="tx1"/>
                </a:solidFill>
                <a:latin typeface="Quattrocento Sans" panose="020B0502050000020003" pitchFamily="34" charset="0"/>
              </a:rPr>
              <a:t>churn</a:t>
            </a:r>
            <a:r>
              <a:rPr lang="id-ID" sz="1600" dirty="0">
                <a:solidFill>
                  <a:schemeClr val="tx1"/>
                </a:solidFill>
                <a:latin typeface="Quattrocento Sans" panose="020B0502050000020003" pitchFamily="34" charset="0"/>
              </a:rPr>
              <a:t> sebesar 20,37% tetap cukup signifikan untuk menjadi fokus strategi retensi pelanggan.</a:t>
            </a:r>
          </a:p>
        </p:txBody>
      </p:sp>
      <p:sp>
        <p:nvSpPr>
          <p:cNvPr id="36" name="Persegi Panjang: Sudut Lengkung 35">
            <a:extLst>
              <a:ext uri="{FF2B5EF4-FFF2-40B4-BE49-F238E27FC236}">
                <a16:creationId xmlns:a16="http://schemas.microsoft.com/office/drawing/2014/main" id="{F03458BF-89A6-5B97-2194-3D21B02E078D}"/>
              </a:ext>
            </a:extLst>
          </p:cNvPr>
          <p:cNvSpPr/>
          <p:nvPr/>
        </p:nvSpPr>
        <p:spPr>
          <a:xfrm>
            <a:off x="9613900" y="4531797"/>
            <a:ext cx="6153665" cy="4025900"/>
          </a:xfrm>
          <a:prstGeom prst="roundRect">
            <a:avLst>
              <a:gd name="adj" fmla="val 4706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id-ID" sz="1600" dirty="0">
                <a:solidFill>
                  <a:schemeClr val="tx1"/>
                </a:solidFill>
              </a:rPr>
              <a:t>Pelanggan dengan </a:t>
            </a:r>
            <a:r>
              <a:rPr lang="id-ID" sz="1600" b="1" dirty="0">
                <a:solidFill>
                  <a:schemeClr val="tx1"/>
                </a:solidFill>
              </a:rPr>
              <a:t>4 produk</a:t>
            </a:r>
            <a:r>
              <a:rPr lang="id-ID" sz="1600" dirty="0">
                <a:solidFill>
                  <a:schemeClr val="tx1"/>
                </a:solidFill>
              </a:rPr>
              <a:t> memiliki </a:t>
            </a:r>
            <a:r>
              <a:rPr lang="id-ID" sz="1600" b="1" dirty="0" err="1">
                <a:solidFill>
                  <a:schemeClr val="tx1"/>
                </a:solidFill>
              </a:rPr>
              <a:t>Churn</a:t>
            </a:r>
            <a:r>
              <a:rPr lang="id-ID" sz="1600" b="1" dirty="0">
                <a:solidFill>
                  <a:schemeClr val="tx1"/>
                </a:solidFill>
              </a:rPr>
              <a:t> Rate tertinggi (100%)</a:t>
            </a:r>
            <a:r>
              <a:rPr lang="id-ID" sz="1600" dirty="0">
                <a:solidFill>
                  <a:schemeClr val="tx1"/>
                </a:solidFill>
              </a:rPr>
              <a:t>, diikuti </a:t>
            </a:r>
            <a:r>
              <a:rPr lang="id-ID" sz="1600" b="1" dirty="0">
                <a:solidFill>
                  <a:schemeClr val="tx1"/>
                </a:solidFill>
              </a:rPr>
              <a:t>3 produk (82,71%)</a:t>
            </a:r>
            <a:r>
              <a:rPr lang="id-ID" sz="1600" dirty="0">
                <a:solidFill>
                  <a:schemeClr val="tx1"/>
                </a:solidFill>
              </a:rPr>
              <a:t>. 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id-ID" sz="1600" dirty="0">
                <a:solidFill>
                  <a:schemeClr val="tx1"/>
                </a:solidFill>
              </a:rPr>
              <a:t>Pelanggan dengan </a:t>
            </a:r>
            <a:r>
              <a:rPr lang="id-ID" sz="1600" b="1" dirty="0">
                <a:solidFill>
                  <a:schemeClr val="tx1"/>
                </a:solidFill>
              </a:rPr>
              <a:t>2 produk</a:t>
            </a:r>
            <a:r>
              <a:rPr lang="id-ID" sz="1600" dirty="0">
                <a:solidFill>
                  <a:schemeClr val="tx1"/>
                </a:solidFill>
              </a:rPr>
              <a:t> memiliki </a:t>
            </a:r>
            <a:r>
              <a:rPr lang="id-ID" sz="1600" b="1" dirty="0" err="1">
                <a:solidFill>
                  <a:schemeClr val="tx1"/>
                </a:solidFill>
              </a:rPr>
              <a:t>Churn</a:t>
            </a:r>
            <a:r>
              <a:rPr lang="id-ID" sz="1600" b="1" dirty="0">
                <a:solidFill>
                  <a:schemeClr val="tx1"/>
                </a:solidFill>
              </a:rPr>
              <a:t> Rate terendah (7,58%)</a:t>
            </a:r>
            <a:r>
              <a:rPr lang="id-ID" sz="1600" dirty="0">
                <a:solidFill>
                  <a:schemeClr val="tx1"/>
                </a:solidFill>
              </a:rPr>
              <a:t>, menunjukkan tingkat retensi terbaik. 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id-ID" sz="1600" dirty="0">
                <a:solidFill>
                  <a:schemeClr val="tx1"/>
                </a:solidFill>
              </a:rPr>
              <a:t>Meskipun jumlah pelanggan dengan </a:t>
            </a:r>
            <a:r>
              <a:rPr lang="id-ID" sz="1600" b="1" dirty="0">
                <a:solidFill>
                  <a:schemeClr val="tx1"/>
                </a:solidFill>
              </a:rPr>
              <a:t>3–4 produk relatif sedikit</a:t>
            </a:r>
            <a:r>
              <a:rPr lang="id-ID" sz="1600" dirty="0">
                <a:solidFill>
                  <a:schemeClr val="tx1"/>
                </a:solidFill>
              </a:rPr>
              <a:t>, proporsi </a:t>
            </a:r>
            <a:r>
              <a:rPr lang="id-ID" sz="1600" dirty="0" err="1">
                <a:solidFill>
                  <a:schemeClr val="tx1"/>
                </a:solidFill>
              </a:rPr>
              <a:t>churn</a:t>
            </a:r>
            <a:r>
              <a:rPr lang="id-ID" sz="1600" dirty="0">
                <a:solidFill>
                  <a:schemeClr val="tx1"/>
                </a:solidFill>
              </a:rPr>
              <a:t> pada kedua kategori sangat tinggi. 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id-ID" sz="1600" dirty="0">
                <a:solidFill>
                  <a:schemeClr val="tx1"/>
                </a:solidFill>
              </a:rPr>
              <a:t>Sebaliknya, pelanggan dengan </a:t>
            </a:r>
            <a:r>
              <a:rPr lang="id-ID" sz="1600" b="1" dirty="0">
                <a:solidFill>
                  <a:schemeClr val="tx1"/>
                </a:solidFill>
              </a:rPr>
              <a:t>2 produk</a:t>
            </a:r>
            <a:r>
              <a:rPr lang="id-ID" sz="1600" dirty="0">
                <a:solidFill>
                  <a:schemeClr val="tx1"/>
                </a:solidFill>
              </a:rPr>
              <a:t> berjumlah besar tetapi sebagian besar tetap bertahan. 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br>
              <a:rPr lang="id-ID" sz="1600" dirty="0">
                <a:solidFill>
                  <a:schemeClr val="tx1"/>
                </a:solidFill>
              </a:rPr>
            </a:br>
            <a:r>
              <a:rPr lang="id-ID" sz="1600" dirty="0" err="1">
                <a:solidFill>
                  <a:schemeClr val="tx1"/>
                </a:solidFill>
              </a:rPr>
              <a:t>NumOfProducts</a:t>
            </a:r>
            <a:r>
              <a:rPr lang="id-ID" sz="1600" dirty="0">
                <a:solidFill>
                  <a:schemeClr val="tx1"/>
                </a:solidFill>
              </a:rPr>
              <a:t> menunjukkan hubungan yang kuat dengan </a:t>
            </a:r>
            <a:r>
              <a:rPr lang="id-ID" sz="1600" dirty="0" err="1">
                <a:solidFill>
                  <a:schemeClr val="tx1"/>
                </a:solidFill>
              </a:rPr>
              <a:t>customer</a:t>
            </a:r>
            <a:r>
              <a:rPr lang="id-ID" sz="1600" dirty="0">
                <a:solidFill>
                  <a:schemeClr val="tx1"/>
                </a:solidFill>
              </a:rPr>
              <a:t> </a:t>
            </a:r>
            <a:r>
              <a:rPr lang="id-ID" sz="1600" dirty="0" err="1">
                <a:solidFill>
                  <a:schemeClr val="tx1"/>
                </a:solidFill>
              </a:rPr>
              <a:t>churn</a:t>
            </a:r>
            <a:r>
              <a:rPr lang="id-ID" sz="1600" dirty="0">
                <a:solidFill>
                  <a:schemeClr val="tx1"/>
                </a:solidFill>
              </a:rPr>
              <a:t>. Pelanggan yang memiliki 3–4 produk memiliki risiko </a:t>
            </a:r>
            <a:r>
              <a:rPr lang="id-ID" sz="1600" dirty="0" err="1">
                <a:solidFill>
                  <a:schemeClr val="tx1"/>
                </a:solidFill>
              </a:rPr>
              <a:t>churn</a:t>
            </a:r>
            <a:r>
              <a:rPr lang="id-ID" sz="1600" dirty="0">
                <a:solidFill>
                  <a:schemeClr val="tx1"/>
                </a:solidFill>
              </a:rPr>
              <a:t> sangat tinggi, sedangkan pelanggan dengan 2 produk memiliki tingkat retensi terbaik.</a:t>
            </a:r>
          </a:p>
        </p:txBody>
      </p:sp>
      <p:sp>
        <p:nvSpPr>
          <p:cNvPr id="37" name="Rectangle 6">
            <a:extLst>
              <a:ext uri="{FF2B5EF4-FFF2-40B4-BE49-F238E27FC236}">
                <a16:creationId xmlns:a16="http://schemas.microsoft.com/office/drawing/2014/main" id="{6FA6C457-4253-58AE-4412-285667D153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78303"/>
            <a:ext cx="1625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id-ID"/>
          </a:p>
        </p:txBody>
      </p:sp>
      <p:sp>
        <p:nvSpPr>
          <p:cNvPr id="38" name="Rectangle 9">
            <a:extLst>
              <a:ext uri="{FF2B5EF4-FFF2-40B4-BE49-F238E27FC236}">
                <a16:creationId xmlns:a16="http://schemas.microsoft.com/office/drawing/2014/main" id="{F606EB90-9F3D-D0AF-D359-B5977726F4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304800"/>
            <a:ext cx="1625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id-ID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6C6C999-EEA8-6C2F-D6AC-5E30532B70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457200"/>
            <a:ext cx="1625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id-ID"/>
          </a:p>
        </p:txBody>
      </p:sp>
      <p:pic>
        <p:nvPicPr>
          <p:cNvPr id="4101" name="Picture 5">
            <a:extLst>
              <a:ext uri="{FF2B5EF4-FFF2-40B4-BE49-F238E27FC236}">
                <a16:creationId xmlns:a16="http://schemas.microsoft.com/office/drawing/2014/main" id="{4175CE59-E16D-8C98-2BFA-24439D6350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5877" y="1680650"/>
            <a:ext cx="3727622" cy="39156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Gambar 1">
            <a:extLst>
              <a:ext uri="{FF2B5EF4-FFF2-40B4-BE49-F238E27FC236}">
                <a16:creationId xmlns:a16="http://schemas.microsoft.com/office/drawing/2014/main" id="{68CABBF9-A2A6-A517-3B82-B8B0C9205F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744" y="5362064"/>
            <a:ext cx="4099110" cy="27911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6">
            <a:extLst>
              <a:ext uri="{FF2B5EF4-FFF2-40B4-BE49-F238E27FC236}">
                <a16:creationId xmlns:a16="http://schemas.microsoft.com/office/drawing/2014/main" id="{5BFA1AB8-52A6-CFD4-E4C5-2203570490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1625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id-ID"/>
          </a:p>
        </p:txBody>
      </p:sp>
      <p:pic>
        <p:nvPicPr>
          <p:cNvPr id="9" name="Gambar 8">
            <a:extLst>
              <a:ext uri="{FF2B5EF4-FFF2-40B4-BE49-F238E27FC236}">
                <a16:creationId xmlns:a16="http://schemas.microsoft.com/office/drawing/2014/main" id="{5D41C55F-7091-255A-BE25-28CA2DC534D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21436" y="3066892"/>
            <a:ext cx="3783257" cy="3964104"/>
          </a:xfrm>
          <a:prstGeom prst="rect">
            <a:avLst/>
          </a:prstGeom>
          <a:ln>
            <a:solidFill>
              <a:schemeClr val="bg1"/>
            </a:solidFill>
          </a:ln>
        </p:spPr>
      </p:pic>
    </p:spTree>
    <p:extLst>
      <p:ext uri="{BB962C8B-B14F-4D97-AF65-F5344CB8AC3E}">
        <p14:creationId xmlns:p14="http://schemas.microsoft.com/office/powerpoint/2010/main" val="314626448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444500"/>
            <a:ext cx="8890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800" b="1" dirty="0">
                <a:solidFill>
                  <a:srgbClr val="1E3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Korelasi Antar Variabel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62000" y="1041400"/>
            <a:ext cx="762000" cy="50800"/>
          </a:xfrm>
          <a:prstGeom prst="rect">
            <a:avLst/>
          </a:prstGeom>
          <a:solidFill>
            <a:srgbClr val="E891A0"/>
          </a:solidFill>
          <a:ln/>
        </p:spPr>
      </p:sp>
      <p:sp>
        <p:nvSpPr>
          <p:cNvPr id="4" name="Shape 2"/>
          <p:cNvSpPr/>
          <p:nvPr/>
        </p:nvSpPr>
        <p:spPr>
          <a:xfrm>
            <a:off x="762000" y="1333500"/>
            <a:ext cx="8890000" cy="6858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blurRad="127000" dist="25400" dir="5400000" algn="bl" rotWithShape="0">
              <a:srgbClr val="000000">
                <a:alpha val="3922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16000" y="14986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b="1" dirty="0">
                <a:solidFill>
                  <a:srgbClr val="1E3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Heatmap Korelasi Fitur Numerik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10160000" y="1333500"/>
            <a:ext cx="5334000" cy="6858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blurRad="127000" dist="25400" dir="5400000" algn="bl" rotWithShape="0">
              <a:srgbClr val="000000">
                <a:alpha val="3922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10477500" y="1524000"/>
            <a:ext cx="4699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1E3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Insight Korelasi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10477500" y="1968500"/>
            <a:ext cx="4699000" cy="254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0" name="Text 7"/>
          <p:cNvSpPr/>
          <p:nvPr/>
        </p:nvSpPr>
        <p:spPr>
          <a:xfrm>
            <a:off x="10477500" y="2159000"/>
            <a:ext cx="4699000" cy="577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400" b="1" dirty="0">
                <a:solidFill>
                  <a:srgbClr val="D462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Age vs Exited: 0.29</a:t>
            </a:r>
            <a:endParaRPr lang="en-US" sz="1400" dirty="0"/>
          </a:p>
          <a:p>
            <a:pPr algn="l">
              <a:lnSpc>
                <a:spcPct val="150000"/>
              </a:lnSpc>
            </a:pPr>
            <a:r>
              <a:rPr lang="en-US" sz="1400" dirty="0">
                <a:solidFill>
                  <a:srgbClr val="1A2B3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Korelasi tertinggi. Peningkatan usia cenderung diikuti peningkatan kemungkinan churn.</a:t>
            </a:r>
            <a:endParaRPr lang="en-US" sz="1400" dirty="0"/>
          </a:p>
          <a:p>
            <a:pPr algn="l">
              <a:lnSpc>
                <a:spcPct val="150000"/>
              </a:lnSpc>
              <a:spcBef>
                <a:spcPts val="800"/>
              </a:spcBef>
            </a:pPr>
            <a:r>
              <a:rPr lang="en-US" sz="1400" b="1" dirty="0">
                <a:solidFill>
                  <a:srgbClr val="E891A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Balance vs Exited: 0.12</a:t>
            </a:r>
            <a:endParaRPr lang="en-US" sz="1400" dirty="0"/>
          </a:p>
          <a:p>
            <a:pPr algn="l">
              <a:lnSpc>
                <a:spcPct val="150000"/>
              </a:lnSpc>
            </a:pPr>
            <a:r>
              <a:rPr lang="en-US" sz="1400" dirty="0">
                <a:solidFill>
                  <a:srgbClr val="1A2B3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Hubungan positif lemah. Saldo lebih tinggi sedikit berkaitan dengan churn.</a:t>
            </a:r>
            <a:endParaRPr lang="en-US" sz="1400" dirty="0"/>
          </a:p>
          <a:p>
            <a:pPr algn="l">
              <a:lnSpc>
                <a:spcPct val="150000"/>
              </a:lnSpc>
              <a:spcBef>
                <a:spcPts val="800"/>
              </a:spcBef>
            </a:pPr>
            <a:r>
              <a:rPr lang="en-US" sz="1400" b="1" dirty="0">
                <a:solidFill>
                  <a:srgbClr val="1E3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Balance vs NumOfProducts: -0.30</a:t>
            </a:r>
            <a:endParaRPr lang="en-US" sz="1400" dirty="0"/>
          </a:p>
          <a:p>
            <a:pPr algn="l">
              <a:lnSpc>
                <a:spcPct val="150000"/>
              </a:lnSpc>
            </a:pPr>
            <a:r>
              <a:rPr lang="en-US" sz="1400" dirty="0">
                <a:solidFill>
                  <a:srgbClr val="1A2B3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Korelasi antarfitur terbesar. Pelanggan dengan produk lebih banyak cenderung memiliki saldo lebih rendah.</a:t>
            </a:r>
            <a:endParaRPr lang="en-US" sz="1400" dirty="0"/>
          </a:p>
          <a:p>
            <a:pPr algn="l">
              <a:lnSpc>
                <a:spcPct val="150000"/>
              </a:lnSpc>
              <a:spcBef>
                <a:spcPts val="800"/>
              </a:spcBef>
            </a:pPr>
            <a:r>
              <a:rPr lang="en-US" sz="1400" b="1" dirty="0">
                <a:solidFill>
                  <a:srgbClr val="6B7B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Lainnya:</a:t>
            </a:r>
            <a:r>
              <a:rPr lang="en-US" sz="1400" dirty="0">
                <a:solidFill>
                  <a:srgbClr val="1A2B3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CreditScore (-0.03), Tenure (-0.01), NumOfProducts (-0.05), EstimatedSalary (0.01) memiliki korelasi sangat lemah terhadap Exited.</a:t>
            </a:r>
            <a:endParaRPr lang="en-US" sz="1400" dirty="0"/>
          </a:p>
          <a:p>
            <a:pPr algn="l">
              <a:lnSpc>
                <a:spcPct val="150000"/>
              </a:lnSpc>
              <a:spcBef>
                <a:spcPts val="800"/>
              </a:spcBef>
            </a:pPr>
            <a:r>
              <a:rPr lang="en-US" sz="1400" b="1" dirty="0">
                <a:solidFill>
                  <a:srgbClr val="D462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Kesimpulan:</a:t>
            </a:r>
            <a:r>
              <a:rPr lang="en-US" sz="1400" dirty="0">
                <a:solidFill>
                  <a:srgbClr val="1A2B3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Tidak ada multikolinearitas tinggi (|r| &lt; 0.80). Setiap variabel memberikan informasi yang relatif independen.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0" y="8636000"/>
            <a:ext cx="16256000" cy="5080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2" name="Shape 9"/>
          <p:cNvSpPr/>
          <p:nvPr/>
        </p:nvSpPr>
        <p:spPr>
          <a:xfrm>
            <a:off x="5422900" y="8636000"/>
            <a:ext cx="5410200" cy="508000"/>
          </a:xfrm>
          <a:prstGeom prst="rect">
            <a:avLst/>
          </a:prstGeom>
          <a:solidFill>
            <a:srgbClr val="FFFFFF">
              <a:alpha val="14510"/>
            </a:srgbClr>
          </a:solidFill>
          <a:ln/>
        </p:spPr>
      </p:sp>
      <p:sp>
        <p:nvSpPr>
          <p:cNvPr id="13" name="Text 10"/>
          <p:cNvSpPr/>
          <p:nvPr/>
        </p:nvSpPr>
        <p:spPr>
          <a:xfrm>
            <a:off x="127000" y="8712200"/>
            <a:ext cx="51689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Bab I - Pendahuluan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5549900" y="8712200"/>
            <a:ext cx="51689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Bab II - Pembahasan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10845800" y="8712200"/>
            <a:ext cx="51562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Bab III - Penutup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14986000" y="50800"/>
            <a:ext cx="762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200" dirty="0">
                <a:solidFill>
                  <a:srgbClr val="6B7B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14</a:t>
            </a:r>
            <a:endParaRPr lang="en-US" sz="1200" dirty="0"/>
          </a:p>
        </p:txBody>
      </p:sp>
      <p:pic>
        <p:nvPicPr>
          <p:cNvPr id="17" name="Gambar 16">
            <a:extLst>
              <a:ext uri="{FF2B5EF4-FFF2-40B4-BE49-F238E27FC236}">
                <a16:creationId xmlns:a16="http://schemas.microsoft.com/office/drawing/2014/main" id="{23B6A58C-5D82-4BB0-6202-9DF6695678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8652" y="1776465"/>
            <a:ext cx="7124641" cy="6379312"/>
          </a:xfrm>
          <a:prstGeom prst="rect">
            <a:avLst/>
          </a:prstGeom>
          <a:ln>
            <a:solidFill>
              <a:schemeClr val="bg1"/>
            </a:solidFill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gradFill flip="none" rotWithShape="1">
          <a:gsLst>
            <a:gs pos="0">
              <a:srgbClr val="1E3A5F"/>
            </a:gs>
            <a:gs pos="70000">
              <a:srgbClr val="2D4F7C"/>
            </a:gs>
            <a:gs pos="100000">
              <a:srgbClr val="D4627A"/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1270000"/>
            <a:ext cx="6350000" cy="279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80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03</a:t>
            </a:r>
            <a:endParaRPr lang="en-US" sz="18000" dirty="0"/>
          </a:p>
        </p:txBody>
      </p:sp>
      <p:sp>
        <p:nvSpPr>
          <p:cNvPr id="3" name="Text 1"/>
          <p:cNvSpPr/>
          <p:nvPr/>
        </p:nvSpPr>
        <p:spPr>
          <a:xfrm>
            <a:off x="1016000" y="3810000"/>
            <a:ext cx="381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b="1" kern="0" spc="400" dirty="0">
                <a:solidFill>
                  <a:srgbClr val="E891A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BAB III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016000" y="4318000"/>
            <a:ext cx="8890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Penutup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1016000" y="5270500"/>
            <a:ext cx="1270000" cy="50800"/>
          </a:xfrm>
          <a:prstGeom prst="rect">
            <a:avLst/>
          </a:prstGeom>
          <a:solidFill>
            <a:srgbClr val="E891A0"/>
          </a:solidFill>
          <a:ln/>
        </p:spPr>
      </p:sp>
      <p:sp>
        <p:nvSpPr>
          <p:cNvPr id="6" name="Text 4"/>
          <p:cNvSpPr/>
          <p:nvPr/>
        </p:nvSpPr>
        <p:spPr>
          <a:xfrm>
            <a:off x="1016000" y="5524500"/>
            <a:ext cx="762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B0C4D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Kesimpulan dari hasil analisis EDA dan saran untuk penelitian selanjutnya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11430000" y="2540000"/>
            <a:ext cx="3810000" cy="3810000"/>
          </a:xfrm>
          <a:prstGeom prst="ellipse">
            <a:avLst/>
          </a:prstGeom>
          <a:solidFill>
            <a:srgbClr val="FFFFFF">
              <a:alpha val="3137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2700000" y="4445000"/>
            <a:ext cx="2540000" cy="2540000"/>
          </a:xfrm>
          <a:prstGeom prst="ellipse">
            <a:avLst/>
          </a:prstGeom>
          <a:solidFill>
            <a:srgbClr val="FFFFFF">
              <a:alpha val="6275"/>
            </a:srgbClr>
          </a:solidFill>
          <a:ln/>
        </p:spPr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444500"/>
            <a:ext cx="8890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800" b="1" dirty="0">
                <a:solidFill>
                  <a:srgbClr val="1E3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Kesimpulan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62000" y="1041400"/>
            <a:ext cx="762000" cy="50800"/>
          </a:xfrm>
          <a:prstGeom prst="rect">
            <a:avLst/>
          </a:prstGeom>
          <a:solidFill>
            <a:srgbClr val="E891A0"/>
          </a:solidFill>
          <a:ln/>
        </p:spPr>
      </p:sp>
      <p:sp>
        <p:nvSpPr>
          <p:cNvPr id="4" name="Shape 2"/>
          <p:cNvSpPr/>
          <p:nvPr/>
        </p:nvSpPr>
        <p:spPr>
          <a:xfrm>
            <a:off x="762000" y="1333500"/>
            <a:ext cx="14732000" cy="6858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blurRad="127000" dist="25400" dir="5400000" algn="bl" rotWithShape="0">
              <a:srgbClr val="000000">
                <a:alpha val="3922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143000" y="1587500"/>
            <a:ext cx="13970000" cy="63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2200" b="1" dirty="0">
                <a:solidFill>
                  <a:srgbClr val="D462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1.</a:t>
            </a:r>
            <a:r>
              <a:rPr lang="en-US" sz="1700" dirty="0">
                <a:solidFill>
                  <a:srgbClr val="1A2B3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Dataset terdiri atas </a:t>
            </a:r>
            <a:r>
              <a:rPr lang="en-US" sz="1700" b="1" dirty="0">
                <a:solidFill>
                  <a:srgbClr val="1A2B3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10.000 pelanggan</a:t>
            </a:r>
            <a:r>
              <a:rPr lang="en-US" sz="1700" dirty="0">
                <a:solidFill>
                  <a:srgbClr val="1A2B3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dengan </a:t>
            </a:r>
            <a:r>
              <a:rPr lang="en-US" sz="1700" b="1" dirty="0">
                <a:solidFill>
                  <a:srgbClr val="1A2B3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2.037 pelanggan (20,37%) churn</a:t>
            </a:r>
            <a:r>
              <a:rPr lang="en-US" sz="1700" dirty="0">
                <a:solidFill>
                  <a:srgbClr val="1A2B3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dan 7.963 pelanggan (79,63%) non-churn. Dataset mengalami </a:t>
            </a:r>
            <a:r>
              <a:rPr lang="en-US" sz="1700" b="1" dirty="0">
                <a:solidFill>
                  <a:srgbClr val="1A2B3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class imbalance</a:t>
            </a:r>
            <a:r>
              <a:rPr lang="en-US" sz="1700" dirty="0">
                <a:solidFill>
                  <a:srgbClr val="1A2B3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</a:t>
            </a:r>
            <a:endParaRPr lang="en-US" sz="2200" dirty="0"/>
          </a:p>
          <a:p>
            <a:pPr algn="l">
              <a:lnSpc>
                <a:spcPct val="160000"/>
              </a:lnSpc>
              <a:spcBef>
                <a:spcPts val="1400"/>
              </a:spcBef>
            </a:pPr>
            <a:r>
              <a:rPr lang="en-US" sz="2200" b="1" dirty="0">
                <a:solidFill>
                  <a:srgbClr val="D462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2.</a:t>
            </a:r>
            <a:r>
              <a:rPr lang="en-US" sz="1700" dirty="0">
                <a:solidFill>
                  <a:srgbClr val="1A2B3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Karakteristik churn berdasarkan variabel kategorikal:</a:t>
            </a:r>
            <a:endParaRPr lang="en-US" sz="2200" dirty="0"/>
          </a:p>
          <a:p>
            <a:pPr algn="l">
              <a:lnSpc>
                <a:spcPct val="160000"/>
              </a:lnSpc>
              <a:spcBef>
                <a:spcPts val="400"/>
              </a:spcBef>
            </a:pPr>
            <a:r>
              <a:rPr lang="en-US" sz="1700" dirty="0">
                <a:solidFill>
                  <a:srgbClr val="1A2B3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 - </a:t>
            </a:r>
            <a:r>
              <a:rPr lang="en-US" sz="1700" b="1" dirty="0">
                <a:solidFill>
                  <a:srgbClr val="1A2B3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Germany</a:t>
            </a:r>
            <a:r>
              <a:rPr lang="en-US" sz="1700" dirty="0">
                <a:solidFill>
                  <a:srgbClr val="1A2B3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: Churn rate tertinggi </a:t>
            </a:r>
            <a:r>
              <a:rPr lang="en-US" sz="1700" b="1" dirty="0">
                <a:solidFill>
                  <a:srgbClr val="1A2B3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32,44%</a:t>
            </a:r>
            <a:r>
              <a:rPr lang="en-US" sz="1700" dirty="0">
                <a:solidFill>
                  <a:srgbClr val="1A2B3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| </a:t>
            </a:r>
            <a:r>
              <a:rPr lang="en-US" sz="1700" b="1" dirty="0">
                <a:solidFill>
                  <a:srgbClr val="1A2B3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Female</a:t>
            </a:r>
            <a:r>
              <a:rPr lang="en-US" sz="1700" dirty="0">
                <a:solidFill>
                  <a:srgbClr val="1A2B3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: 25,07% vs Male 16,46%</a:t>
            </a:r>
            <a:endParaRPr lang="en-US" sz="2200" dirty="0"/>
          </a:p>
          <a:p>
            <a:pPr algn="l">
              <a:lnSpc>
                <a:spcPct val="160000"/>
              </a:lnSpc>
              <a:spcBef>
                <a:spcPts val="400"/>
              </a:spcBef>
            </a:pPr>
            <a:r>
              <a:rPr lang="en-US" sz="1700" dirty="0">
                <a:solidFill>
                  <a:srgbClr val="1A2B3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 - </a:t>
            </a:r>
            <a:r>
              <a:rPr lang="en-US" sz="1700" b="1" dirty="0">
                <a:solidFill>
                  <a:srgbClr val="1A2B3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Inactive Member</a:t>
            </a:r>
            <a:r>
              <a:rPr lang="en-US" sz="1700" dirty="0">
                <a:solidFill>
                  <a:srgbClr val="1A2B3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: 26,85% (hampir 2x Active Member 14,27%)</a:t>
            </a:r>
            <a:endParaRPr lang="en-US" sz="2200" dirty="0"/>
          </a:p>
          <a:p>
            <a:pPr algn="l">
              <a:lnSpc>
                <a:spcPct val="160000"/>
              </a:lnSpc>
              <a:spcBef>
                <a:spcPts val="400"/>
              </a:spcBef>
            </a:pPr>
            <a:r>
              <a:rPr lang="en-US" sz="1700" dirty="0">
                <a:solidFill>
                  <a:srgbClr val="1A2B3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 - </a:t>
            </a:r>
            <a:r>
              <a:rPr lang="en-US" sz="1700" b="1" dirty="0">
                <a:solidFill>
                  <a:srgbClr val="1A2B3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HasCrCard</a:t>
            </a:r>
            <a:r>
              <a:rPr lang="en-US" sz="1700" dirty="0">
                <a:solidFill>
                  <a:srgbClr val="1A2B3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: Tidak menunjukkan perbedaan signifikan (~20%)</a:t>
            </a:r>
            <a:endParaRPr lang="en-US" sz="2200" dirty="0"/>
          </a:p>
          <a:p>
            <a:pPr algn="l">
              <a:lnSpc>
                <a:spcPct val="160000"/>
              </a:lnSpc>
              <a:spcBef>
                <a:spcPts val="400"/>
              </a:spcBef>
            </a:pPr>
            <a:r>
              <a:rPr lang="en-US" sz="1700" dirty="0">
                <a:solidFill>
                  <a:srgbClr val="1A2B3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 - </a:t>
            </a:r>
            <a:r>
              <a:rPr lang="en-US" sz="1700" b="1" dirty="0">
                <a:solidFill>
                  <a:srgbClr val="1A2B3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NumOfProducts</a:t>
            </a:r>
            <a:r>
              <a:rPr lang="en-US" sz="1700" dirty="0">
                <a:solidFill>
                  <a:srgbClr val="1A2B3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: 3 produk (82,71%), 4 produk (</a:t>
            </a:r>
            <a:r>
              <a:rPr lang="en-US" sz="1700" b="1" dirty="0">
                <a:solidFill>
                  <a:srgbClr val="1A2B3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100%</a:t>
            </a:r>
            <a:r>
              <a:rPr lang="en-US" sz="1700" dirty="0">
                <a:solidFill>
                  <a:srgbClr val="1A2B3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churn)</a:t>
            </a:r>
            <a:endParaRPr lang="en-US" sz="2200" dirty="0"/>
          </a:p>
          <a:p>
            <a:pPr algn="l">
              <a:lnSpc>
                <a:spcPct val="160000"/>
              </a:lnSpc>
              <a:spcBef>
                <a:spcPts val="1400"/>
              </a:spcBef>
            </a:pPr>
            <a:r>
              <a:rPr lang="en-US" sz="2200" b="1" dirty="0">
                <a:solidFill>
                  <a:srgbClr val="D462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3.</a:t>
            </a:r>
            <a:r>
              <a:rPr lang="en-US" sz="1700" dirty="0">
                <a:solidFill>
                  <a:srgbClr val="1A2B3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Variabel </a:t>
            </a:r>
            <a:r>
              <a:rPr lang="en-US" sz="1700" b="1" dirty="0">
                <a:solidFill>
                  <a:srgbClr val="1A2B3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Age</a:t>
            </a:r>
            <a:r>
              <a:rPr lang="en-US" sz="1700" dirty="0">
                <a:solidFill>
                  <a:srgbClr val="1A2B3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memiliki korelasi tertinggi dengan churn (</a:t>
            </a:r>
            <a:r>
              <a:rPr lang="en-US" sz="1700" b="1" dirty="0">
                <a:solidFill>
                  <a:srgbClr val="1A2B3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0,29</a:t>
            </a:r>
            <a:r>
              <a:rPr lang="en-US" sz="1700" dirty="0">
                <a:solidFill>
                  <a:srgbClr val="1A2B3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), menunjukkan pelanggan lebih tua cenderung churn. Balance (0,12) dan variabel lain memiliki korelasi lemah.</a:t>
            </a:r>
            <a:endParaRPr lang="en-US" sz="2200" dirty="0"/>
          </a:p>
          <a:p>
            <a:pPr algn="l">
              <a:lnSpc>
                <a:spcPct val="160000"/>
              </a:lnSpc>
              <a:spcBef>
                <a:spcPts val="1400"/>
              </a:spcBef>
            </a:pPr>
            <a:r>
              <a:rPr lang="en-US" sz="2200" b="1" dirty="0">
                <a:solidFill>
                  <a:srgbClr val="D462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4.</a:t>
            </a:r>
            <a:r>
              <a:rPr lang="en-US" sz="1700" dirty="0">
                <a:solidFill>
                  <a:srgbClr val="1A2B3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Tidak ditemukan </a:t>
            </a:r>
            <a:r>
              <a:rPr lang="en-US" sz="1700" b="1" dirty="0">
                <a:solidFill>
                  <a:srgbClr val="1A2B3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multikolinearitas tinggi</a:t>
            </a:r>
            <a:r>
              <a:rPr lang="en-US" sz="1700" dirty="0">
                <a:solidFill>
                  <a:srgbClr val="1A2B3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antar variabel numerik (|r| &lt; 0,80), sehingga semua variabel layak digunakan untuk analisis lanjutan.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0" y="8636000"/>
            <a:ext cx="16256000" cy="5080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7" name="Shape 5"/>
          <p:cNvSpPr/>
          <p:nvPr/>
        </p:nvSpPr>
        <p:spPr>
          <a:xfrm>
            <a:off x="10845800" y="8636000"/>
            <a:ext cx="5410200" cy="508000"/>
          </a:xfrm>
          <a:prstGeom prst="rect">
            <a:avLst/>
          </a:prstGeom>
          <a:solidFill>
            <a:srgbClr val="FFFFFF">
              <a:alpha val="1451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127000" y="8712200"/>
            <a:ext cx="51689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Bab I - Pendahuluan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549900" y="8712200"/>
            <a:ext cx="51689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Bab II - Pembahasan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972800" y="8712200"/>
            <a:ext cx="51562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Bab III - Penutup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4986000" y="50800"/>
            <a:ext cx="762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200" dirty="0">
                <a:solidFill>
                  <a:srgbClr val="6B7B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16</a:t>
            </a:r>
            <a:endParaRPr lang="en-US" sz="12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444500"/>
            <a:ext cx="8890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800" b="1" dirty="0">
                <a:solidFill>
                  <a:srgbClr val="1E3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Saran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62000" y="1041400"/>
            <a:ext cx="762000" cy="50800"/>
          </a:xfrm>
          <a:prstGeom prst="rect">
            <a:avLst/>
          </a:prstGeom>
          <a:solidFill>
            <a:srgbClr val="E891A0"/>
          </a:solidFill>
          <a:ln/>
        </p:spPr>
      </p:sp>
      <p:sp>
        <p:nvSpPr>
          <p:cNvPr id="4" name="Shape 2"/>
          <p:cNvSpPr/>
          <p:nvPr/>
        </p:nvSpPr>
        <p:spPr>
          <a:xfrm>
            <a:off x="762000" y="1397000"/>
            <a:ext cx="7112000" cy="32385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blurRad="127000" dist="25400" dir="5400000" algn="bl" rotWithShape="0">
              <a:srgbClr val="000000">
                <a:alpha val="3922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79500" y="1651000"/>
            <a:ext cx="508000" cy="508000"/>
          </a:xfrm>
          <a:prstGeom prst="ellipse">
            <a:avLst/>
          </a:prstGeom>
          <a:solidFill>
            <a:srgbClr val="D4627A"/>
          </a:solidFill>
          <a:ln/>
        </p:spPr>
      </p:sp>
      <p:sp>
        <p:nvSpPr>
          <p:cNvPr id="6" name="Text 4"/>
          <p:cNvSpPr/>
          <p:nvPr/>
        </p:nvSpPr>
        <p:spPr>
          <a:xfrm>
            <a:off x="1079500" y="1651000"/>
            <a:ext cx="508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778000" y="1651000"/>
            <a:ext cx="5715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1E3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Fokus pada Segmen Risiko Tinggi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79500" y="2349500"/>
            <a:ext cx="6477000" cy="203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600" dirty="0">
                <a:solidFill>
                  <a:srgbClr val="1A2B3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Perusahaan perlu memberikan perhatian khusus kepada pelanggan dari </a:t>
            </a:r>
            <a:r>
              <a:rPr lang="en-US" sz="1600" b="1" dirty="0">
                <a:solidFill>
                  <a:srgbClr val="1A2B3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Germany</a:t>
            </a:r>
            <a:r>
              <a:rPr lang="en-US" sz="1600" dirty="0">
                <a:solidFill>
                  <a:srgbClr val="1A2B3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pelanggan </a:t>
            </a:r>
            <a:r>
              <a:rPr lang="en-US" sz="1600" b="1" dirty="0">
                <a:solidFill>
                  <a:srgbClr val="1A2B3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Female</a:t>
            </a:r>
            <a:r>
              <a:rPr lang="en-US" sz="1600" dirty="0">
                <a:solidFill>
                  <a:srgbClr val="1A2B3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pelanggan </a:t>
            </a:r>
            <a:r>
              <a:rPr lang="en-US" sz="1600" b="1" dirty="0">
                <a:solidFill>
                  <a:srgbClr val="1A2B3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Inactive Member</a:t>
            </a:r>
            <a:r>
              <a:rPr lang="en-US" sz="1600" dirty="0">
                <a:solidFill>
                  <a:srgbClr val="1A2B3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serta pelanggan dengan </a:t>
            </a:r>
            <a:r>
              <a:rPr lang="en-US" sz="1600" b="1" dirty="0">
                <a:solidFill>
                  <a:srgbClr val="1A2B3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 dan 4 produk</a:t>
            </a:r>
            <a:r>
              <a:rPr lang="en-US" sz="1600" dirty="0">
                <a:solidFill>
                  <a:srgbClr val="1A2B3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karena kelompok tersebut menunjukkan tingkat churn tertinggi.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382000" y="1397000"/>
            <a:ext cx="7112000" cy="32385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blurRad="127000" dist="25400" dir="5400000" algn="bl" rotWithShape="0">
              <a:srgbClr val="000000">
                <a:alpha val="3922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699500" y="1651000"/>
            <a:ext cx="508000" cy="508000"/>
          </a:xfrm>
          <a:prstGeom prst="ellipse">
            <a:avLst/>
          </a:prstGeom>
          <a:solidFill>
            <a:srgbClr val="E891A0"/>
          </a:solidFill>
          <a:ln/>
        </p:spPr>
      </p:sp>
      <p:sp>
        <p:nvSpPr>
          <p:cNvPr id="11" name="Text 9"/>
          <p:cNvSpPr/>
          <p:nvPr/>
        </p:nvSpPr>
        <p:spPr>
          <a:xfrm>
            <a:off x="8699500" y="1651000"/>
            <a:ext cx="508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9398000" y="1651000"/>
            <a:ext cx="5715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1E3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Strategi Retensi Pelanggan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8699500" y="2349500"/>
            <a:ext cx="6477000" cy="203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600" dirty="0">
                <a:solidFill>
                  <a:srgbClr val="1A2B3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Tingkatkan strategi retensi melalui </a:t>
            </a:r>
            <a:r>
              <a:rPr lang="en-US" sz="1600" b="1" dirty="0">
                <a:solidFill>
                  <a:srgbClr val="1A2B3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program loyalitas</a:t>
            </a:r>
            <a:r>
              <a:rPr lang="en-US" sz="1600" dirty="0">
                <a:solidFill>
                  <a:srgbClr val="1A2B3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penawaran khusus, dan peningkatan kualitas layanan kepada pelanggan dengan karakteristik risiko churn tinggi agar peluang bertahan menjadi lebih besar.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62000" y="4953000"/>
            <a:ext cx="7112000" cy="32385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blurRad="127000" dist="25400" dir="5400000" algn="bl" rotWithShape="0">
              <a:srgbClr val="000000">
                <a:alpha val="3922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1079500" y="5207000"/>
            <a:ext cx="508000" cy="508000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16" name="Text 14"/>
          <p:cNvSpPr/>
          <p:nvPr/>
        </p:nvSpPr>
        <p:spPr>
          <a:xfrm>
            <a:off x="1079500" y="5207000"/>
            <a:ext cx="508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778000" y="5207000"/>
            <a:ext cx="5715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1E3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Pengembangan Model ML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079500" y="5905500"/>
            <a:ext cx="6477000" cy="203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600" dirty="0">
                <a:solidFill>
                  <a:srgbClr val="1A2B3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Penelitian selanjutnya dapat menggunakan metode </a:t>
            </a:r>
            <a:r>
              <a:rPr lang="en-US" sz="1600" b="1" dirty="0">
                <a:solidFill>
                  <a:srgbClr val="1A2B3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machine learning</a:t>
            </a:r>
            <a:r>
              <a:rPr lang="en-US" sz="1600" dirty="0">
                <a:solidFill>
                  <a:srgbClr val="1A2B3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seperti Logistic Regression, Random Forest, XGBoost, atau LightGBM untuk membangun model prediksi churn dengan akurasi lebih baik.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8382000" y="4953000"/>
            <a:ext cx="7112000" cy="32385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blurRad="127000" dist="25400" dir="5400000" algn="bl" rotWithShape="0">
              <a:srgbClr val="000000">
                <a:alpha val="3922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699500" y="5207000"/>
            <a:ext cx="508000" cy="508000"/>
          </a:xfrm>
          <a:prstGeom prst="ellipse">
            <a:avLst/>
          </a:prstGeom>
          <a:solidFill>
            <a:srgbClr val="D4627A"/>
          </a:solidFill>
          <a:ln/>
        </p:spPr>
      </p:sp>
      <p:sp>
        <p:nvSpPr>
          <p:cNvPr id="21" name="Text 19"/>
          <p:cNvSpPr/>
          <p:nvPr/>
        </p:nvSpPr>
        <p:spPr>
          <a:xfrm>
            <a:off x="8699500" y="5207000"/>
            <a:ext cx="508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9398000" y="5207000"/>
            <a:ext cx="5715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1E3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Eksplorasi Dataset Lebih Luas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8699500" y="5905500"/>
            <a:ext cx="6477000" cy="203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600" dirty="0">
                <a:solidFill>
                  <a:srgbClr val="1A2B3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Gunakan </a:t>
            </a:r>
            <a:r>
              <a:rPr lang="en-US" sz="1600" b="1" dirty="0">
                <a:solidFill>
                  <a:srgbClr val="1A2B3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dataset yang lebih besar</a:t>
            </a:r>
            <a:r>
              <a:rPr lang="en-US" sz="1600" dirty="0">
                <a:solidFill>
                  <a:srgbClr val="1A2B3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atau tambahkan variabel seperti riwayat transaksi, frekuensi penggunaan layanan, dan interaksi pelanggan untuk analisis yang lebih komprehensif.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0" y="8636000"/>
            <a:ext cx="16256000" cy="5080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25" name="Shape 23"/>
          <p:cNvSpPr/>
          <p:nvPr/>
        </p:nvSpPr>
        <p:spPr>
          <a:xfrm>
            <a:off x="10845800" y="8636000"/>
            <a:ext cx="5410200" cy="508000"/>
          </a:xfrm>
          <a:prstGeom prst="rect">
            <a:avLst/>
          </a:prstGeom>
          <a:solidFill>
            <a:srgbClr val="FFFFFF">
              <a:alpha val="1451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127000" y="8712200"/>
            <a:ext cx="51689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Bab I - Pendahuluan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549900" y="8712200"/>
            <a:ext cx="51689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Bab II - Pembahasan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0972800" y="8712200"/>
            <a:ext cx="51562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Bab III - Penutup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4986000" y="50800"/>
            <a:ext cx="762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200" dirty="0">
                <a:solidFill>
                  <a:srgbClr val="6B7B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17</a:t>
            </a:r>
            <a:endParaRPr lang="en-US" sz="12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gradFill flip="none" rotWithShape="1">
          <a:gsLst>
            <a:gs pos="0">
              <a:srgbClr val="1E3A5F"/>
            </a:gs>
            <a:gs pos="60000">
              <a:srgbClr val="2D4F7C"/>
            </a:gs>
            <a:gs pos="100000">
              <a:srgbClr val="D4627A"/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684000" y="5715000"/>
            <a:ext cx="4572000" cy="4572000"/>
          </a:xfrm>
          <a:prstGeom prst="ellipse">
            <a:avLst/>
          </a:prstGeom>
          <a:solidFill>
            <a:srgbClr val="FFFFFF">
              <a:alpha val="3137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3335000" y="6604000"/>
            <a:ext cx="2921000" cy="2921000"/>
          </a:xfrm>
          <a:prstGeom prst="ellipse">
            <a:avLst/>
          </a:prstGeom>
          <a:solidFill>
            <a:srgbClr val="FFFFFF">
              <a:alpha val="6275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270000" y="-1270000"/>
            <a:ext cx="5080000" cy="5080000"/>
          </a:xfrm>
          <a:prstGeom prst="ellipse">
            <a:avLst/>
          </a:prstGeom>
          <a:solidFill>
            <a:srgbClr val="FFFFFF">
              <a:alpha val="2353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3048000" y="2286000"/>
            <a:ext cx="10160000" cy="1016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5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Terima Kasih</a:t>
            </a:r>
            <a:endParaRPr lang="en-US" sz="5200" dirty="0"/>
          </a:p>
        </p:txBody>
      </p:sp>
      <p:sp>
        <p:nvSpPr>
          <p:cNvPr id="6" name="Shape 4"/>
          <p:cNvSpPr/>
          <p:nvPr/>
        </p:nvSpPr>
        <p:spPr>
          <a:xfrm>
            <a:off x="6223000" y="3492500"/>
            <a:ext cx="3810000" cy="38100"/>
          </a:xfrm>
          <a:prstGeom prst="rect">
            <a:avLst/>
          </a:prstGeom>
          <a:solidFill>
            <a:srgbClr val="E891A0"/>
          </a:solidFill>
          <a:ln/>
        </p:spPr>
      </p:sp>
      <p:sp>
        <p:nvSpPr>
          <p:cNvPr id="7" name="Text 5"/>
          <p:cNvSpPr/>
          <p:nvPr/>
        </p:nvSpPr>
        <p:spPr>
          <a:xfrm>
            <a:off x="3683000" y="3810000"/>
            <a:ext cx="889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dirty="0">
                <a:solidFill>
                  <a:srgbClr val="B0C4D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Exploratory Data Analysis (EDA) Customer Churn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5588000" y="4699000"/>
            <a:ext cx="508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kern="0" spc="200" dirty="0">
                <a:solidFill>
                  <a:srgbClr val="E891A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ANGGOTA KELOMPOK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683000" y="5143500"/>
            <a:ext cx="8890000" cy="177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80000"/>
              </a:lnSpc>
            </a:pP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Aisyah Lutfhiani </a:t>
            </a:r>
            <a:r>
              <a:rPr lang="en-US" sz="1600" dirty="0">
                <a:solidFill>
                  <a:srgbClr val="E891A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(184250034)</a:t>
            </a:r>
            <a:endParaRPr lang="en-US" sz="1600" dirty="0"/>
          </a:p>
          <a:p>
            <a:pPr algn="ctr">
              <a:lnSpc>
                <a:spcPct val="180000"/>
              </a:lnSpc>
            </a:pP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Kimi Thora Refolino </a:t>
            </a:r>
            <a:r>
              <a:rPr lang="en-US" sz="1600" dirty="0">
                <a:solidFill>
                  <a:srgbClr val="E891A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(184250012)</a:t>
            </a:r>
            <a:endParaRPr lang="en-US" sz="1600" dirty="0"/>
          </a:p>
          <a:p>
            <a:pPr algn="ctr">
              <a:lnSpc>
                <a:spcPct val="180000"/>
              </a:lnSpc>
            </a:pP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Riva Orvala Firjatulloh </a:t>
            </a:r>
            <a:r>
              <a:rPr lang="en-US" sz="1600" dirty="0">
                <a:solidFill>
                  <a:srgbClr val="E891A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(184250007)</a:t>
            </a:r>
            <a:endParaRPr lang="en-US" sz="1600" dirty="0"/>
          </a:p>
          <a:p>
            <a:pPr algn="ctr">
              <a:lnSpc>
                <a:spcPct val="180000"/>
              </a:lnSpc>
            </a:pP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Revani Salya </a:t>
            </a:r>
            <a:r>
              <a:rPr lang="en-US" sz="1600" dirty="0">
                <a:solidFill>
                  <a:srgbClr val="E891A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(184250036)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048000" y="7239000"/>
            <a:ext cx="10160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60000"/>
              </a:lnSpc>
            </a:pPr>
            <a:r>
              <a:rPr lang="en-US" sz="1300" dirty="0">
                <a:solidFill>
                  <a:srgbClr val="8FA8C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Program Studi S1 Sains Data | Sekolah Teknologi dan Informasi</a:t>
            </a:r>
            <a:endParaRPr lang="en-US" sz="1300" dirty="0"/>
          </a:p>
          <a:p>
            <a:pPr algn="ctr">
              <a:lnSpc>
                <a:spcPct val="160000"/>
              </a:lnSpc>
            </a:pPr>
            <a:r>
              <a:rPr lang="en-US" sz="1300" dirty="0">
                <a:solidFill>
                  <a:srgbClr val="8FA8C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Universitas Logistik dan Bisnis Internasional | 2026</a:t>
            </a:r>
            <a:endParaRPr lang="en-US" sz="13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119</TotalTime>
  <Words>2522</Words>
  <Application>Microsoft Office PowerPoint</Application>
  <PresentationFormat>Kustom</PresentationFormat>
  <Paragraphs>535</Paragraphs>
  <Slides>22</Slides>
  <Notes>22</Notes>
  <HiddenSlides>0</HiddenSlides>
  <MMClips>0</MMClips>
  <ScaleCrop>false</ScaleCrop>
  <HeadingPairs>
    <vt:vector size="6" baseType="variant">
      <vt:variant>
        <vt:lpstr>Font Dipakai</vt:lpstr>
      </vt:variant>
      <vt:variant>
        <vt:i4>3</vt:i4>
      </vt:variant>
      <vt:variant>
        <vt:lpstr>Tema</vt:lpstr>
      </vt:variant>
      <vt:variant>
        <vt:i4>1</vt:i4>
      </vt:variant>
      <vt:variant>
        <vt:lpstr>Judul Slide</vt:lpstr>
      </vt:variant>
      <vt:variant>
        <vt:i4>22</vt:i4>
      </vt:variant>
    </vt:vector>
  </HeadingPairs>
  <TitlesOfParts>
    <vt:vector size="26" baseType="lpstr">
      <vt:lpstr>Quattrocento Sans</vt:lpstr>
      <vt:lpstr>Arial</vt:lpstr>
      <vt:lpstr>Calibri</vt:lpstr>
      <vt:lpstr>Office Theme</vt:lpstr>
      <vt:lpstr>Presentasi PowerPoint</vt:lpstr>
      <vt:lpstr>Presentasi PowerPoint</vt:lpstr>
      <vt:lpstr>Presentasi PowerPoint</vt:lpstr>
      <vt:lpstr>Presentasi PowerPoint</vt:lpstr>
      <vt:lpstr>Presentasi PowerPoint</vt:lpstr>
      <vt:lpstr>Presentasi PowerPoint</vt:lpstr>
      <vt:lpstr>Presentasi PowerPoint</vt:lpstr>
      <vt:lpstr>Presentasi PowerPoint</vt:lpstr>
      <vt:lpstr>Presentasi PowerPoint</vt:lpstr>
      <vt:lpstr>Presentasi PowerPoint</vt:lpstr>
      <vt:lpstr>Presentasi PowerPoint</vt:lpstr>
      <vt:lpstr>Presentasi PowerPoint</vt:lpstr>
      <vt:lpstr>Presentasi PowerPoint</vt:lpstr>
      <vt:lpstr>Presentasi PowerPoint</vt:lpstr>
      <vt:lpstr>Presentasi PowerPoint</vt:lpstr>
      <vt:lpstr>Presentasi PowerPoint</vt:lpstr>
      <vt:lpstr>Presentasi PowerPoint</vt:lpstr>
      <vt:lpstr>Presentasi PowerPoint</vt:lpstr>
      <vt:lpstr>Presentasi PowerPoint</vt:lpstr>
      <vt:lpstr>Presentasi PowerPoint</vt:lpstr>
      <vt:lpstr>Presentasi PowerPoint</vt:lpstr>
      <vt:lpstr>Presentasi PowerPoint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Exploratory Data Analysis (EDA) dalam Mengidentifikasi Karakteristik Customer Churn</dc:title>
  <dc:subject>Exploratory Data Analysis (EDA) dalam Mengidentifikasi Karakteristik Customer Churn</dc:subject>
  <dc:creator>Kimi</dc:creator>
  <cp:lastModifiedBy>Kimi Thora</cp:lastModifiedBy>
  <cp:revision>4</cp:revision>
  <dcterms:created xsi:type="dcterms:W3CDTF">2026-07-14T04:03:51Z</dcterms:created>
  <dcterms:modified xsi:type="dcterms:W3CDTF">2026-07-14T12:20:36Z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{"Label":"Exploratory Data Analysis (EDA) dalam Mengidentifikasi Karakteristik Customer Churn","ContentProducer":"001191110108MACG2KBH8F10000","ProduceID":"19f5eb42-bdd2-8cfa-8000-0000459644da","ReservedCode1":"","ContentPropagator":"001191110108MACG2KBH8F20000","PropagateID":"19f5eb06-b912-8819-8000-09e78ab7a7ec","ReservedCode2":""}</vt:lpwstr>
  </property>
</Properties>
</file>